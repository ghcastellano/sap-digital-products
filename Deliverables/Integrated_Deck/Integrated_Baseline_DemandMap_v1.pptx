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C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685800"/>
            <a:ext cx="36576" cy="5486400"/>
          </a:xfrm>
          <a:prstGeom prst="rect">
            <a:avLst/>
          </a:prstGeom>
          <a:solidFill>
            <a:srgbClr val="6785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77724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785C1"/>
                </a:solidFill>
                <a:latin typeface="Helvetica Neue"/>
              </a:rPr>
              <a:t>AVANGRID  —  SAP DIGITAL PRODUCTS TRANSFORMATION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9728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5A5A6"/>
                </a:solidFill>
                <a:latin typeface="Helvetica Neue"/>
              </a:rPr>
              <a:t>Baseline &amp; Diagnostic Phase  •  April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2834640"/>
            <a:ext cx="457200" cy="45720"/>
          </a:xfrm>
          <a:prstGeom prst="rect">
            <a:avLst/>
          </a:prstGeom>
          <a:solidFill>
            <a:srgbClr val="BC4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880360"/>
            <a:ext cx="105156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5200" b="1" i="0">
                <a:solidFill>
                  <a:srgbClr val="FFFFFF"/>
                </a:solidFill>
                <a:latin typeface="Helvetica Neue"/>
              </a:rPr>
              <a:t>Baseline &amp; Demand 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416052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6785C1"/>
                </a:solidFill>
                <a:latin typeface="Helvetica Neue"/>
              </a:rPr>
              <a:t>Current State Diagnosis of Digital Products Operating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4754880"/>
            <a:ext cx="105156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FFFFFF"/>
                </a:solidFill>
                <a:latin typeface="Helvetica Neue"/>
              </a:rPr>
              <a:t>Digital Products operates as two disconnected branches with seven structural issues no single-area fix can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FFFFFF"/>
                </a:solidFill>
                <a:latin typeface="Helvetica Neue"/>
              </a:rPr>
              <a:t>resolve. This integrated deck combines demand-flow evidence (per-team drill-downs) with diagnostic findings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FFFFFF"/>
                </a:solidFill>
                <a:latin typeface="Helvetica Neue"/>
              </a:rPr>
              <a:t>(pain clusters, bottlenecks, risks) — and grounds the Target Operating Model principles that follow.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0" y="6126480"/>
            <a:ext cx="274320" cy="27432"/>
          </a:xfrm>
          <a:prstGeom prst="rect">
            <a:avLst/>
          </a:prstGeom>
          <a:solidFill>
            <a:srgbClr val="6785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623620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Helvetica Neue"/>
              </a:rPr>
              <a:t>NTT DATA  —  Consulting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623620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5A5A6"/>
                </a:solidFill>
                <a:latin typeface="Helvetica Neue"/>
              </a:rPr>
              <a:t>28 slides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6510528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1">
                <a:solidFill>
                  <a:srgbClr val="95A5A6"/>
                </a:solidFill>
                <a:latin typeface="Helvetica Neue"/>
              </a:rPr>
              <a:t>Version 1.0  •  Integrated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455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F1C50"/>
                </a:solidFill>
                <a:latin typeface="Helvetica Neue"/>
              </a:rPr>
              <a:t>Deck roadmap — six sections grounded in Wave 1 Step 1: diagnose the current state, surface structural issues, ground the TOM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274552" cy="13716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417320"/>
            <a:ext cx="1847088" cy="315468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1847088" cy="457200"/>
          </a:xfrm>
          <a:prstGeom prst="rect">
            <a:avLst/>
          </a:prstGeom>
          <a:solidFill>
            <a:srgbClr val="0F1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490472"/>
            <a:ext cx="15727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6785C1"/>
                </a:solidFill>
                <a:latin typeface="Helvetica Neue"/>
              </a:rPr>
              <a:t>SECTION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645920"/>
            <a:ext cx="15727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Helvetica Neue"/>
              </a:rPr>
              <a:t>EXECUTIVE SUMMARY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965960"/>
            <a:ext cx="15727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1">
                <a:solidFill>
                  <a:srgbClr val="BC4328"/>
                </a:solidFill>
                <a:latin typeface="Helvetica Neue"/>
              </a:rPr>
              <a:t>Slides 03 – 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286000"/>
            <a:ext cx="15727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95A5A6"/>
                </a:solidFill>
                <a:latin typeface="Helvetica Neue"/>
              </a:rPr>
              <a:t>WHAT YOU'LL SEE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514600"/>
            <a:ext cx="1572768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C3E50"/>
                </a:solidFill>
                <a:latin typeface="Helvetica Neue"/>
              </a:rPr>
              <a:t>Why we are here. Executive findings &amp; implications. Methodology (Wave 1 Step 1 sources).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977639"/>
            <a:ext cx="15727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BC4328"/>
                </a:solidFill>
                <a:latin typeface="Helvetica Neue"/>
              </a:rPr>
              <a:t>HOW IT FEEDS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206240"/>
            <a:ext cx="157276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1">
                <a:solidFill>
                  <a:srgbClr val="6785C1"/>
                </a:solidFill>
                <a:latin typeface="Helvetica Neue"/>
              </a:rPr>
              <a:t>Sets the lens for every finding that follows.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2286000" y="2903220"/>
            <a:ext cx="91440" cy="128016"/>
          </a:xfrm>
          <a:prstGeom prst="rightArrow">
            <a:avLst/>
          </a:prstGeom>
          <a:solidFill>
            <a:srgbClr val="BC4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359152" y="1417320"/>
            <a:ext cx="1847088" cy="315468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359152" y="1417320"/>
            <a:ext cx="1847088" cy="457200"/>
          </a:xfrm>
          <a:prstGeom prst="rect">
            <a:avLst/>
          </a:prstGeom>
          <a:solidFill>
            <a:srgbClr val="0F1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96312" y="1490472"/>
            <a:ext cx="15727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6785C1"/>
                </a:solidFill>
                <a:latin typeface="Helvetica Neue"/>
              </a:rPr>
              <a:t>SECTION 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96312" y="1645920"/>
            <a:ext cx="15727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Helvetica Neue"/>
              </a:rPr>
              <a:t>ORGANIZATION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96312" y="1965960"/>
            <a:ext cx="15727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1">
                <a:solidFill>
                  <a:srgbClr val="BC4328"/>
                </a:solidFill>
                <a:latin typeface="Helvetica Neue"/>
              </a:rPr>
              <a:t>Slides 06 – 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96312" y="2286000"/>
            <a:ext cx="15727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95A5A6"/>
                </a:solidFill>
                <a:latin typeface="Helvetica Neue"/>
              </a:rPr>
              <a:t>WHAT YOU'LL SEE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96312" y="2514600"/>
            <a:ext cx="1572768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C3E50"/>
                </a:solidFill>
                <a:latin typeface="Helvetica Neue"/>
              </a:rPr>
              <a:t>Org landscape (~50 FTE · 9 teams · 2 vacancies). Applications branch. SAP / CS + CMP · UIL · NY · CoE · Basis. 7+ OPCOs demanding SAP.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96312" y="3977639"/>
            <a:ext cx="15727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BC4328"/>
                </a:solidFill>
                <a:latin typeface="Helvetica Neue"/>
              </a:rPr>
              <a:t>HOW IT FEEDS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96312" y="4206240"/>
            <a:ext cx="157276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1">
                <a:solidFill>
                  <a:srgbClr val="6785C1"/>
                </a:solidFill>
                <a:latin typeface="Helvetica Neue"/>
              </a:rPr>
              <a:t>Names the players — drill-downs &amp; pain points reference these teams.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4187952" y="2903220"/>
            <a:ext cx="91440" cy="128016"/>
          </a:xfrm>
          <a:prstGeom prst="rightArrow">
            <a:avLst/>
          </a:prstGeom>
          <a:solidFill>
            <a:srgbClr val="BC4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61104" y="1417320"/>
            <a:ext cx="1847088" cy="315468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61104" y="1417320"/>
            <a:ext cx="1847088" cy="457200"/>
          </a:xfrm>
          <a:prstGeom prst="rect">
            <a:avLst/>
          </a:prstGeom>
          <a:solidFill>
            <a:srgbClr val="0F1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98264" y="1490472"/>
            <a:ext cx="15727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6785C1"/>
                </a:solidFill>
                <a:latin typeface="Helvetica Neue"/>
              </a:rPr>
              <a:t>SECTION 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98264" y="1645920"/>
            <a:ext cx="15727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Helvetica Neue"/>
              </a:rPr>
              <a:t>DEMAND FLOW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98264" y="1965960"/>
            <a:ext cx="15727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1">
                <a:solidFill>
                  <a:srgbClr val="BC4328"/>
                </a:solidFill>
                <a:latin typeface="Helvetica Neue"/>
              </a:rPr>
              <a:t>Slides 11 – 19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98264" y="2286000"/>
            <a:ext cx="15727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95A5A6"/>
                </a:solidFill>
                <a:latin typeface="Helvetica Neue"/>
              </a:rPr>
              <a:t>WHAT YOU'LL SEE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98264" y="2514600"/>
            <a:ext cx="1572768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C3E50"/>
                </a:solidFill>
                <a:latin typeface="Helvetica Neue"/>
              </a:rPr>
              <a:t>AS-IS Master Map. Tooling landscape. Governance forums. Six team deep-dives across 5 lifecycle stages.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98264" y="3977639"/>
            <a:ext cx="15727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BC4328"/>
                </a:solidFill>
                <a:latin typeface="Helvetica Neue"/>
              </a:rPr>
              <a:t>HOW IT FEEDS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98264" y="4206240"/>
            <a:ext cx="157276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1">
                <a:solidFill>
                  <a:srgbClr val="6785C1"/>
                </a:solidFill>
                <a:latin typeface="Helvetica Neue"/>
              </a:rPr>
              <a:t>Ground truth — every bottleneck and insight traces back to these cells.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6089904" y="2903220"/>
            <a:ext cx="91440" cy="128016"/>
          </a:xfrm>
          <a:prstGeom prst="rightArrow">
            <a:avLst/>
          </a:prstGeom>
          <a:solidFill>
            <a:srgbClr val="BC4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163056" y="1417320"/>
            <a:ext cx="1847088" cy="315468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163056" y="1417320"/>
            <a:ext cx="1847088" cy="457200"/>
          </a:xfrm>
          <a:prstGeom prst="rect">
            <a:avLst/>
          </a:prstGeom>
          <a:solidFill>
            <a:srgbClr val="0F1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00216" y="1490472"/>
            <a:ext cx="15727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6785C1"/>
                </a:solidFill>
                <a:latin typeface="Helvetica Neue"/>
              </a:rPr>
              <a:t>SECTION 04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00216" y="1645920"/>
            <a:ext cx="15727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Helvetica Neue"/>
              </a:rPr>
              <a:t>CAPACITY &amp; PORTFOLIO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00216" y="1965960"/>
            <a:ext cx="15727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1">
                <a:solidFill>
                  <a:srgbClr val="BC4328"/>
                </a:solidFill>
                <a:latin typeface="Helvetica Neue"/>
              </a:rPr>
              <a:t>Slides 20 – 21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00216" y="2286000"/>
            <a:ext cx="15727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95A5A6"/>
                </a:solidFill>
                <a:latin typeface="Helvetica Neue"/>
              </a:rPr>
              <a:t>WHAT YOU'LL SEE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00216" y="2514600"/>
            <a:ext cx="1572768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C3E50"/>
                </a:solidFill>
                <a:latin typeface="Helvetica Neue"/>
              </a:rPr>
              <a:t>Quantitative baseline from the five champion interviews: capacity (headcount · mix · utilization) and portfolio (projects · vendor mix · cost). Populated in Wave 1 discovery.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00216" y="3977639"/>
            <a:ext cx="15727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BC4328"/>
                </a:solidFill>
                <a:latin typeface="Helvetica Neue"/>
              </a:rPr>
              <a:t>HOW IT FEEDS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00216" y="4206240"/>
            <a:ext cx="157276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1">
                <a:solidFill>
                  <a:srgbClr val="6785C1"/>
                </a:solidFill>
                <a:latin typeface="Helvetica Neue"/>
              </a:rPr>
              <a:t>Turns pain points into measurable gaps — backbone of the TOM business case.</a:t>
            </a:r>
          </a:p>
        </p:txBody>
      </p:sp>
      <p:sp>
        <p:nvSpPr>
          <p:cNvPr id="43" name="Right Arrow 42"/>
          <p:cNvSpPr/>
          <p:nvPr/>
        </p:nvSpPr>
        <p:spPr>
          <a:xfrm>
            <a:off x="7991856" y="2903220"/>
            <a:ext cx="91440" cy="128016"/>
          </a:xfrm>
          <a:prstGeom prst="rightArrow">
            <a:avLst/>
          </a:prstGeom>
          <a:solidFill>
            <a:srgbClr val="BC4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065008" y="1417320"/>
            <a:ext cx="1847088" cy="315468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065008" y="1417320"/>
            <a:ext cx="1847088" cy="457200"/>
          </a:xfrm>
          <a:prstGeom prst="rect">
            <a:avLst/>
          </a:prstGeom>
          <a:solidFill>
            <a:srgbClr val="0F1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02168" y="1490472"/>
            <a:ext cx="15727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6785C1"/>
                </a:solidFill>
                <a:latin typeface="Helvetica Neue"/>
              </a:rPr>
              <a:t>SECTION 05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02168" y="1645920"/>
            <a:ext cx="15727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Helvetica Neue"/>
              </a:rPr>
              <a:t>PAIN POINTS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02168" y="1965960"/>
            <a:ext cx="15727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1">
                <a:solidFill>
                  <a:srgbClr val="BC4328"/>
                </a:solidFill>
                <a:latin typeface="Helvetica Neue"/>
              </a:rPr>
              <a:t>Slides 22 – 25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02168" y="2286000"/>
            <a:ext cx="15727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95A5A6"/>
                </a:solidFill>
                <a:latin typeface="Helvetica Neue"/>
              </a:rPr>
              <a:t>WHAT YOU'LL SEE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02168" y="2514600"/>
            <a:ext cx="1572768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C3E50"/>
                </a:solidFill>
                <a:latin typeface="Helvetica Neue"/>
              </a:rPr>
              <a:t>MECE pain cluster (People · Process · Tools · Governance). Four bottlenecks. Three cross-branch systemic issues.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02168" y="3977639"/>
            <a:ext cx="15727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BC4328"/>
                </a:solidFill>
                <a:latin typeface="Helvetica Neue"/>
              </a:rPr>
              <a:t>HOW IT FEEDS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02168" y="4206240"/>
            <a:ext cx="157276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1">
                <a:solidFill>
                  <a:srgbClr val="6785C1"/>
                </a:solidFill>
                <a:latin typeface="Helvetica Neue"/>
              </a:rPr>
              <a:t>Converts evidence into named risks — prioritized for TOM response.</a:t>
            </a:r>
          </a:p>
        </p:txBody>
      </p:sp>
      <p:sp>
        <p:nvSpPr>
          <p:cNvPr id="53" name="Right Arrow 52"/>
          <p:cNvSpPr/>
          <p:nvPr/>
        </p:nvSpPr>
        <p:spPr>
          <a:xfrm>
            <a:off x="9893808" y="2903220"/>
            <a:ext cx="91440" cy="128016"/>
          </a:xfrm>
          <a:prstGeom prst="rightArrow">
            <a:avLst/>
          </a:prstGeom>
          <a:solidFill>
            <a:srgbClr val="BC4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966960" y="1417320"/>
            <a:ext cx="1847088" cy="315468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9966960" y="1417320"/>
            <a:ext cx="1847088" cy="457200"/>
          </a:xfrm>
          <a:prstGeom prst="rect">
            <a:avLst/>
          </a:prstGeom>
          <a:solidFill>
            <a:srgbClr val="0F1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104120" y="1490472"/>
            <a:ext cx="15727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6785C1"/>
                </a:solidFill>
                <a:latin typeface="Helvetica Neue"/>
              </a:rPr>
              <a:t>SECTION 06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104120" y="1645920"/>
            <a:ext cx="15727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Helvetica Neue"/>
              </a:rPr>
              <a:t>INSIGHTS &amp; TOM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104120" y="1965960"/>
            <a:ext cx="15727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1">
                <a:solidFill>
                  <a:srgbClr val="BC4328"/>
                </a:solidFill>
                <a:latin typeface="Helvetica Neue"/>
              </a:rPr>
              <a:t>Slides 26 – 28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104120" y="2286000"/>
            <a:ext cx="15727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95A5A6"/>
                </a:solidFill>
                <a:latin typeface="Helvetica Neue"/>
              </a:rPr>
              <a:t>WHAT YOU'LL SEE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104120" y="2514600"/>
            <a:ext cx="1572768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C3E50"/>
                </a:solidFill>
                <a:latin typeface="Helvetica Neue"/>
              </a:rPr>
              <a:t>Seven structural issues paired with TOM responses. Five compounding risks. Seven TOM design principles grounded in prior NTT work.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104120" y="3977639"/>
            <a:ext cx="15727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BC4328"/>
                </a:solidFill>
                <a:latin typeface="Helvetica Neue"/>
              </a:rPr>
              <a:t>HOW IT FEEDS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104120" y="4206240"/>
            <a:ext cx="157276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1">
                <a:solidFill>
                  <a:srgbClr val="6785C1"/>
                </a:solidFill>
                <a:latin typeface="Helvetica Neue"/>
              </a:rPr>
              <a:t>Exit-ramp into Step 2 (Define Lifecycle) of Wave 1.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57200" y="4754880"/>
            <a:ext cx="11274552" cy="105156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457200" y="4754880"/>
            <a:ext cx="73152" cy="1051560"/>
          </a:xfrm>
          <a:prstGeom prst="rect">
            <a:avLst/>
          </a:prstGeom>
          <a:solidFill>
            <a:srgbClr val="BC4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40080" y="4828032"/>
            <a:ext cx="10972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F1C50"/>
                </a:solidFill>
                <a:latin typeface="Helvetica Neue"/>
              </a:rPr>
              <a:t>HOW TO READ THIS DECK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40080" y="5102352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C3E50"/>
                </a:solidFill>
                <a:latin typeface="Helvetica Neue"/>
              </a:rPr>
              <a:t>Every slide carries a thin roadmap strip at the top — six pills, current section highlighted in navy. Read each slide bottom-up: action title states the conclusion, content is the evidence, takeaway is the "so what." Cross-references use format [Slide XX].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57200" y="5989320"/>
            <a:ext cx="11274552" cy="502920"/>
          </a:xfrm>
          <a:prstGeom prst="rect">
            <a:avLst/>
          </a:prstGeom>
          <a:solidFill>
            <a:srgbClr val="0F1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85800" y="6035040"/>
            <a:ext cx="10817352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Helvetica Neue"/>
              </a:rPr>
              <a:t>You are here → Section 01 (Executive Summary). Next: the organization that generates the demand we are mapping.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144000" y="6565392"/>
            <a:ext cx="258775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5A5A6"/>
                </a:solidFill>
                <a:latin typeface="Helvetica Neue"/>
              </a:rPr>
              <a:t>Deck Roadmap  |  02 / 28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455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F1C50"/>
                </a:solidFill>
                <a:latin typeface="Helvetica Neue"/>
              </a:rPr>
              <a:t>Avangrid is consolidating SAP CoE and Applications into a single Digital Products organization — demand fragmentation is the structural risk the TOM must resolve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274552" cy="13716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73152" cy="4206240"/>
          </a:xfrm>
          <a:prstGeom prst="rect">
            <a:avLst/>
          </a:prstGeom>
          <a:solidFill>
            <a:srgbClr val="0F1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5303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C50"/>
                </a:solidFill>
                <a:latin typeface="Helvetica Neue"/>
              </a:rPr>
              <a:t>WHY WE ARE 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737360"/>
            <a:ext cx="530352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C3E50"/>
                </a:solidFill>
                <a:latin typeface="Helvetica Neue"/>
              </a:rPr>
              <a:t>▸  Digital Products (formerly SAP CoE) is being re-founded under VP VP IT Business Solutions Delivery, merging Applications (Director IT Business Applications) and Customer Services Apps (Director Customer Services Apps) into one ~50-FTE organization.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C3E50"/>
                </a:solidFill>
                <a:latin typeface="Helvetica Neue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C3E50"/>
                </a:solidFill>
                <a:latin typeface="Helvetica Neue"/>
              </a:rPr>
              <a:t>▸  Demand volume has grown 30–50% across SAP and Applications in the last 24 months — with no unified intake, classification, or prioritization model in place.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C3E50"/>
                </a:solidFill>
                <a:latin typeface="Helvetica Neue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C3E50"/>
                </a:solidFill>
                <a:latin typeface="Helvetica Neue"/>
              </a:rPr>
              <a:t>▸  Six champion interviews and two director-level sessions (Apps Director, Business-side lead  —  Customer Services &amp; CS Director) surfaced six disconnected intake channels and five different prioritization logics.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C3E50"/>
                </a:solidFill>
                <a:latin typeface="Helvetica Neue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C3E50"/>
                </a:solidFill>
                <a:latin typeface="Helvetica Neue"/>
              </a:rPr>
              <a:t>▸  NTT DATA was engaged to diagnose the current state, design the Target Operating Model (TOM), and pilot it on one BRS project before scaling.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371600"/>
            <a:ext cx="73152" cy="4206240"/>
          </a:xfrm>
          <a:prstGeom prst="rect">
            <a:avLst/>
          </a:prstGeom>
          <a:solidFill>
            <a:srgbClr val="BC4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29400" y="1371600"/>
            <a:ext cx="5029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C50"/>
                </a:solidFill>
                <a:latin typeface="Helvetica Neue"/>
              </a:rPr>
              <a:t>SCOPE  &amp;  WORKING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1737360"/>
            <a:ext cx="502920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C3E50"/>
                </a:solidFill>
                <a:latin typeface="Helvetica Neue"/>
              </a:rPr>
              <a:t>▸  Two director branches in scope: IT Business Applications (4 teams, ~26 FTE) and Customer Services Apps (5 teams, ~24 FTE, 2 Sr. Manager vacancies).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C3E50"/>
                </a:solidFill>
                <a:latin typeface="Helvetica Neue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C3E50"/>
                </a:solidFill>
                <a:latin typeface="Helvetica Neue"/>
              </a:rPr>
              <a:t>▸  Five end-to-end stages assessed per team: Intake → Classification → Prioritization → Portfolio → Delivery.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C3E50"/>
                </a:solidFill>
                <a:latin typeface="Helvetica Neue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C3E50"/>
                </a:solidFill>
                <a:latin typeface="Helvetica Neue"/>
              </a:rPr>
              <a:t>▸  Baseline grounded in interview evidence (6 champions + 2 directors), not secondary documents — every finding is traceable to a named source.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C3E50"/>
                </a:solidFill>
                <a:latin typeface="Helvetica Neue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C3E50"/>
                </a:solidFill>
                <a:latin typeface="Helvetica Neue"/>
              </a:rPr>
              <a:t>▸  Wave 1 delivers: Baseline Report, Demand Map, Portfolio Landscape (SAP), Lifecycle v1.0, Jira Config v1.0, and a live BRS pilot.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5989320"/>
            <a:ext cx="11274552" cy="502920"/>
          </a:xfrm>
          <a:prstGeom prst="rect">
            <a:avLst/>
          </a:prstGeom>
          <a:solidFill>
            <a:srgbClr val="0F1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6035040"/>
            <a:ext cx="10817352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Helvetica Neue"/>
              </a:rPr>
              <a:t>This deck is the Demand Map — the AS-IS current-state evidence base that feeds the TOM design in Wave 1, Step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6565392"/>
            <a:ext cx="258775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5A5A6"/>
                </a:solidFill>
                <a:latin typeface="Helvetica Neue"/>
              </a:rPr>
              <a:t>Project Context  |  03 / 28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73152"/>
            <a:ext cx="1848612" cy="201168"/>
          </a:xfrm>
          <a:prstGeom prst="roundRect">
            <a:avLst/>
          </a:prstGeom>
          <a:solidFill>
            <a:srgbClr val="0F1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73152"/>
            <a:ext cx="184861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FFFFFF"/>
                </a:solidFill>
                <a:latin typeface="Helvetica Neue"/>
              </a:rPr>
              <a:t>01 · EXECUTIVE SUMMARY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342388" y="73152"/>
            <a:ext cx="1848612" cy="201168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42388" y="73152"/>
            <a:ext cx="184861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95A5A6"/>
                </a:solidFill>
                <a:latin typeface="Helvetica Neue"/>
              </a:rPr>
              <a:t>02 · ORGANIZATION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27576" y="73152"/>
            <a:ext cx="1848612" cy="201168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27576" y="73152"/>
            <a:ext cx="184861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95A5A6"/>
                </a:solidFill>
                <a:latin typeface="Helvetica Neue"/>
              </a:rPr>
              <a:t>03 · DEMAND FLOW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12764" y="73152"/>
            <a:ext cx="1848612" cy="201168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12764" y="73152"/>
            <a:ext cx="184861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95A5A6"/>
                </a:solidFill>
                <a:latin typeface="Helvetica Neue"/>
              </a:rPr>
              <a:t>04 · CAPACITY &amp; PORTFOLIO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97952" y="73152"/>
            <a:ext cx="1848612" cy="201168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97952" y="73152"/>
            <a:ext cx="184861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95A5A6"/>
                </a:solidFill>
                <a:latin typeface="Helvetica Neue"/>
              </a:rPr>
              <a:t>05 · PAIN POINTS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883140" y="73152"/>
            <a:ext cx="1848612" cy="201168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883140" y="73152"/>
            <a:ext cx="184861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95A5A6"/>
                </a:solidFill>
                <a:latin typeface="Helvetica Neue"/>
              </a:rPr>
              <a:t>06 · INSIGHTS &amp; TOM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455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F1C50"/>
                </a:solidFill>
                <a:latin typeface="Helvetica Neue"/>
              </a:rPr>
              <a:t>Digital Products runs nine sub-teams on six disconnected intake channels — with no shared prioritization logic and two Sr. Manager vacancies in Customer Services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274552" cy="13716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417320"/>
            <a:ext cx="11274552" cy="777240"/>
          </a:xfrm>
          <a:prstGeom prst="rect">
            <a:avLst/>
          </a:prstGeom>
          <a:solidFill>
            <a:srgbClr val="0F1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1069848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1">
                <a:solidFill>
                  <a:srgbClr val="FFFFFF"/>
                </a:solidFill>
                <a:latin typeface="Helvetica Neue"/>
              </a:rPr>
              <a:t>GOVERNING THOUGHT  —  Fragmentation is structural, not local. Every team has a working answer for large, PDD-funded demand; no team has one for small and medium demand at scale. The TOM must standardize the end-to-end lifecycle across both director branches.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423160"/>
            <a:ext cx="3749039" cy="32004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423160"/>
            <a:ext cx="3749039" cy="54864"/>
          </a:xfrm>
          <a:prstGeom prst="rect">
            <a:avLst/>
          </a:prstGeom>
          <a:solidFill>
            <a:srgbClr val="BC4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587752"/>
            <a:ext cx="731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BC4328"/>
                </a:solidFill>
                <a:latin typeface="Helvetica Neue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2651760"/>
            <a:ext cx="274319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C50"/>
                </a:solidFill>
                <a:latin typeface="Helvetica Neue"/>
              </a:rPr>
              <a:t>INTAKE  &amp;  CLASSIFICATION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246120"/>
            <a:ext cx="3291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95A5A6"/>
                </a:solidFill>
                <a:latin typeface="Helvetica Neue"/>
              </a:rPr>
              <a:t>FINDING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474720"/>
            <a:ext cx="3291839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C3E50"/>
                </a:solidFill>
                <a:latin typeface="Helvetica Neue"/>
              </a:rPr>
              <a:t>6+ channels active (Jira, IT Now, RITM, SharePoint, Email, Word). G&amp;E is fully email-driven; Corporate still uses Word docs for requirements.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617720"/>
            <a:ext cx="3291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BC4328"/>
                </a:solidFill>
                <a:latin typeface="Helvetica Neue"/>
              </a:rPr>
              <a:t>SO WHAT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846320"/>
            <a:ext cx="329183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6785C1"/>
                </a:solidFill>
                <a:latin typeface="Helvetica Neue"/>
              </a:rPr>
              <a:t>No single front door. Volumes and duplicates are invisible.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79" y="2423160"/>
            <a:ext cx="3749039" cy="32004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97679" y="2423160"/>
            <a:ext cx="3749039" cy="54864"/>
          </a:xfrm>
          <a:prstGeom prst="rect">
            <a:avLst/>
          </a:prstGeom>
          <a:solidFill>
            <a:srgbClr val="BC4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79" y="2587752"/>
            <a:ext cx="731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BC4328"/>
                </a:solidFill>
                <a:latin typeface="Helvetica Neue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66359" y="2651760"/>
            <a:ext cx="274319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C50"/>
                </a:solidFill>
                <a:latin typeface="Helvetica Neue"/>
              </a:rPr>
              <a:t>PRIORITIZATION  &amp;  PORTFOLIO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79" y="3246120"/>
            <a:ext cx="3291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95A5A6"/>
                </a:solidFill>
                <a:latin typeface="Helvetica Neue"/>
              </a:rPr>
              <a:t>FINDING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79" y="3474720"/>
            <a:ext cx="3291839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C3E50"/>
                </a:solidFill>
                <a:latin typeface="Helvetica Neue"/>
              </a:rPr>
              <a:t>Each team applies a different logic — PDD, impact × users, criticality, "intrinsic common sense." Only Smart Metering uses a portfolio tool (PPM Now).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79" y="4617720"/>
            <a:ext cx="3291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BC4328"/>
                </a:solidFill>
                <a:latin typeface="Helvetica Neue"/>
              </a:rPr>
              <a:t>SO WHAT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79" y="4846320"/>
            <a:ext cx="329183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6785C1"/>
                </a:solidFill>
                <a:latin typeface="Helvetica Neue"/>
              </a:rPr>
              <a:t>Capacity cannot be reconciled across the branch. Strategic work loses to incident volume.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38159" y="2423160"/>
            <a:ext cx="3749039" cy="32004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138159" y="2423160"/>
            <a:ext cx="3749039" cy="54864"/>
          </a:xfrm>
          <a:prstGeom prst="rect">
            <a:avLst/>
          </a:prstGeom>
          <a:solidFill>
            <a:srgbClr val="BC4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66759" y="2587752"/>
            <a:ext cx="731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BC4328"/>
                </a:solidFill>
                <a:latin typeface="Helvetica Neue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06839" y="2651760"/>
            <a:ext cx="274319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C50"/>
                </a:solidFill>
                <a:latin typeface="Helvetica Neue"/>
              </a:rPr>
              <a:t>ORGANIZATION  &amp;  DELIVERY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66759" y="3246120"/>
            <a:ext cx="3291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95A5A6"/>
                </a:solidFill>
                <a:latin typeface="Helvetica Neue"/>
              </a:rPr>
              <a:t>FINDING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66759" y="3474720"/>
            <a:ext cx="3291839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C3E50"/>
                </a:solidFill>
                <a:latin typeface="Helvetica Neue"/>
              </a:rPr>
              <a:t>Two Sr. Manager vacancies in Customer Services (CRM &amp; Contact Center Ops, SAP &amp; CS Architecture). Delivery leans heavily on Accenture + SWF + vendor muscle.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6759" y="4617720"/>
            <a:ext cx="3291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BC4328"/>
                </a:solidFill>
                <a:latin typeface="Helvetica Neue"/>
              </a:rPr>
              <a:t>SO WHAT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66759" y="4846320"/>
            <a:ext cx="329183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6785C1"/>
                </a:solidFill>
                <a:latin typeface="Helvetica Neue"/>
              </a:rPr>
              <a:t>Leadership gap + vendor concentration create structural risk for scaling.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5989320"/>
            <a:ext cx="11274552" cy="502920"/>
          </a:xfrm>
          <a:prstGeom prst="rect">
            <a:avLst/>
          </a:prstGeom>
          <a:solidFill>
            <a:srgbClr val="0F1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6035040"/>
            <a:ext cx="10817352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Helvetica Neue"/>
              </a:rPr>
              <a:t>The rest of this deck walks the evidence per team — then consolidates bottlenecks and structural insights into the TOM scope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6565392"/>
            <a:ext cx="258775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5A5A6"/>
                </a:solidFill>
                <a:latin typeface="Helvetica Neue"/>
              </a:rPr>
              <a:t>Executive Summary  |  04 / 28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73152"/>
            <a:ext cx="1848612" cy="201168"/>
          </a:xfrm>
          <a:prstGeom prst="roundRect">
            <a:avLst/>
          </a:prstGeom>
          <a:solidFill>
            <a:srgbClr val="0F1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73152"/>
            <a:ext cx="184861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FFFFFF"/>
                </a:solidFill>
                <a:latin typeface="Helvetica Neue"/>
              </a:rPr>
              <a:t>01 · EXECUTIVE SUMMARY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342388" y="73152"/>
            <a:ext cx="1848612" cy="201168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342388" y="73152"/>
            <a:ext cx="184861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95A5A6"/>
                </a:solidFill>
                <a:latin typeface="Helvetica Neue"/>
              </a:rPr>
              <a:t>02 · ORGANIZATION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227576" y="73152"/>
            <a:ext cx="1848612" cy="201168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27576" y="73152"/>
            <a:ext cx="184861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95A5A6"/>
                </a:solidFill>
                <a:latin typeface="Helvetica Neue"/>
              </a:rPr>
              <a:t>03 · DEMAND FLOW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112764" y="73152"/>
            <a:ext cx="1848612" cy="201168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112764" y="73152"/>
            <a:ext cx="184861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95A5A6"/>
                </a:solidFill>
                <a:latin typeface="Helvetica Neue"/>
              </a:rPr>
              <a:t>04 · CAPACITY &amp; PORTFOLIO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997952" y="73152"/>
            <a:ext cx="1848612" cy="201168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997952" y="73152"/>
            <a:ext cx="184861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95A5A6"/>
                </a:solidFill>
                <a:latin typeface="Helvetica Neue"/>
              </a:rPr>
              <a:t>05 · PAIN POINTS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883140" y="73152"/>
            <a:ext cx="1848612" cy="201168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883140" y="73152"/>
            <a:ext cx="184861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95A5A6"/>
                </a:solidFill>
                <a:latin typeface="Helvetica Neue"/>
              </a:rPr>
              <a:t>06 · INSIGHTS &amp; TOM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455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F1C50"/>
                </a:solidFill>
                <a:latin typeface="Helvetica Neue"/>
              </a:rPr>
              <a:t>This Demand Map is the output of Step 1 (Enablement) — grounding the baseline through champion interviews and portfolio mapping before lifecycle design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274552" cy="13716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298448"/>
            <a:ext cx="2240280" cy="1143000"/>
          </a:xfrm>
          <a:prstGeom prst="rect">
            <a:avLst/>
          </a:prstGeom>
          <a:solidFill>
            <a:srgbClr val="0F1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389888"/>
            <a:ext cx="1965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785C1"/>
                </a:solidFill>
                <a:latin typeface="Helvetica Neue"/>
              </a:rPr>
              <a:t>Step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664207"/>
            <a:ext cx="19659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Helvetica Neue"/>
              </a:rPr>
              <a:t>Enablement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029967"/>
            <a:ext cx="1965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6785C1"/>
                </a:solidFill>
                <a:latin typeface="Helvetica Neue"/>
              </a:rPr>
              <a:t>Where are we starting from?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670048" y="1801368"/>
            <a:ext cx="137160" cy="137160"/>
          </a:xfrm>
          <a:prstGeom prst="rightArrow">
            <a:avLst/>
          </a:prstGeom>
          <a:solidFill>
            <a:srgbClr val="BC4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70632" y="1298448"/>
            <a:ext cx="2240280" cy="1143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07792" y="1389888"/>
            <a:ext cx="1965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5A5A6"/>
                </a:solidFill>
                <a:latin typeface="Helvetica Neue"/>
              </a:rPr>
              <a:t>Step 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07792" y="1664207"/>
            <a:ext cx="19659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C3E50"/>
                </a:solidFill>
                <a:latin typeface="Helvetica Neue"/>
              </a:rPr>
              <a:t>Define Lifecycle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7792" y="2029967"/>
            <a:ext cx="1965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95A5A6"/>
                </a:solidFill>
                <a:latin typeface="Helvetica Neue"/>
              </a:rPr>
              <a:t>How should we work?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983480" y="1801368"/>
            <a:ext cx="137160" cy="137160"/>
          </a:xfrm>
          <a:prstGeom prst="rightArrow">
            <a:avLst/>
          </a:prstGeom>
          <a:solidFill>
            <a:srgbClr val="BC4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84064" y="1298448"/>
            <a:ext cx="2240280" cy="1143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21224" y="1389888"/>
            <a:ext cx="1965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5A5A6"/>
                </a:solidFill>
                <a:latin typeface="Helvetica Neue"/>
              </a:rPr>
              <a:t>Step 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21224" y="1664207"/>
            <a:ext cx="19659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C3E50"/>
                </a:solidFill>
                <a:latin typeface="Helvetica Neue"/>
              </a:rPr>
              <a:t>Design Tool Ecosystem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21224" y="2029967"/>
            <a:ext cx="1965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95A5A6"/>
                </a:solidFill>
                <a:latin typeface="Helvetica Neue"/>
              </a:rPr>
              <a:t>What supports the process?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7296912" y="1801368"/>
            <a:ext cx="137160" cy="137160"/>
          </a:xfrm>
          <a:prstGeom prst="rightArrow">
            <a:avLst/>
          </a:prstGeom>
          <a:solidFill>
            <a:srgbClr val="BC4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97496" y="1298448"/>
            <a:ext cx="2240280" cy="1143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34656" y="1389888"/>
            <a:ext cx="1965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5A5A6"/>
                </a:solidFill>
                <a:latin typeface="Helvetica Neue"/>
              </a:rPr>
              <a:t>Step 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34656" y="1664207"/>
            <a:ext cx="19659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C3E50"/>
                </a:solidFill>
                <a:latin typeface="Helvetica Neue"/>
              </a:rPr>
              <a:t>Pilot Execution (BRS)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34656" y="2029967"/>
            <a:ext cx="1965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95A5A6"/>
                </a:solidFill>
                <a:latin typeface="Helvetica Neue"/>
              </a:rPr>
              <a:t>Does it work in reality?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9610344" y="1801368"/>
            <a:ext cx="137160" cy="137160"/>
          </a:xfrm>
          <a:prstGeom prst="rightArrow">
            <a:avLst/>
          </a:prstGeom>
          <a:solidFill>
            <a:srgbClr val="BC4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710928" y="1298448"/>
            <a:ext cx="2240280" cy="1143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48088" y="1389888"/>
            <a:ext cx="1965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5A5A6"/>
                </a:solidFill>
                <a:latin typeface="Helvetica Neue"/>
              </a:rPr>
              <a:t>Step 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48088" y="1664207"/>
            <a:ext cx="19659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C3E50"/>
                </a:solidFill>
                <a:latin typeface="Helvetica Neue"/>
              </a:rPr>
              <a:t>Learn &amp; Adjust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48088" y="2029967"/>
            <a:ext cx="1965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95A5A6"/>
                </a:solidFill>
                <a:latin typeface="Helvetica Neue"/>
              </a:rPr>
              <a:t>What needs refinement?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2834640"/>
            <a:ext cx="11274552" cy="347472"/>
          </a:xfrm>
          <a:prstGeom prst="rect">
            <a:avLst/>
          </a:prstGeom>
          <a:solidFill>
            <a:srgbClr val="BC4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2834640"/>
            <a:ext cx="1127455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Helvetica Neue"/>
              </a:rPr>
              <a:t>STEP 1  —  ENABLEMENT  ·  ZOOM 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3310128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F1C50"/>
                </a:solidFill>
                <a:latin typeface="Helvetica Neue"/>
              </a:rPr>
              <a:t>WHAT WE DID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3602736"/>
            <a:ext cx="73152" cy="713232"/>
          </a:xfrm>
          <a:prstGeom prst="rect">
            <a:avLst/>
          </a:prstGeom>
          <a:solidFill>
            <a:srgbClr val="0F1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3602736"/>
            <a:ext cx="6492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C50"/>
                </a:solidFill>
                <a:latin typeface="Helvetica Neue"/>
              </a:rPr>
              <a:t>Prior Materials Review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3840480"/>
            <a:ext cx="6492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C3E50"/>
                </a:solidFill>
                <a:latin typeface="Helvetica Neue"/>
              </a:rPr>
              <a:t>Reviewed 40+ prior artifacts: SAP CoE decks, IT CS Operating Model, P&amp;S Playbook, DTO NextGen, Org Chart, Competency Framework.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4379976"/>
            <a:ext cx="73152" cy="713232"/>
          </a:xfrm>
          <a:prstGeom prst="rect">
            <a:avLst/>
          </a:prstGeom>
          <a:solidFill>
            <a:srgbClr val="0F1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4379976"/>
            <a:ext cx="6492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C50"/>
                </a:solidFill>
                <a:latin typeface="Helvetica Neue"/>
              </a:rPr>
              <a:t>Champion Stakeholder Interviews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4617720"/>
            <a:ext cx="6492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C3E50"/>
                </a:solidFill>
                <a:latin typeface="Helvetica Neue"/>
              </a:rPr>
              <a:t>Six 1:1 champion interviews (GIS, Corporate, G&amp;E, Global SAP, Smart Metering) + two director sessions (Apps Director; Business-side lead  —  Customer Services &amp; CS Director). Captured intake channels, tools, roles, pain points and aspirations per team.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5157216"/>
            <a:ext cx="73152" cy="713232"/>
          </a:xfrm>
          <a:prstGeom prst="rect">
            <a:avLst/>
          </a:prstGeom>
          <a:solidFill>
            <a:srgbClr val="0F1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5157216"/>
            <a:ext cx="6492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C50"/>
                </a:solidFill>
                <a:latin typeface="Helvetica Neue"/>
              </a:rPr>
              <a:t>Portfolio Assessment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5394959"/>
            <a:ext cx="6492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C3E50"/>
                </a:solidFill>
                <a:latin typeface="Helvetica Neue"/>
              </a:rPr>
              <a:t>Mapped demand typology per team across the 5 lifecycle stages. Reconciled interview evidence with the RFI workbook and the validated Miro board.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0" y="3310128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F1C50"/>
                </a:solidFill>
                <a:latin typeface="Helvetica Neue"/>
              </a:rPr>
              <a:t>DELIVERABLES OF STEP 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772400" y="3611880"/>
            <a:ext cx="3959352" cy="20574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772400" y="3611880"/>
            <a:ext cx="73152" cy="2057400"/>
          </a:xfrm>
          <a:prstGeom prst="rect">
            <a:avLst/>
          </a:prstGeom>
          <a:solidFill>
            <a:srgbClr val="BC4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001000" y="3749039"/>
            <a:ext cx="36576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C3E50"/>
                </a:solidFill>
                <a:latin typeface="Helvetica Neue"/>
              </a:rPr>
              <a:t>▪  Baseline Report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C3E50"/>
                </a:solidFill>
                <a:latin typeface="Helvetica Neue"/>
              </a:rPr>
              <a:t>▪  Demand Map  (this deck)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C3E50"/>
                </a:solidFill>
                <a:latin typeface="Helvetica Neue"/>
              </a:rPr>
              <a:t>▪  Project Portfolio Landscape — SAP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C3E50"/>
                </a:solidFill>
                <a:latin typeface="Helvetica Neue"/>
              </a:rPr>
              <a:t>▪  Champion Interview Log (6 interviews)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C3E50"/>
                </a:solidFill>
                <a:latin typeface="Helvetica Neue"/>
              </a:rPr>
              <a:t>▪  Cross-Project Comparison (P&amp;S / DTO / Digital CoE)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7200" y="5989320"/>
            <a:ext cx="11274552" cy="502920"/>
          </a:xfrm>
          <a:prstGeom prst="rect">
            <a:avLst/>
          </a:prstGeom>
          <a:solidFill>
            <a:srgbClr val="0F1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85800" y="6035040"/>
            <a:ext cx="10817352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Helvetica Neue"/>
              </a:rPr>
              <a:t>The Demand Map is the evidence backbone — Step 2 (Define Lifecycle) consumes these findings to draft the Lifecycle v1.0, Demand Typology and Roles &amp; RACI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44000" y="6565392"/>
            <a:ext cx="258775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5A5A6"/>
                </a:solidFill>
                <a:latin typeface="Helvetica Neue"/>
              </a:rPr>
              <a:t>Methodology  |  05 / 28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57200" y="73152"/>
            <a:ext cx="1848612" cy="201168"/>
          </a:xfrm>
          <a:prstGeom prst="roundRect">
            <a:avLst/>
          </a:prstGeom>
          <a:solidFill>
            <a:srgbClr val="0F1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7200" y="73152"/>
            <a:ext cx="184861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FFFFFF"/>
                </a:solidFill>
                <a:latin typeface="Helvetica Neue"/>
              </a:rPr>
              <a:t>01 · EXECUTIVE SUMMARY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2342388" y="73152"/>
            <a:ext cx="1848612" cy="201168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342388" y="73152"/>
            <a:ext cx="184861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95A5A6"/>
                </a:solidFill>
                <a:latin typeface="Helvetica Neue"/>
              </a:rPr>
              <a:t>02 · ORGANIZATION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227576" y="73152"/>
            <a:ext cx="1848612" cy="201168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227576" y="73152"/>
            <a:ext cx="184861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95A5A6"/>
                </a:solidFill>
                <a:latin typeface="Helvetica Neue"/>
              </a:rPr>
              <a:t>03 · DEMAND FLOW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112764" y="73152"/>
            <a:ext cx="1848612" cy="201168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112764" y="73152"/>
            <a:ext cx="184861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95A5A6"/>
                </a:solidFill>
                <a:latin typeface="Helvetica Neue"/>
              </a:rPr>
              <a:t>04 · CAPACITY &amp; PORTFOLIO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997952" y="73152"/>
            <a:ext cx="1848612" cy="201168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997952" y="73152"/>
            <a:ext cx="184861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95A5A6"/>
                </a:solidFill>
                <a:latin typeface="Helvetica Neue"/>
              </a:rPr>
              <a:t>05 · PAIN POINTS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9883140" y="73152"/>
            <a:ext cx="1848612" cy="201168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883140" y="73152"/>
            <a:ext cx="184861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95A5A6"/>
                </a:solidFill>
                <a:latin typeface="Helvetica Neue"/>
              </a:rPr>
              <a:t>06 · INSIGHTS &amp; TOM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455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F1C50"/>
                </a:solidFill>
                <a:latin typeface="Helvetica Neue"/>
              </a:rPr>
              <a:t>Digital Products spans two director branches (~50 FTE) across nine sub-teams — with two Sr. Manager positions currently vacant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274552" cy="13716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0" y="1325880"/>
            <a:ext cx="2103120" cy="502920"/>
          </a:xfrm>
          <a:prstGeom prst="rect">
            <a:avLst/>
          </a:prstGeom>
          <a:solidFill>
            <a:srgbClr val="0F1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0" y="1325880"/>
            <a:ext cx="21031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Helvetica Neue"/>
              </a:rPr>
              <a:t>VP — IT Business Solutions Delivery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2103120"/>
            <a:ext cx="4846320" cy="502920"/>
          </a:xfrm>
          <a:prstGeom prst="rect">
            <a:avLst/>
          </a:prstGeom>
          <a:solidFill>
            <a:srgbClr val="6785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2103120"/>
            <a:ext cx="48463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Helvetica Neue"/>
              </a:rPr>
              <a:t>Director IT Business Applications  (~26 FTE)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2103120"/>
            <a:ext cx="4846320" cy="502920"/>
          </a:xfrm>
          <a:prstGeom prst="rect">
            <a:avLst/>
          </a:prstGeom>
          <a:solidFill>
            <a:srgbClr val="0F1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2103120"/>
            <a:ext cx="48463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Helvetica Neue"/>
              </a:rPr>
              <a:t>Director Customer Services Apps  (~24 FTE)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71600" y="2788920"/>
            <a:ext cx="109728" cy="566928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508760" y="2788920"/>
            <a:ext cx="4709160" cy="566928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00200" y="2834639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C50"/>
                </a:solidFill>
                <a:latin typeface="Helvetica Neue"/>
              </a:rPr>
              <a:t>Sr. Manager  —  Electric &amp; Gas Ops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3090672"/>
            <a:ext cx="2468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C3E50"/>
                </a:solidFill>
                <a:latin typeface="Helvetica Neue"/>
              </a:rPr>
              <a:t>Electric &amp; Gas Ops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749039" y="2916936"/>
            <a:ext cx="594360" cy="310896"/>
          </a:xfrm>
          <a:prstGeom prst="roundRect">
            <a:avLst/>
          </a:prstGeom>
          <a:solidFill>
            <a:srgbClr val="6785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49039" y="2916936"/>
            <a:ext cx="5943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Helvetica Neue"/>
              </a:rPr>
              <a:t>7 FTE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2807208"/>
            <a:ext cx="178308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0F1C50"/>
                </a:solidFill>
                <a:latin typeface="Helvetica Neue"/>
              </a:rPr>
              <a:t>G&amp;E Champion (Tech Lead, 70-90 apps)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71600" y="3410712"/>
            <a:ext cx="109728" cy="566928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508760" y="3410712"/>
            <a:ext cx="4709160" cy="566928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00200" y="3456432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C50"/>
                </a:solidFill>
                <a:latin typeface="Helvetica Neue"/>
              </a:rPr>
              <a:t>GIS Sr. Manager / Champion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00200" y="3712463"/>
            <a:ext cx="2468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C3E50"/>
                </a:solidFill>
                <a:latin typeface="Helvetica Neue"/>
              </a:rPr>
              <a:t>GIS &amp; OSG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749039" y="3538728"/>
            <a:ext cx="594360" cy="310896"/>
          </a:xfrm>
          <a:prstGeom prst="roundRect">
            <a:avLst/>
          </a:prstGeom>
          <a:solidFill>
            <a:srgbClr val="6785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49039" y="3538728"/>
            <a:ext cx="5943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Helvetica Neue"/>
              </a:rPr>
              <a:t>6 FTE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34840" y="3429000"/>
            <a:ext cx="178308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0F1C50"/>
                </a:solidFill>
                <a:latin typeface="Helvetica Neue"/>
              </a:rPr>
              <a:t>GIS Sr. Manager (Champion)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371600" y="4032504"/>
            <a:ext cx="109728" cy="566928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508760" y="4032504"/>
            <a:ext cx="4709160" cy="566928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00200" y="4078224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C50"/>
                </a:solidFill>
                <a:latin typeface="Helvetica Neue"/>
              </a:rPr>
              <a:t>Sr. Manager  —  Corporate Applications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00200" y="4334256"/>
            <a:ext cx="2468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C3E50"/>
                </a:solidFill>
                <a:latin typeface="Helvetica Neue"/>
              </a:rPr>
              <a:t>Corporate Applications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749039" y="4160520"/>
            <a:ext cx="594360" cy="310896"/>
          </a:xfrm>
          <a:prstGeom prst="roundRect">
            <a:avLst/>
          </a:prstGeom>
          <a:solidFill>
            <a:srgbClr val="6785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49039" y="4160520"/>
            <a:ext cx="5943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Helvetica Neue"/>
              </a:rPr>
              <a:t>8 FTE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34840" y="4050791"/>
            <a:ext cx="178308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0F1C50"/>
                </a:solidFill>
                <a:latin typeface="Helvetica Neue"/>
              </a:rPr>
              <a:t>Corporate Champion (Tech Lead)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371600" y="4654296"/>
            <a:ext cx="109728" cy="566928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508760" y="4654296"/>
            <a:ext cx="4709160" cy="566928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600200" y="4700016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C50"/>
                </a:solidFill>
                <a:latin typeface="Helvetica Neue"/>
              </a:rPr>
              <a:t>Manager IT Apps Global SAP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00200" y="4956048"/>
            <a:ext cx="2468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C3E50"/>
                </a:solidFill>
                <a:latin typeface="Helvetica Neue"/>
              </a:rPr>
              <a:t>Global SAP — Iberdrola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C3E50"/>
                </a:solidFill>
                <a:latin typeface="Helvetica Neue"/>
              </a:rPr>
              <a:t>FI, PO, Budget (Spain)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749039" y="4782312"/>
            <a:ext cx="594360" cy="310896"/>
          </a:xfrm>
          <a:prstGeom prst="roundRect">
            <a:avLst/>
          </a:prstGeom>
          <a:solidFill>
            <a:srgbClr val="6785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749039" y="4782312"/>
            <a:ext cx="5943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Helvetica Neue"/>
              </a:rPr>
              <a:t>5 FTE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34840" y="4672583"/>
            <a:ext cx="178308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0F1C50"/>
                </a:solidFill>
                <a:latin typeface="Helvetica Neue"/>
              </a:rPr>
              <a:t>Global SAP Champion (Tech Lead)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09360" y="2788920"/>
            <a:ext cx="109728" cy="457200"/>
          </a:xfrm>
          <a:prstGeom prst="rect">
            <a:avLst/>
          </a:prstGeom>
          <a:solidFill>
            <a:srgbClr val="6785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428232" y="2788920"/>
            <a:ext cx="4709160" cy="4572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19672" y="2816351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F1C50"/>
                </a:solidFill>
                <a:latin typeface="Helvetica Neue"/>
              </a:rPr>
              <a:t>Sr. Manager  —  FICA / Billing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19672" y="3017520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C3E50"/>
                </a:solidFill>
                <a:latin typeface="Helvetica Neue"/>
              </a:rPr>
              <a:t>FICA, Billing &amp; Collection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686800" y="2880360"/>
            <a:ext cx="548640" cy="274320"/>
          </a:xfrm>
          <a:prstGeom prst="roundRect">
            <a:avLst/>
          </a:prstGeom>
          <a:solidFill>
            <a:srgbClr val="6785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86800" y="288036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Helvetica Neue"/>
              </a:rPr>
              <a:t>8 FTE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0" y="2807208"/>
            <a:ext cx="178308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1">
                <a:solidFill>
                  <a:srgbClr val="6785C1"/>
                </a:solidFill>
                <a:latin typeface="Helvetica Neue"/>
              </a:rPr>
              <a:t>Scope: Customer billing operations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309360" y="3300984"/>
            <a:ext cx="109728" cy="457200"/>
          </a:xfrm>
          <a:prstGeom prst="rect">
            <a:avLst/>
          </a:prstGeom>
          <a:solidFill>
            <a:srgbClr val="BC4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428232" y="3300984"/>
            <a:ext cx="4709160" cy="4572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519672" y="3328415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F1C50"/>
                </a:solidFill>
                <a:latin typeface="Helvetica Neue"/>
              </a:rPr>
              <a:t>TBD (vacant)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19672" y="3529584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C3E50"/>
                </a:solidFill>
                <a:latin typeface="Helvetica Neue"/>
              </a:rPr>
              <a:t>CRM &amp; Contact Center Ops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686800" y="3392424"/>
            <a:ext cx="548640" cy="274320"/>
          </a:xfrm>
          <a:prstGeom prst="roundRect">
            <a:avLst/>
          </a:prstGeom>
          <a:solidFill>
            <a:srgbClr val="6785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686800" y="3392424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Helvetica Neue"/>
              </a:rPr>
              <a:t>4 FTE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326880" y="3319272"/>
            <a:ext cx="178308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1">
                <a:solidFill>
                  <a:srgbClr val="BC4328"/>
                </a:solidFill>
                <a:latin typeface="Helvetica Neue"/>
              </a:rPr>
              <a:t>Org vacancy — leadership gap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309360" y="3813048"/>
            <a:ext cx="109728" cy="4572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428232" y="3813048"/>
            <a:ext cx="4709160" cy="4572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519672" y="3840480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F1C50"/>
                </a:solidFill>
                <a:latin typeface="Helvetica Neue"/>
              </a:rPr>
              <a:t>Sr. Manager  —  Device &amp; Metering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519672" y="4041648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C3E50"/>
                </a:solidFill>
                <a:latin typeface="Helvetica Neue"/>
              </a:rPr>
              <a:t>Device &amp; Metering (Avangrid)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686800" y="3904487"/>
            <a:ext cx="548640" cy="274320"/>
          </a:xfrm>
          <a:prstGeom prst="roundRect">
            <a:avLst/>
          </a:prstGeom>
          <a:solidFill>
            <a:srgbClr val="6785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686800" y="3904487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Helvetica Neue"/>
              </a:rPr>
              <a:t>8 FTE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326880" y="3831335"/>
            <a:ext cx="178308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1">
                <a:solidFill>
                  <a:srgbClr val="2E7D32"/>
                </a:solidFill>
                <a:latin typeface="Helvetica Neue"/>
              </a:rPr>
              <a:t>Smart Metering Champion (PM)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309360" y="4325112"/>
            <a:ext cx="109728" cy="457200"/>
          </a:xfrm>
          <a:prstGeom prst="rect">
            <a:avLst/>
          </a:prstGeom>
          <a:solidFill>
            <a:srgbClr val="BC4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6428232" y="4325112"/>
            <a:ext cx="4709160" cy="4572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519672" y="4352544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F1C50"/>
                </a:solidFill>
                <a:latin typeface="Helvetica Neue"/>
              </a:rPr>
              <a:t>Open (vacant)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519672" y="4553712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C3E50"/>
                </a:solidFill>
                <a:latin typeface="Helvetica Neue"/>
              </a:rPr>
              <a:t>SAP &amp; CS Architecture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8686800" y="4416552"/>
            <a:ext cx="548640" cy="274320"/>
          </a:xfrm>
          <a:prstGeom prst="roundRect">
            <a:avLst/>
          </a:prstGeom>
          <a:solidFill>
            <a:srgbClr val="6785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686800" y="44165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Helvetica Neue"/>
              </a:rPr>
              <a:t>2 FTE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326880" y="4343400"/>
            <a:ext cx="178308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1">
                <a:solidFill>
                  <a:srgbClr val="BC4328"/>
                </a:solidFill>
                <a:latin typeface="Helvetica Neue"/>
              </a:rPr>
              <a:t>Org vacancy — leadership gap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309360" y="4837176"/>
            <a:ext cx="109728" cy="457200"/>
          </a:xfrm>
          <a:prstGeom prst="rect">
            <a:avLst/>
          </a:prstGeom>
          <a:solidFill>
            <a:srgbClr val="6785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428232" y="4837176"/>
            <a:ext cx="4709160" cy="4572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519672" y="4864608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F1C50"/>
                </a:solidFill>
                <a:latin typeface="Helvetica Neue"/>
              </a:rPr>
              <a:t>Manager  —  SAP Basis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519672" y="5065776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C3E50"/>
                </a:solidFill>
                <a:latin typeface="Helvetica Neue"/>
              </a:rPr>
              <a:t>SAP Basis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8686800" y="4928616"/>
            <a:ext cx="548640" cy="274320"/>
          </a:xfrm>
          <a:prstGeom prst="roundRect">
            <a:avLst/>
          </a:prstGeom>
          <a:solidFill>
            <a:srgbClr val="6785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686800" y="4928616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Helvetica Neue"/>
              </a:rPr>
              <a:t>2 FTE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326880" y="4855464"/>
            <a:ext cx="178308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1">
                <a:solidFill>
                  <a:srgbClr val="6785C1"/>
                </a:solidFill>
                <a:latin typeface="Helvetica Neue"/>
              </a:rPr>
              <a:t>Scope: Platform / infrastructure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57200" y="5623560"/>
            <a:ext cx="228600" cy="2286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77240" y="5605272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C3E50"/>
                </a:solidFill>
                <a:latin typeface="Helvetica Neue"/>
              </a:rPr>
              <a:t>Area champion identified (5)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114800" y="5623560"/>
            <a:ext cx="228600" cy="228600"/>
          </a:xfrm>
          <a:prstGeom prst="rect">
            <a:avLst/>
          </a:prstGeom>
          <a:solidFill>
            <a:srgbClr val="6785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434840" y="5605272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C3E50"/>
                </a:solidFill>
                <a:latin typeface="Helvetica Neue"/>
              </a:rPr>
              <a:t>Operational scope documented (2)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046720" y="5623560"/>
            <a:ext cx="228600" cy="228600"/>
          </a:xfrm>
          <a:prstGeom prst="rect">
            <a:avLst/>
          </a:prstGeom>
          <a:solidFill>
            <a:srgbClr val="BC4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366760" y="560527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C3E50"/>
                </a:solidFill>
                <a:latin typeface="Helvetica Neue"/>
              </a:rPr>
              <a:t>Org vacancy — leadership gap (2)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57200" y="5989320"/>
            <a:ext cx="11274552" cy="502920"/>
          </a:xfrm>
          <a:prstGeom prst="rect">
            <a:avLst/>
          </a:prstGeom>
          <a:solidFill>
            <a:srgbClr val="0F1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85800" y="6035040"/>
            <a:ext cx="10817352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Helvetica Neue"/>
              </a:rPr>
              <a:t>Two Sr. Manager vacancies leave Customer Services running at 60% leadership coverage — a structural risk the TOM must address before scaling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144000" y="6565392"/>
            <a:ext cx="258775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5A5A6"/>
                </a:solidFill>
                <a:latin typeface="Helvetica Neue"/>
              </a:rPr>
              <a:t>Org Context  |  06 / 28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457200" y="73152"/>
            <a:ext cx="1848612" cy="201168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457200" y="73152"/>
            <a:ext cx="184861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95A5A6"/>
                </a:solidFill>
                <a:latin typeface="Helvetica Neue"/>
              </a:rPr>
              <a:t>01 · EXECUTIVE SUMMARY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2342388" y="73152"/>
            <a:ext cx="1848612" cy="201168"/>
          </a:xfrm>
          <a:prstGeom prst="roundRect">
            <a:avLst/>
          </a:prstGeom>
          <a:solidFill>
            <a:srgbClr val="0F1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2342388" y="73152"/>
            <a:ext cx="184861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FFFFFF"/>
                </a:solidFill>
                <a:latin typeface="Helvetica Neue"/>
              </a:rPr>
              <a:t>02 · ORGANIZATION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4227576" y="73152"/>
            <a:ext cx="1848612" cy="201168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4227576" y="73152"/>
            <a:ext cx="184861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95A5A6"/>
                </a:solidFill>
                <a:latin typeface="Helvetica Neue"/>
              </a:rPr>
              <a:t>03 · DEMAND FLOW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6112764" y="73152"/>
            <a:ext cx="1848612" cy="201168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6112764" y="73152"/>
            <a:ext cx="184861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95A5A6"/>
                </a:solidFill>
                <a:latin typeface="Helvetica Neue"/>
              </a:rPr>
              <a:t>04 · CAPACITY &amp; PORTFOLIO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7997952" y="73152"/>
            <a:ext cx="1848612" cy="201168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7997952" y="73152"/>
            <a:ext cx="184861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95A5A6"/>
                </a:solidFill>
                <a:latin typeface="Helvetica Neue"/>
              </a:rPr>
              <a:t>05 · PAIN POINTS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9883140" y="73152"/>
            <a:ext cx="1848612" cy="201168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9883140" y="73152"/>
            <a:ext cx="184861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95A5A6"/>
                </a:solidFill>
                <a:latin typeface="Helvetica Neue"/>
              </a:rPr>
              <a:t>06 · INSIGHTS &amp; TOM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455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F1C50"/>
                </a:solidFill>
                <a:latin typeface="Helvetica Neue"/>
              </a:rPr>
              <a:t>Applications runs Avangrid's non-SAP operational backbone — four teams supporting Electric &amp; Gas, GIS, Corporate and Iberdrola Global SAP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274552" cy="13716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347472"/>
          </a:xfrm>
          <a:prstGeom prst="rect">
            <a:avLst/>
          </a:prstGeom>
          <a:solidFill>
            <a:srgbClr val="6785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07008"/>
            <a:ext cx="1127455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Helvetica Neue"/>
              </a:rPr>
              <a:t>BRANCH 1  —  IT BUSINESS APPLICATIONS  ·  Director: Director IT Business Applications  ·  ~26 FTE  ·  4 teams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91640"/>
            <a:ext cx="5623560" cy="214884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691640"/>
            <a:ext cx="5623560" cy="36576"/>
          </a:xfrm>
          <a:prstGeom prst="rect">
            <a:avLst/>
          </a:prstGeom>
          <a:solidFill>
            <a:srgbClr val="6785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801368"/>
            <a:ext cx="5257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C50"/>
                </a:solidFill>
                <a:latin typeface="Helvetica Neue"/>
              </a:rPr>
              <a:t>NATURE OF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057400"/>
            <a:ext cx="5257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6785C1"/>
                </a:solidFill>
                <a:latin typeface="Helvetica Neue"/>
              </a:rPr>
              <a:t>Operational continuity + regulated change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350008"/>
            <a:ext cx="5257800" cy="1399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C3E50"/>
                </a:solidFill>
                <a:latin typeface="Helvetica Neue"/>
              </a:rPr>
              <a:t>▪  Keep the lights on — break/fix is the dominant pattern (GIS, G&amp;E, Corporate).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C3E50"/>
                </a:solidFill>
                <a:latin typeface="Helvetica Neue"/>
              </a:rPr>
              <a:t>▪  Large demand planned yearly via PDD; small/medium demand handled ad-hoc.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C3E50"/>
                </a:solidFill>
                <a:latin typeface="Helvetica Neue"/>
              </a:rPr>
              <a:t>▪  Regulatory and employee-facing systems (Corporate) run under continuous compliance pressure.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C3E50"/>
                </a:solidFill>
                <a:latin typeface="Helvetica Neue"/>
              </a:rPr>
              <a:t>▪  Version upgrades (Projectwise, Microstation) gate-kept by Third-Party Risk assessment.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99632" y="1691640"/>
            <a:ext cx="5623560" cy="214884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99632" y="1691640"/>
            <a:ext cx="5623560" cy="36576"/>
          </a:xfrm>
          <a:prstGeom prst="rect">
            <a:avLst/>
          </a:prstGeom>
          <a:solidFill>
            <a:srgbClr val="6785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801368"/>
            <a:ext cx="5257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C50"/>
                </a:solidFill>
                <a:latin typeface="Helvetica Neue"/>
              </a:rPr>
              <a:t>APPLICATIONS IN SCOPE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057400"/>
            <a:ext cx="5257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6785C1"/>
                </a:solidFill>
                <a:latin typeface="Helvetica Neue"/>
              </a:rPr>
              <a:t>Four technology domains under Apps Director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350008"/>
            <a:ext cx="5257800" cy="1399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C3E50"/>
                </a:solidFill>
                <a:latin typeface="Helvetica Neue"/>
              </a:rPr>
              <a:t>▪  GIS &amp; OSG  —  SAP HANA, ARCFM, GIS web apps, data replication, SWF platform (GIS Sr. Manager / Champion, ~6 FTE).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C3E50"/>
                </a:solidFill>
                <a:latin typeface="Helvetica Neue"/>
              </a:rPr>
              <a:t>▪  Electric &amp; Gas Ops  —  70–90 apps, android/tablets, doc viewer, 811 gas lines (Sr. Manager + G&amp;E Tech Lead, ~7 FTE).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C3E50"/>
                </a:solidFill>
                <a:latin typeface="Helvetica Neue"/>
              </a:rPr>
              <a:t>▪  Corporate Applications  —  5-6 PMs, 2 tech leads, corporate + network apps, SWF tooling (Corporate Apps Manager + Corporate Champion, ~8 FTE).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C3E50"/>
                </a:solidFill>
                <a:latin typeface="Helvetica Neue"/>
              </a:rPr>
              <a:t>▪  Global SAP (Iberdrola)  —  FI, PO, Budget — Spain-side SAP module support (Global SAP Manager + Global SAP Champion, ~5 FTE).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913632"/>
            <a:ext cx="5623560" cy="214884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3913632"/>
            <a:ext cx="5623560" cy="36576"/>
          </a:xfrm>
          <a:prstGeom prst="rect">
            <a:avLst/>
          </a:prstGeom>
          <a:solidFill>
            <a:srgbClr val="6785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4023360"/>
            <a:ext cx="5257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C50"/>
                </a:solidFill>
                <a:latin typeface="Helvetica Neue"/>
              </a:rPr>
              <a:t>PRIORITIES TODAY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4279392"/>
            <a:ext cx="5257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6785C1"/>
                </a:solidFill>
                <a:latin typeface="Helvetica Neue"/>
              </a:rPr>
              <a:t>Break/fix first, regulatory second, strategic last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4572000"/>
            <a:ext cx="5257800" cy="1399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C3E50"/>
                </a:solidFill>
                <a:latin typeface="Helvetica Neue"/>
              </a:rPr>
              <a:t>▪  GIS: keep the lights on; team &amp; SWF resource management; future technology roadmap.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C3E50"/>
                </a:solidFill>
                <a:latin typeface="Helvetica Neue"/>
              </a:rPr>
              <a:t>▪  Corporate: regulatory and employee-facing systems — always priority; continuous new requirements.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C3E50"/>
                </a:solidFill>
                <a:latin typeface="Helvetica Neue"/>
              </a:rPr>
              <a:t>▪  G&amp;E: ProjectWise + Microstation upgrades; third-party risk interface; business case approvals (slow).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C3E50"/>
                </a:solidFill>
                <a:latin typeface="Helvetica Neue"/>
              </a:rPr>
              <a:t>▪  Global SAP: incident volume dominates — strategic projects slip; 1-year hiring lag amplifies load.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99632" y="3913632"/>
            <a:ext cx="5623560" cy="214884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99632" y="3913632"/>
            <a:ext cx="5623560" cy="36576"/>
          </a:xfrm>
          <a:prstGeom prst="rect">
            <a:avLst/>
          </a:prstGeom>
          <a:solidFill>
            <a:srgbClr val="6785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4023360"/>
            <a:ext cx="5257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C50"/>
                </a:solidFill>
                <a:latin typeface="Helvetica Neue"/>
              </a:rPr>
              <a:t>INTERACTIONS  &amp;  WAY OF WORKING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279392"/>
            <a:ext cx="5257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6785C1"/>
                </a:solidFill>
                <a:latin typeface="Helvetica Neue"/>
              </a:rPr>
              <a:t>Inside-IT + vendor + business triangulation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572000"/>
            <a:ext cx="5257800" cy="1399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C3E50"/>
                </a:solidFill>
                <a:latin typeface="Helvetica Neue"/>
              </a:rPr>
              <a:t>▪  Inside Applications: GIS ↔ G&amp;E (shared SAP/GIS data); Corporate ↔ all teams (shared PMs).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C3E50"/>
                </a:solidFill>
                <a:latin typeface="Helvetica Neue"/>
              </a:rPr>
              <a:t>▪  With SAP branch: Global SAP ↔ CS Director's SAP (Billing, FICA); P&amp;T is the intermediary with Business.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C3E50"/>
                </a:solidFill>
                <a:latin typeface="Helvetica Neue"/>
              </a:rPr>
              <a:t>▪  With vendors: Accenture (Global SAP + Corporate), SWF / Software Factory (all teams), business vendors (G&amp;E).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C3E50"/>
                </a:solidFill>
                <a:latin typeface="Helvetica Neue"/>
              </a:rPr>
              <a:t>▪  Tools mix: Jira (misc), IT Now (incidents), PDD (large), SharePoint + Teams + OneNote + Email (PM).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5989320"/>
            <a:ext cx="11274552" cy="502920"/>
          </a:xfrm>
          <a:prstGeom prst="rect">
            <a:avLst/>
          </a:prstGeom>
          <a:solidFill>
            <a:srgbClr val="0F1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6035040"/>
            <a:ext cx="10817352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Helvetica Neue"/>
              </a:rPr>
              <a:t>Applications carries the structural legacy of Avangrid's IT stack — fragmentation here maps directly to the 4 intake bottlenecks surfaced later in this deck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6565392"/>
            <a:ext cx="258775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5A5A6"/>
                </a:solidFill>
                <a:latin typeface="Helvetica Neue"/>
              </a:rPr>
              <a:t>Applications Branch Overview  |  07 / 28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73152"/>
            <a:ext cx="1848612" cy="201168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73152"/>
            <a:ext cx="184861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95A5A6"/>
                </a:solidFill>
                <a:latin typeface="Helvetica Neue"/>
              </a:rPr>
              <a:t>01 · EXECUTIVE SUMMARY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342388" y="73152"/>
            <a:ext cx="1848612" cy="201168"/>
          </a:xfrm>
          <a:prstGeom prst="roundRect">
            <a:avLst/>
          </a:prstGeom>
          <a:solidFill>
            <a:srgbClr val="0F1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342388" y="73152"/>
            <a:ext cx="184861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FFFFFF"/>
                </a:solidFill>
                <a:latin typeface="Helvetica Neue"/>
              </a:rPr>
              <a:t>02 · ORGANIZATION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227576" y="73152"/>
            <a:ext cx="1848612" cy="201168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27576" y="73152"/>
            <a:ext cx="184861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95A5A6"/>
                </a:solidFill>
                <a:latin typeface="Helvetica Neue"/>
              </a:rPr>
              <a:t>03 · DEMAND FLOW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12764" y="73152"/>
            <a:ext cx="1848612" cy="201168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12764" y="73152"/>
            <a:ext cx="184861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95A5A6"/>
                </a:solidFill>
                <a:latin typeface="Helvetica Neue"/>
              </a:rPr>
              <a:t>04 · CAPACITY &amp; PORTFOLIO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997952" y="73152"/>
            <a:ext cx="1848612" cy="201168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997952" y="73152"/>
            <a:ext cx="184861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95A5A6"/>
                </a:solidFill>
                <a:latin typeface="Helvetica Neue"/>
              </a:rPr>
              <a:t>05 · PAIN POINTS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883140" y="73152"/>
            <a:ext cx="1848612" cy="201168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883140" y="73152"/>
            <a:ext cx="184861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95A5A6"/>
                </a:solidFill>
                <a:latin typeface="Helvetica Neue"/>
              </a:rPr>
              <a:t>06 · INSIGHTS &amp; TOM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455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F1C50"/>
                </a:solidFill>
                <a:latin typeface="Helvetica Neue"/>
              </a:rPr>
              <a:t>Customer Services Apps serves 7 OPCOs across three BRS groups — with SAP (Billing, CRM, FICA, Metering) as the operational core and two Sr. Manager vacancies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274552" cy="13716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347472"/>
          </a:xfrm>
          <a:prstGeom prst="rect">
            <a:avLst/>
          </a:prstGeom>
          <a:solidFill>
            <a:srgbClr val="0F1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07008"/>
            <a:ext cx="1127455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Helvetica Neue"/>
              </a:rPr>
              <a:t>BRANCH 2  —  CUSTOMER SERVICES APPS  ·  Director: Director Customer Services Apps  ·  ~24 FTE  ·  5 teams (2 Sr. Manager vacancies)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91640"/>
            <a:ext cx="5623560" cy="214884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691640"/>
            <a:ext cx="5623560" cy="36576"/>
          </a:xfrm>
          <a:prstGeom prst="rect">
            <a:avLst/>
          </a:prstGeom>
          <a:solidFill>
            <a:srgbClr val="0F1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801368"/>
            <a:ext cx="5257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C50"/>
                </a:solidFill>
                <a:latin typeface="Helvetica Neue"/>
              </a:rPr>
              <a:t>NATURE OF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057400"/>
            <a:ext cx="5257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6785C1"/>
                </a:solidFill>
                <a:latin typeface="Helvetica Neue"/>
              </a:rPr>
              <a:t>Customer-facing SAP + metering + contact center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350008"/>
            <a:ext cx="5257800" cy="1399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C3E50"/>
                </a:solidFill>
                <a:latin typeface="Helvetica Neue"/>
              </a:rPr>
              <a:t>▪  SAP (Avangrid US) — Billing, FICA, CRM, Metering — distinct from Global SAP (Iberdrola Spain).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C3E50"/>
                </a:solidFill>
                <a:latin typeface="Helvetica Neue"/>
              </a:rPr>
              <a:t>▪  Demand split across BRS (business), PMO (Travis — large projects) and IT-funded (CS Director's teams).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C3E50"/>
                </a:solidFill>
                <a:latin typeface="Helvetica Neue"/>
              </a:rPr>
              <a:t>▪  Incidents + small/medium demand dominate volume; large projects run via annual PDD.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C3E50"/>
                </a:solidFill>
                <a:latin typeface="Helvetica Neue"/>
              </a:rPr>
              <a:t>▪  Software Factory (SWF) executes; Accenture supports incidents + projects.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99632" y="1691640"/>
            <a:ext cx="5623560" cy="214884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99632" y="1691640"/>
            <a:ext cx="5623560" cy="36576"/>
          </a:xfrm>
          <a:prstGeom prst="rect">
            <a:avLst/>
          </a:prstGeom>
          <a:solidFill>
            <a:srgbClr val="0F1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801368"/>
            <a:ext cx="5257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C50"/>
                </a:solidFill>
                <a:latin typeface="Helvetica Neue"/>
              </a:rPr>
              <a:t>BRS  /  OPCO LANDSCAPE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057400"/>
            <a:ext cx="5257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6785C1"/>
                </a:solidFill>
                <a:latin typeface="Helvetica Neue"/>
              </a:rPr>
              <a:t>3 BRS groups representing 7 operating companies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350008"/>
            <a:ext cx="5257800" cy="1399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C3E50"/>
                </a:solidFill>
                <a:latin typeface="Helvetica Neue"/>
              </a:rPr>
              <a:t>▪  BRS UIL  —  United Illuminating, SCG, CNG, BGC (Connecticut cluster).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C3E50"/>
                </a:solidFill>
                <a:latin typeface="Helvetica Neue"/>
              </a:rPr>
              <a:t>▪  BRS CMP  —  Central Maine Power (Maine operations).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C3E50"/>
                </a:solidFill>
                <a:latin typeface="Helvetica Neue"/>
              </a:rPr>
              <a:t>▪  BRS NY  —  NYSEG + RGE (New York cluster).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C3E50"/>
                </a:solidFill>
                <a:latin typeface="Helvetica Neue"/>
              </a:rPr>
              <a:t>▪  Plus Digital CoE (customer apps / websites) and Call Center (contact interactions — CS Director).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C3E50"/>
                </a:solidFill>
                <a:latin typeface="Helvetica Neue"/>
              </a:rPr>
              <a:t>▪  Each OPCO competes for the same IT capacity — multi-OPCO prioritization is a daily pressure.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913632"/>
            <a:ext cx="5623560" cy="214884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3913632"/>
            <a:ext cx="5623560" cy="36576"/>
          </a:xfrm>
          <a:prstGeom prst="rect">
            <a:avLst/>
          </a:prstGeom>
          <a:solidFill>
            <a:srgbClr val="0F1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4023360"/>
            <a:ext cx="5257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C50"/>
                </a:solidFill>
                <a:latin typeface="Helvetica Neue"/>
              </a:rPr>
              <a:t>TEAMS UNDER KUMAR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4279392"/>
            <a:ext cx="5257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6785C1"/>
                </a:solidFill>
                <a:latin typeface="Helvetica Neue"/>
              </a:rPr>
              <a:t>5 sub-teams, heterogeneous maturity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4572000"/>
            <a:ext cx="5257800" cy="1399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C3E50"/>
                </a:solidFill>
                <a:latin typeface="Helvetica Neue"/>
              </a:rPr>
              <a:t>▪  Sr. Manager  —  FICA / Billing  —  FICA, Billing &amp; Collection (~8 FTE).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C3E50"/>
                </a:solidFill>
                <a:latin typeface="Helvetica Neue"/>
              </a:rPr>
              <a:t>▪  Sr. Manager  —  Device &amp; Metering  —  Device &amp; Metering (Smart Metering champion / PM sits here, ~8 FTE).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C3E50"/>
                </a:solidFill>
                <a:latin typeface="Helvetica Neue"/>
              </a:rPr>
              <a:t>▪  Manager  —  SAP Basis  —  SAP Basis (platform / infrastructure, ~2 FTE).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C3E50"/>
                </a:solidFill>
                <a:latin typeface="Helvetica Neue"/>
              </a:rPr>
              <a:t>▪  TBD (vacant)  —  Sr. Manager CRM &amp; Contact Center Ops (~4 FTE) — leadership gap.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C3E50"/>
                </a:solidFill>
                <a:latin typeface="Helvetica Neue"/>
              </a:rPr>
              <a:t>▪  Open (vacant)  —  Sr. Manager SAP &amp; CS Architecture (~2 FTE) — leadership gap.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99632" y="3913632"/>
            <a:ext cx="5623560" cy="214884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99632" y="3913632"/>
            <a:ext cx="5623560" cy="36576"/>
          </a:xfrm>
          <a:prstGeom prst="rect">
            <a:avLst/>
          </a:prstGeom>
          <a:solidFill>
            <a:srgbClr val="0F1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4023360"/>
            <a:ext cx="5257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C50"/>
                </a:solidFill>
                <a:latin typeface="Helvetica Neue"/>
              </a:rPr>
              <a:t>WAY OF WORKING  &amp;  INTERACTIONS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279392"/>
            <a:ext cx="5257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6785C1"/>
                </a:solidFill>
                <a:latin typeface="Helvetica Neue"/>
              </a:rPr>
              <a:t>Fragmented intake + vendor-heavy delivery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572000"/>
            <a:ext cx="5257800" cy="1399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C3E50"/>
                </a:solidFill>
                <a:latin typeface="Helvetica Neue"/>
              </a:rPr>
              <a:t>▪  Small/medium demand via Jira; large via PPM Now (only Smart Metering consistently).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C3E50"/>
                </a:solidFill>
                <a:latin typeface="Helvetica Neue"/>
              </a:rPr>
              <a:t>▪  Incidents: IT Now; Minor requests: RITM; Major projects: SharePoint + Teams.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C3E50"/>
                </a:solidFill>
                <a:latin typeface="Helvetica Neue"/>
              </a:rPr>
              <a:t>▪  Interactions: CS Director ↔ Travis (PMO for large projects); ↔ BRS leads (business demand); ↔ Global SAP Manager (Global SAP).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C3E50"/>
                </a:solidFill>
                <a:latin typeface="Helvetica Neue"/>
              </a:rPr>
              <a:t>▪  Vendor concentration: Smart Metering is 100% vendor-delivered (requirements + code); other teams rely on Accenture + SWF.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5989320"/>
            <a:ext cx="11274552" cy="502920"/>
          </a:xfrm>
          <a:prstGeom prst="rect">
            <a:avLst/>
          </a:prstGeom>
          <a:solidFill>
            <a:srgbClr val="0F1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6035040"/>
            <a:ext cx="10817352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Helvetica Neue"/>
              </a:rPr>
              <a:t>Customer Services Apps carries both business-facing complexity (3 BRS × 7 OPCOs) and structural gaps (2 Sr. Manager vacancies, vendor-heavy delivery) — the TOM must address both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6565392"/>
            <a:ext cx="258775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5A5A6"/>
                </a:solidFill>
                <a:latin typeface="Helvetica Neue"/>
              </a:rPr>
              <a:t>Customer Services Branch Overview  |  08 / 28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73152"/>
            <a:ext cx="1848612" cy="201168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73152"/>
            <a:ext cx="184861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95A5A6"/>
                </a:solidFill>
                <a:latin typeface="Helvetica Neue"/>
              </a:rPr>
              <a:t>01 · EXECUTIVE SUMMARY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342388" y="73152"/>
            <a:ext cx="1848612" cy="201168"/>
          </a:xfrm>
          <a:prstGeom prst="roundRect">
            <a:avLst/>
          </a:prstGeom>
          <a:solidFill>
            <a:srgbClr val="0F1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342388" y="73152"/>
            <a:ext cx="184861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FFFFFF"/>
                </a:solidFill>
                <a:latin typeface="Helvetica Neue"/>
              </a:rPr>
              <a:t>02 · ORGANIZATION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227576" y="73152"/>
            <a:ext cx="1848612" cy="201168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27576" y="73152"/>
            <a:ext cx="184861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95A5A6"/>
                </a:solidFill>
                <a:latin typeface="Helvetica Neue"/>
              </a:rPr>
              <a:t>03 · DEMAND FLOW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12764" y="73152"/>
            <a:ext cx="1848612" cy="201168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12764" y="73152"/>
            <a:ext cx="184861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95A5A6"/>
                </a:solidFill>
                <a:latin typeface="Helvetica Neue"/>
              </a:rPr>
              <a:t>04 · CAPACITY &amp; PORTFOLIO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997952" y="73152"/>
            <a:ext cx="1848612" cy="201168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997952" y="73152"/>
            <a:ext cx="184861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95A5A6"/>
                </a:solidFill>
                <a:latin typeface="Helvetica Neue"/>
              </a:rPr>
              <a:t>05 · PAIN POINTS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883140" y="73152"/>
            <a:ext cx="1848612" cy="201168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883140" y="73152"/>
            <a:ext cx="184861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95A5A6"/>
                </a:solidFill>
                <a:latin typeface="Helvetica Neue"/>
              </a:rPr>
              <a:t>06 · INSIGHTS &amp; TOM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455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F1C50"/>
                </a:solidFill>
                <a:latin typeface="Helvetica Neue"/>
              </a:rPr>
              <a:t>The SAP branch serves five distinct business landscapes — three regional BRS groups plus Digital CoE and SAP Basis — each with its own demand profile and governance cadence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274552" cy="13716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92608"/>
          </a:xfrm>
          <a:prstGeom prst="rect">
            <a:avLst/>
          </a:prstGeom>
          <a:solidFill>
            <a:srgbClr val="0F1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07008"/>
            <a:ext cx="11274552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Helvetica Neue"/>
              </a:rPr>
              <a:t>SAP  /  CUSTOMER SERVICES APPS  —  LANDSCAPE BREAKDOWN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3749039" cy="233172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645920"/>
            <a:ext cx="3749039" cy="54864"/>
          </a:xfrm>
          <a:prstGeom prst="rect">
            <a:avLst/>
          </a:prstGeom>
          <a:solidFill>
            <a:srgbClr val="6785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810512"/>
            <a:ext cx="1280160" cy="292608"/>
          </a:xfrm>
          <a:prstGeom prst="roundRect">
            <a:avLst/>
          </a:prstGeom>
          <a:solidFill>
            <a:srgbClr val="6785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810512"/>
            <a:ext cx="12801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Helvetica Neue"/>
              </a:rPr>
              <a:t>BRS UIL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1810512"/>
            <a:ext cx="2057399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1C50"/>
                </a:solidFill>
                <a:latin typeface="Helvetica Neue"/>
              </a:rPr>
              <a:t>Connecticut cluster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176272"/>
            <a:ext cx="338327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6785C1"/>
                </a:solidFill>
                <a:latin typeface="Helvetica Neue"/>
              </a:rPr>
              <a:t>UI, SCG, CNG, BGC  —  4 OPCOs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487168"/>
            <a:ext cx="3383279" cy="14173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▪  United Illuminating (UI) — CT electric distribution.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▪  Southern Connecticut Gas (SCG).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▪  Connecticut Natural Gas (CNG).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▪  Berkshire Gas Company (BGC) — Western MA gas.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▪  Customer services SAP footprint: Billing, FICA, CRM.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▪  VP Customer Service → BRS UIL lead.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79" y="1645920"/>
            <a:ext cx="3749039" cy="233172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79" y="1645920"/>
            <a:ext cx="3749039" cy="54864"/>
          </a:xfrm>
          <a:prstGeom prst="rect">
            <a:avLst/>
          </a:prstGeom>
          <a:solidFill>
            <a:srgbClr val="6785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480559" y="1810512"/>
            <a:ext cx="1280160" cy="292608"/>
          </a:xfrm>
          <a:prstGeom prst="roundRect">
            <a:avLst/>
          </a:prstGeom>
          <a:solidFill>
            <a:srgbClr val="6785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59" y="1810512"/>
            <a:ext cx="12801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Helvetica Neue"/>
              </a:rPr>
              <a:t>BRS CMP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59" y="1810512"/>
            <a:ext cx="2057399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1C50"/>
                </a:solidFill>
                <a:latin typeface="Helvetica Neue"/>
              </a:rPr>
              <a:t>Maine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98847" y="2176272"/>
            <a:ext cx="338327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6785C1"/>
                </a:solidFill>
                <a:latin typeface="Helvetica Neue"/>
              </a:rPr>
              <a:t>Central Maine Power  —  1 OPCO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98847" y="2487168"/>
            <a:ext cx="3383279" cy="14173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▪  Central Maine Power (CMP) — ME electric distribution.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▪  Dedicated BRS — distinct regulatory cadence vs. UIL and NY.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▪  Customer services SAP footprint: Billing, FICA, CRM.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▪  VP Customer Service → BRS CMP lead.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▪  Annual PDD demand process + small/medium via Jira.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38159" y="1645920"/>
            <a:ext cx="3749039" cy="233172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38159" y="1645920"/>
            <a:ext cx="3749039" cy="54864"/>
          </a:xfrm>
          <a:prstGeom prst="rect">
            <a:avLst/>
          </a:prstGeom>
          <a:solidFill>
            <a:srgbClr val="6785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321039" y="1810512"/>
            <a:ext cx="1280160" cy="292608"/>
          </a:xfrm>
          <a:prstGeom prst="roundRect">
            <a:avLst/>
          </a:prstGeom>
          <a:solidFill>
            <a:srgbClr val="6785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21039" y="1810512"/>
            <a:ext cx="12801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Helvetica Neue"/>
              </a:rPr>
              <a:t>BRS NY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92639" y="1810512"/>
            <a:ext cx="2057399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1C50"/>
                </a:solidFill>
                <a:latin typeface="Helvetica Neue"/>
              </a:rPr>
              <a:t>New York cluster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39327" y="2176272"/>
            <a:ext cx="338327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6785C1"/>
                </a:solidFill>
                <a:latin typeface="Helvetica Neue"/>
              </a:rPr>
              <a:t>NYSEG, RGE  —  2 OPCOs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39327" y="2487168"/>
            <a:ext cx="3383279" cy="14173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▪  NYSEG — upstate NY electric &amp; gas.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▪  RGE — Rochester Gas &amp; Electric.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▪  Customer services SAP footprint: Billing, FICA, CRM, Metering (Smart Metering heaviest here).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▪  VP Customer Service NY → BRS NY lead.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▪  Shared AMI / metering program drives device &amp; metering volume.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7131" y="4087368"/>
            <a:ext cx="5669280" cy="2148839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67131" y="4087368"/>
            <a:ext cx="5669280" cy="54864"/>
          </a:xfrm>
          <a:prstGeom prst="rect">
            <a:avLst/>
          </a:prstGeom>
          <a:solidFill>
            <a:srgbClr val="BC4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50011" y="4251959"/>
            <a:ext cx="1280160" cy="292608"/>
          </a:xfrm>
          <a:prstGeom prst="roundRect">
            <a:avLst/>
          </a:prstGeom>
          <a:solidFill>
            <a:srgbClr val="BC4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50011" y="4251959"/>
            <a:ext cx="12801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Helvetica Neue"/>
              </a:rPr>
              <a:t>DIGITAL CoE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21611" y="4251959"/>
            <a:ext cx="3977639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1C50"/>
                </a:solidFill>
                <a:latin typeface="Helvetica Neue"/>
              </a:rPr>
              <a:t>Customer digital experience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8299" y="4617720"/>
            <a:ext cx="5303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6785C1"/>
                </a:solidFill>
                <a:latin typeface="Helvetica Neue"/>
              </a:rPr>
              <a:t>Customer-facing apps, websites, mobile  —  CS Director directly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8299" y="4928616"/>
            <a:ext cx="5303520" cy="12344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▪  CS Director owns Digital CoE directly (customer interaction layer).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▪  Develops solutions for the customer: portal, mobile apps, websites.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▪  Interfaces with Contact Center + Call Center (customer interaction).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▪  Runs separately from BRS-driven back-office demand — closer to CX journeys than to SAP modules.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▪  Connects to P&amp;T Process &amp; Technology (field operators) and Renewables CoE patterns already mapped.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55283" y="4087368"/>
            <a:ext cx="5669280" cy="2148839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155283" y="4087368"/>
            <a:ext cx="5669280" cy="54864"/>
          </a:xfrm>
          <a:prstGeom prst="rect">
            <a:avLst/>
          </a:prstGeom>
          <a:solidFill>
            <a:srgbClr val="95A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338163" y="4251959"/>
            <a:ext cx="1280160" cy="292608"/>
          </a:xfrm>
          <a:prstGeom prst="roundRect">
            <a:avLst/>
          </a:prstGeom>
          <a:solidFill>
            <a:srgbClr val="95A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38163" y="4251959"/>
            <a:ext cx="12801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Helvetica Neue"/>
              </a:rPr>
              <a:t>SAP BASIS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09763" y="4251959"/>
            <a:ext cx="3977639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1C50"/>
                </a:solidFill>
                <a:latin typeface="Helvetica Neue"/>
              </a:rPr>
              <a:t>Platform / horizontal layer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56451" y="4617720"/>
            <a:ext cx="5303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6785C1"/>
                </a:solidFill>
                <a:latin typeface="Helvetica Neue"/>
              </a:rPr>
              <a:t>Manager  —  SAP Basis (~2 FTE)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56451" y="4928616"/>
            <a:ext cx="5303520" cy="12344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▪  Platform + infrastructure services supporting all SAP modules (FICA, Billing, CRM, Metering).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▪  Shared service across BRS UIL / CMP / NY — horizontal layer.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▪  On-prem = IT owned (platform side).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▪  Version upgrades, environment moves, third-party risk interface.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▪  Level-1 / small regulatory demands (Jira as intake + managing, forms standard) surface here before routing.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5989320"/>
            <a:ext cx="11274552" cy="502920"/>
          </a:xfrm>
          <a:prstGeom prst="rect">
            <a:avLst/>
          </a:prstGeom>
          <a:solidFill>
            <a:srgbClr val="0F1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5800" y="6035040"/>
            <a:ext cx="10817352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Helvetica Neue"/>
              </a:rPr>
              <a:t>Any TOM recommendation on Customer Services demand must respect three regional cadences (UIL, CMP, NY), one customer-facing track (Digital CoE), and one horizontal platform (SAP Basis) — single model, five consumption patterns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44000" y="6565392"/>
            <a:ext cx="258775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5A5A6"/>
                </a:solidFill>
                <a:latin typeface="Helvetica Neue"/>
              </a:rPr>
              <a:t>SAP Landscape Detail  |  09 / 28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57200" y="73152"/>
            <a:ext cx="1848612" cy="201168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7200" y="73152"/>
            <a:ext cx="184861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95A5A6"/>
                </a:solidFill>
                <a:latin typeface="Helvetica Neue"/>
              </a:rPr>
              <a:t>01 · EXECUTIVE SUMMARY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342388" y="73152"/>
            <a:ext cx="1848612" cy="201168"/>
          </a:xfrm>
          <a:prstGeom prst="roundRect">
            <a:avLst/>
          </a:prstGeom>
          <a:solidFill>
            <a:srgbClr val="0F1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342388" y="73152"/>
            <a:ext cx="184861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FFFFFF"/>
                </a:solidFill>
                <a:latin typeface="Helvetica Neue"/>
              </a:rPr>
              <a:t>02 · ORGANIZATION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227576" y="73152"/>
            <a:ext cx="1848612" cy="201168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227576" y="73152"/>
            <a:ext cx="184861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95A5A6"/>
                </a:solidFill>
                <a:latin typeface="Helvetica Neue"/>
              </a:rPr>
              <a:t>03 · DEMAND FLOW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112764" y="73152"/>
            <a:ext cx="1848612" cy="201168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112764" y="73152"/>
            <a:ext cx="184861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95A5A6"/>
                </a:solidFill>
                <a:latin typeface="Helvetica Neue"/>
              </a:rPr>
              <a:t>04 · CAPACITY &amp; PORTFOLIO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997952" y="73152"/>
            <a:ext cx="1848612" cy="201168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997952" y="73152"/>
            <a:ext cx="184861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95A5A6"/>
                </a:solidFill>
                <a:latin typeface="Helvetica Neue"/>
              </a:rPr>
              <a:t>05 · PAIN POINTS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883140" y="73152"/>
            <a:ext cx="1848612" cy="201168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883140" y="73152"/>
            <a:ext cx="184861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95A5A6"/>
                </a:solidFill>
                <a:latin typeface="Helvetica Neue"/>
              </a:rPr>
              <a:t>06 · INSIGHTS &amp; TOM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455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F1C50"/>
                </a:solidFill>
                <a:latin typeface="Helvetica Neue"/>
              </a:rPr>
              <a:t>SAP serves 7+ business OPCOs through heterogeneous channels — BRS is the backbone, but every other OPCO has its own entry point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274552" cy="13716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11274552" cy="365760"/>
          </a:xfrm>
          <a:prstGeom prst="rect">
            <a:avLst/>
          </a:prstGeom>
          <a:solidFill>
            <a:srgbClr val="0F1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280160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Helvetica Neue"/>
              </a:rPr>
              <a:t>OPCO / AREA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87168" y="128016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Helvetica Neue"/>
              </a:rPr>
              <a:t>PRIMARY CHANNEL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56048" y="128016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Helvetica Neue"/>
              </a:rPr>
              <a:t>DEMAND PATTERN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82127" y="1280160"/>
            <a:ext cx="17830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Helvetica Neue"/>
              </a:rPr>
              <a:t>CADENCE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65207" y="1280160"/>
            <a:ext cx="217627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Helvetica Neue"/>
              </a:rPr>
              <a:t>WHO PRIORITIZES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682495"/>
            <a:ext cx="11274552" cy="530352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682495"/>
            <a:ext cx="73152" cy="530352"/>
          </a:xfrm>
          <a:prstGeom prst="rect">
            <a:avLst/>
          </a:prstGeom>
          <a:solidFill>
            <a:srgbClr val="6785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" y="1682495"/>
            <a:ext cx="1755648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785C1"/>
                </a:solidFill>
                <a:latin typeface="Helvetica Neue"/>
              </a:rPr>
              <a:t>BRS — CMP / NY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87168" y="1682495"/>
            <a:ext cx="2359152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BSS log → Jira (intake, all level 2)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56048" y="1682495"/>
            <a:ext cx="2816352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2C3E50"/>
                </a:solidFill>
                <a:latin typeface="Helvetica Neue"/>
              </a:rPr>
              <a:t>Low-to-critical criteria set by Business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82127" y="1682495"/>
            <a:ext cx="1673352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785C1"/>
                </a:solidFill>
                <a:latin typeface="Helvetica Neue"/>
              </a:rPr>
              <a:t>Continuous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65207" y="1682495"/>
            <a:ext cx="2066543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Business shares priority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212848"/>
            <a:ext cx="11274552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2212848"/>
            <a:ext cx="73152" cy="530352"/>
          </a:xfrm>
          <a:prstGeom prst="rect">
            <a:avLst/>
          </a:prstGeom>
          <a:solidFill>
            <a:srgbClr val="6785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" y="2212848"/>
            <a:ext cx="1755648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785C1"/>
                </a:solidFill>
                <a:latin typeface="Helvetica Neue"/>
              </a:rPr>
              <a:t>BRS — UIL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87168" y="2212848"/>
            <a:ext cx="2359152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ITNow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56048" y="2212848"/>
            <a:ext cx="2816352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2C3E50"/>
                </a:solidFill>
                <a:latin typeface="Helvetica Neue"/>
              </a:rPr>
              <a:t>Day-to-day issues specific to UIL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82127" y="2212848"/>
            <a:ext cx="1673352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785C1"/>
                </a:solidFill>
                <a:latin typeface="Helvetica Neue"/>
              </a:rPr>
              <a:t>Continuous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65207" y="2212848"/>
            <a:ext cx="2066543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Business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2743200"/>
            <a:ext cx="11274552" cy="530352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2743200"/>
            <a:ext cx="73152" cy="530352"/>
          </a:xfrm>
          <a:prstGeom prst="rect">
            <a:avLst/>
          </a:prstGeom>
          <a:solidFill>
            <a:srgbClr val="0F1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" y="2743200"/>
            <a:ext cx="1755648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F1C50"/>
                </a:solidFill>
                <a:latin typeface="Helvetica Neue"/>
              </a:rPr>
              <a:t>Digital CoE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87168" y="2743200"/>
            <a:ext cx="2359152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Digital PMs (SAP functionals from CS Director's team)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56048" y="2743200"/>
            <a:ext cx="2816352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2C3E50"/>
                </a:solidFill>
                <a:latin typeface="Helvetica Neue"/>
              </a:rPr>
              <a:t>30% BRS · 70% Internal IT · Big Room Planning visibility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82127" y="2743200"/>
            <a:ext cx="1673352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785C1"/>
                </a:solidFill>
                <a:latin typeface="Helvetica Neue"/>
              </a:rPr>
              <a:t>Quarterly BRP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65207" y="2743200"/>
            <a:ext cx="2066543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Heather (first layer)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3273552"/>
            <a:ext cx="11274552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57200" y="3273552"/>
            <a:ext cx="73152" cy="530352"/>
          </a:xfrm>
          <a:prstGeom prst="rect">
            <a:avLst/>
          </a:prstGeom>
          <a:solidFill>
            <a:srgbClr val="BC4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1792" y="3273552"/>
            <a:ext cx="1755648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BC4328"/>
                </a:solidFill>
                <a:latin typeface="Helvetica Neue"/>
              </a:rPr>
              <a:t>Data &amp; Analytics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487168" y="3273552"/>
            <a:ext cx="2359152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Direct to team (Abdulah · Meenal · Nelly)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56048" y="3273552"/>
            <a:ext cx="2816352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2C3E50"/>
                </a:solidFill>
                <a:latin typeface="Helvetica Neue"/>
              </a:rPr>
              <a:t>"I need it yesterday" · regulatory-heavy · no formal specs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82127" y="3273552"/>
            <a:ext cx="1673352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785C1"/>
                </a:solidFill>
                <a:latin typeface="Helvetica Neue"/>
              </a:rPr>
              <a:t>Bi-weekly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65207" y="3273552"/>
            <a:ext cx="2066543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BC4328"/>
                </a:solidFill>
                <a:latin typeface="Helvetica Neue"/>
              </a:rPr>
              <a:t>No formal gate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3803904"/>
            <a:ext cx="11274552" cy="530352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57200" y="3803904"/>
            <a:ext cx="73152" cy="530352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1792" y="3803904"/>
            <a:ext cx="1755648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E7D32"/>
                </a:solidFill>
                <a:latin typeface="Helvetica Neue"/>
              </a:rPr>
              <a:t>Infrastructure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487168" y="3803904"/>
            <a:ext cx="2359152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Direct to department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956048" y="3803904"/>
            <a:ext cx="2816352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2C3E50"/>
                </a:solidFill>
                <a:latin typeface="Helvetica Neue"/>
              </a:rPr>
              <a:t>Major maintenance · upgrades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882127" y="3803904"/>
            <a:ext cx="1673352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785C1"/>
                </a:solidFill>
                <a:latin typeface="Helvetica Neue"/>
              </a:rPr>
              <a:t>Weekly  (Sundays)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65207" y="3803904"/>
            <a:ext cx="2066543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Infrastructure Leaders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" y="4334256"/>
            <a:ext cx="11274552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57200" y="4334256"/>
            <a:ext cx="73152" cy="530352"/>
          </a:xfrm>
          <a:prstGeom prst="rect">
            <a:avLst/>
          </a:prstGeom>
          <a:solidFill>
            <a:srgbClr val="BC4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21792" y="4334256"/>
            <a:ext cx="1755648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BC4328"/>
                </a:solidFill>
                <a:latin typeface="Helvetica Neue"/>
              </a:rPr>
              <a:t>Regulatory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487168" y="4334256"/>
            <a:ext cx="2359152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Managers direct · Travis PMs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956048" y="4334256"/>
            <a:ext cx="2816352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1">
                <a:solidFill>
                  <a:srgbClr val="BC4328"/>
                </a:solidFill>
                <a:latin typeface="Helvetica Neue"/>
              </a:rPr>
              <a:t>URGENCY #1 — overrides everything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882127" y="4334256"/>
            <a:ext cx="1673352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785C1"/>
                </a:solidFill>
                <a:latin typeface="Helvetica Neue"/>
              </a:rPr>
              <a:t>Ad-hoc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665207" y="4334256"/>
            <a:ext cx="2066543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BC4328"/>
                </a:solidFill>
                <a:latin typeface="Helvetica Neue"/>
              </a:rPr>
              <a:t>Auto-priority by label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57200" y="4864608"/>
            <a:ext cx="11274552" cy="530352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57200" y="4864608"/>
            <a:ext cx="73152" cy="530352"/>
          </a:xfrm>
          <a:prstGeom prst="rect">
            <a:avLst/>
          </a:prstGeom>
          <a:solidFill>
            <a:srgbClr val="95A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21792" y="4864608"/>
            <a:ext cx="1755648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5A5A6"/>
                </a:solidFill>
                <a:latin typeface="Helvetica Neue"/>
              </a:rPr>
              <a:t>Procurement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487168" y="4864608"/>
            <a:ext cx="2359152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Procurement liaison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956048" y="4864608"/>
            <a:ext cx="2816352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2C3E50"/>
                </a:solidFill>
                <a:latin typeface="Helvetica Neue"/>
              </a:rPr>
              <a:t>License renewal · new vendor · ERP fixes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882127" y="4864608"/>
            <a:ext cx="1673352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785C1"/>
                </a:solidFill>
                <a:latin typeface="Helvetica Neue"/>
              </a:rPr>
              <a:t>Monthly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665207" y="4864608"/>
            <a:ext cx="2066543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Procurement + IT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57200" y="5394960"/>
            <a:ext cx="11274552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57200" y="5394960"/>
            <a:ext cx="73152" cy="530352"/>
          </a:xfrm>
          <a:prstGeom prst="rect">
            <a:avLst/>
          </a:prstGeom>
          <a:solidFill>
            <a:srgbClr val="F9A8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21792" y="5394960"/>
            <a:ext cx="1755648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9A825"/>
                </a:solidFill>
                <a:latin typeface="Helvetica Neue"/>
              </a:rPr>
              <a:t>OT  (Op. Technology)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487168" y="5394960"/>
            <a:ext cx="2359152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Own model · sometimes Jira tickets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956048" y="5394960"/>
            <a:ext cx="2816352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2C3E50"/>
                </a:solidFill>
                <a:latin typeface="Helvetica Neue"/>
              </a:rPr>
              <a:t>Metering-specific · per-OPCO variance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882127" y="5394960"/>
            <a:ext cx="1673352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785C1"/>
                </a:solidFill>
                <a:latin typeface="Helvetica Neue"/>
              </a:rPr>
              <a:t>Annual planning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665207" y="5394960"/>
            <a:ext cx="2066543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BC4328"/>
                </a:solidFill>
                <a:latin typeface="Helvetica Neue"/>
              </a:rPr>
              <a:t>No standard governance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57200" y="5989320"/>
            <a:ext cx="11274552" cy="502920"/>
          </a:xfrm>
          <a:prstGeom prst="rect">
            <a:avLst/>
          </a:prstGeom>
          <a:solidFill>
            <a:srgbClr val="BC4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85800" y="6035040"/>
            <a:ext cx="10817352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Helvetica Neue"/>
              </a:rPr>
              <a:t>Eight distinct intake paths feed SAP — BRS is the only formalized channel; Regulatory auto-prioritizes; OT and Data &amp; Analytics run outside the standard process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144000" y="6565392"/>
            <a:ext cx="258775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5A5A6"/>
                </a:solidFill>
                <a:latin typeface="Helvetica Neue"/>
              </a:rPr>
              <a:t>SAP Demand from OPCOs  |  10 / 28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457200" y="73152"/>
            <a:ext cx="1848612" cy="201168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57200" y="73152"/>
            <a:ext cx="184861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95A5A6"/>
                </a:solidFill>
                <a:latin typeface="Helvetica Neue"/>
              </a:rPr>
              <a:t>01 · EXECUTIVE SUMMARY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2342388" y="73152"/>
            <a:ext cx="1848612" cy="201168"/>
          </a:xfrm>
          <a:prstGeom prst="roundRect">
            <a:avLst/>
          </a:prstGeom>
          <a:solidFill>
            <a:srgbClr val="0F1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2342388" y="73152"/>
            <a:ext cx="184861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FFFFFF"/>
                </a:solidFill>
                <a:latin typeface="Helvetica Neue"/>
              </a:rPr>
              <a:t>02 · ORGANIZATION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4227576" y="73152"/>
            <a:ext cx="1848612" cy="201168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227576" y="73152"/>
            <a:ext cx="184861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95A5A6"/>
                </a:solidFill>
                <a:latin typeface="Helvetica Neue"/>
              </a:rPr>
              <a:t>03 · DEMAND FLOW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6112764" y="73152"/>
            <a:ext cx="1848612" cy="201168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112764" y="73152"/>
            <a:ext cx="184861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95A5A6"/>
                </a:solidFill>
                <a:latin typeface="Helvetica Neue"/>
              </a:rPr>
              <a:t>04 · CAPACITY &amp; PORTFOLIO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7997952" y="73152"/>
            <a:ext cx="1848612" cy="201168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7997952" y="73152"/>
            <a:ext cx="184861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95A5A6"/>
                </a:solidFill>
                <a:latin typeface="Helvetica Neue"/>
              </a:rPr>
              <a:t>05 · PAIN POINTS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9883140" y="73152"/>
            <a:ext cx="1848612" cy="201168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9883140" y="73152"/>
            <a:ext cx="184861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95A5A6"/>
                </a:solidFill>
                <a:latin typeface="Helvetica Neue"/>
              </a:rPr>
              <a:t>06 · INSIGHTS &amp; TOM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455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F1C50"/>
                </a:solidFill>
                <a:latin typeface="Helvetica Neue"/>
              </a:rPr>
              <a:t>Across both director branches, Digital Products runs 6+ disconnected intake channels — no two teams share the same demand 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274552" cy="13716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6785C1"/>
                </a:solidFill>
                <a:latin typeface="Helvetica Neue"/>
              </a:rPr>
              <a:t>APPLICATIONS — Director IT Business Applications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1645920" y="1417320"/>
            <a:ext cx="1645920" cy="502920"/>
          </a:xfrm>
          <a:prstGeom prst="rect">
            <a:avLst/>
          </a:prstGeom>
          <a:solidFill>
            <a:srgbClr val="BC4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0" y="1444752"/>
            <a:ext cx="16459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Helvetica Neue"/>
              </a:rPr>
              <a:t>SOURCE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673352"/>
            <a:ext cx="1645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FFFFFF"/>
                </a:solidFill>
                <a:latin typeface="Helvetica Neue"/>
              </a:rPr>
              <a:t>Who sends the demand</a:t>
            </a:r>
          </a:p>
        </p:txBody>
      </p:sp>
      <p:sp>
        <p:nvSpPr>
          <p:cNvPr id="8" name="Rectangle 7"/>
          <p:cNvSpPr/>
          <p:nvPr/>
        </p:nvSpPr>
        <p:spPr>
          <a:xfrm>
            <a:off x="3337560" y="1417320"/>
            <a:ext cx="1554480" cy="502920"/>
          </a:xfrm>
          <a:prstGeom prst="rect">
            <a:avLst/>
          </a:prstGeom>
          <a:solidFill>
            <a:srgbClr val="BC4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37560" y="1444752"/>
            <a:ext cx="15544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Helvetica Neue"/>
              </a:rPr>
              <a:t>TYPES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37560" y="1673352"/>
            <a:ext cx="1554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FFFFFF"/>
                </a:solidFill>
                <a:latin typeface="Helvetica Neue"/>
              </a:rPr>
              <a:t>What kind of demand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937759" y="1417320"/>
            <a:ext cx="1358798" cy="502920"/>
          </a:xfrm>
          <a:prstGeom prst="rect">
            <a:avLst/>
          </a:prstGeom>
          <a:solidFill>
            <a:srgbClr val="0F1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37759" y="1444752"/>
            <a:ext cx="1358798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Helvetica Neue"/>
              </a:rPr>
              <a:t>01 INTAKE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59" y="1673352"/>
            <a:ext cx="135879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FFFFFF"/>
                </a:solidFill>
                <a:latin typeface="Helvetica Neue"/>
              </a:rPr>
              <a:t>Channels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42278" y="1417320"/>
            <a:ext cx="1358798" cy="502920"/>
          </a:xfrm>
          <a:prstGeom prst="rect">
            <a:avLst/>
          </a:prstGeom>
          <a:solidFill>
            <a:srgbClr val="0F1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42278" y="1444752"/>
            <a:ext cx="1358798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Helvetica Neue"/>
              </a:rPr>
              <a:t>02 CLASSIFICATION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2278" y="1673352"/>
            <a:ext cx="135879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FFFFFF"/>
                </a:solidFill>
                <a:latin typeface="Helvetica Neue"/>
              </a:rPr>
              <a:t>Type, Size, Urgency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46796" y="1417320"/>
            <a:ext cx="1358798" cy="502920"/>
          </a:xfrm>
          <a:prstGeom prst="rect">
            <a:avLst/>
          </a:prstGeom>
          <a:solidFill>
            <a:srgbClr val="0F1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46796" y="1444752"/>
            <a:ext cx="1358798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Helvetica Neue"/>
              </a:rPr>
              <a:t>03 PRIORITIZATION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46796" y="1673352"/>
            <a:ext cx="135879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FFFFFF"/>
                </a:solidFill>
                <a:latin typeface="Helvetica Neue"/>
              </a:rPr>
              <a:t>Scoring &amp; Criteria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51315" y="1417320"/>
            <a:ext cx="1358798" cy="502920"/>
          </a:xfrm>
          <a:prstGeom prst="rect">
            <a:avLst/>
          </a:prstGeom>
          <a:solidFill>
            <a:srgbClr val="0F1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51315" y="1444752"/>
            <a:ext cx="1358798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Helvetica Neue"/>
              </a:rPr>
              <a:t>04 PORTFOLIO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51315" y="1673352"/>
            <a:ext cx="135879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FFFFFF"/>
                </a:solidFill>
                <a:latin typeface="Helvetica Neue"/>
              </a:rPr>
              <a:t>Governance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555833" y="1417320"/>
            <a:ext cx="1358798" cy="502920"/>
          </a:xfrm>
          <a:prstGeom prst="rect">
            <a:avLst/>
          </a:prstGeom>
          <a:solidFill>
            <a:srgbClr val="0F1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55833" y="1444752"/>
            <a:ext cx="1358798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Helvetica Neue"/>
              </a:rPr>
              <a:t>05 DELIVERY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55833" y="1673352"/>
            <a:ext cx="135879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FFFFFF"/>
                </a:solidFill>
                <a:latin typeface="Helvetica Neue"/>
              </a:rPr>
              <a:t>Execution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1965960"/>
            <a:ext cx="1143000" cy="548640"/>
          </a:xfrm>
          <a:prstGeom prst="rect">
            <a:avLst/>
          </a:prstGeom>
          <a:solidFill>
            <a:srgbClr val="6785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1965960"/>
            <a:ext cx="1143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Helvetica Neue"/>
              </a:rPr>
              <a:t>GIS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645920" y="1965960"/>
            <a:ext cx="1645920" cy="54864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719072" y="2002536"/>
            <a:ext cx="1499616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1">
                <a:solidFill>
                  <a:srgbClr val="2C3E50"/>
                </a:solidFill>
                <a:latin typeface="Helvetica Neue"/>
              </a:rPr>
              <a:t>E&amp;G Ops · T&amp;D · Asset Mgmt · Planning · OSG · Compliance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337560" y="1965960"/>
            <a:ext cx="1554480" cy="54864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410712" y="2002536"/>
            <a:ext cx="1408176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0F1C50"/>
                </a:solidFill>
                <a:latin typeface="Helvetica Neue"/>
              </a:rPr>
              <a:t>Break/fix · Small · Large (PDD)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937759" y="1965960"/>
            <a:ext cx="1358798" cy="54864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992623" y="2039112"/>
            <a:ext cx="128016" cy="128016"/>
          </a:xfrm>
          <a:prstGeom prst="rect">
            <a:avLst/>
          </a:prstGeom>
          <a:solidFill>
            <a:srgbClr val="F9A8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166359" y="2011679"/>
            <a:ext cx="108447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C3E50"/>
                </a:solidFill>
                <a:latin typeface="Helvetica Neue"/>
              </a:rPr>
              <a:t>Jira + Email + Mtgs + IT-Now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42278" y="1965960"/>
            <a:ext cx="1358798" cy="54864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397142" y="2039112"/>
            <a:ext cx="128016" cy="128016"/>
          </a:xfrm>
          <a:prstGeom prst="rect">
            <a:avLst/>
          </a:prstGeom>
          <a:solidFill>
            <a:srgbClr val="F9A8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70878" y="2011679"/>
            <a:ext cx="108447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C3E50"/>
                </a:solidFill>
                <a:latin typeface="Helvetica Neue"/>
              </a:rPr>
              <a:t>Small vs. PDD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746796" y="1965960"/>
            <a:ext cx="1358798" cy="54864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801660" y="2039112"/>
            <a:ext cx="128016" cy="128016"/>
          </a:xfrm>
          <a:prstGeom prst="rect">
            <a:avLst/>
          </a:prstGeom>
          <a:solidFill>
            <a:srgbClr val="F9A8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975396" y="2011679"/>
            <a:ext cx="108447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C3E50"/>
                </a:solidFill>
                <a:latin typeface="Helvetica Neue"/>
              </a:rPr>
              <a:t>Business drives; P&amp;T face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51315" y="1965960"/>
            <a:ext cx="1358798" cy="54864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206179" y="2039112"/>
            <a:ext cx="128016" cy="128016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79915" y="2011679"/>
            <a:ext cx="108447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C3E50"/>
                </a:solidFill>
                <a:latin typeface="Helvetica Neue"/>
              </a:rPr>
              <a:t>PDD approval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555833" y="1965960"/>
            <a:ext cx="1358798" cy="54864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0610697" y="2039112"/>
            <a:ext cx="128016" cy="128016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784433" y="2011679"/>
            <a:ext cx="108447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C3E50"/>
                </a:solidFill>
                <a:latin typeface="Helvetica Neue"/>
              </a:rPr>
              <a:t>Internal + SWF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7200" y="2569464"/>
            <a:ext cx="1143000" cy="548640"/>
          </a:xfrm>
          <a:prstGeom prst="rect">
            <a:avLst/>
          </a:prstGeom>
          <a:solidFill>
            <a:srgbClr val="6785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7200" y="2569464"/>
            <a:ext cx="1143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Helvetica Neue"/>
              </a:rPr>
              <a:t>Corporate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645920" y="2569464"/>
            <a:ext cx="1645920" cy="54864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719072" y="2606040"/>
            <a:ext cx="1499616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1">
                <a:solidFill>
                  <a:srgbClr val="2C3E50"/>
                </a:solidFill>
                <a:latin typeface="Helvetica Neue"/>
              </a:rPr>
              <a:t>Finance · HR · Procurement · Legal · Training · Regulatory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337560" y="2569464"/>
            <a:ext cx="1554480" cy="54864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410712" y="2606040"/>
            <a:ext cx="1408176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0F1C50"/>
                </a:solidFill>
                <a:latin typeface="Helvetica Neue"/>
              </a:rPr>
              <a:t>Regulatory · PDDs · Small/Medium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937759" y="2569464"/>
            <a:ext cx="1358798" cy="54864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992623" y="2642616"/>
            <a:ext cx="128016" cy="128016"/>
          </a:xfrm>
          <a:prstGeom prst="rect">
            <a:avLst/>
          </a:prstGeom>
          <a:solidFill>
            <a:srgbClr val="F9A8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166359" y="2615184"/>
            <a:ext cx="108447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C3E50"/>
                </a:solidFill>
                <a:latin typeface="Helvetica Neue"/>
              </a:rPr>
              <a:t>Jira + Confluence + Word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342278" y="2569464"/>
            <a:ext cx="1358798" cy="54864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397142" y="2642616"/>
            <a:ext cx="128016" cy="128016"/>
          </a:xfrm>
          <a:prstGeom prst="rect">
            <a:avLst/>
          </a:prstGeom>
          <a:solidFill>
            <a:srgbClr val="BC4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570878" y="2615184"/>
            <a:ext cx="108447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C3E50"/>
                </a:solidFill>
                <a:latin typeface="Helvetica Neue"/>
              </a:rPr>
              <a:t>PDD driver; overlap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746796" y="2569464"/>
            <a:ext cx="1358798" cy="54864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801660" y="2642616"/>
            <a:ext cx="128016" cy="128016"/>
          </a:xfrm>
          <a:prstGeom prst="rect">
            <a:avLst/>
          </a:prstGeom>
          <a:solidFill>
            <a:srgbClr val="F9A8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975396" y="2615184"/>
            <a:ext cx="108447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C3E50"/>
                </a:solidFill>
                <a:latin typeface="Helvetica Neue"/>
              </a:rPr>
              <a:t>PDD driver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151315" y="2569464"/>
            <a:ext cx="1358798" cy="54864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9206179" y="2642616"/>
            <a:ext cx="128016" cy="128016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379915" y="2615184"/>
            <a:ext cx="108447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C3E50"/>
                </a:solidFill>
                <a:latin typeface="Helvetica Neue"/>
              </a:rPr>
              <a:t>PDD approval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0555833" y="2569464"/>
            <a:ext cx="1358798" cy="54864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10610697" y="2642616"/>
            <a:ext cx="128016" cy="128016"/>
          </a:xfrm>
          <a:prstGeom prst="rect">
            <a:avLst/>
          </a:prstGeom>
          <a:solidFill>
            <a:srgbClr val="F9A8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0784433" y="2615184"/>
            <a:ext cx="108447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C3E50"/>
                </a:solidFill>
                <a:latin typeface="Helvetica Neue"/>
              </a:rPr>
              <a:t>Internal + Vendor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57200" y="3172968"/>
            <a:ext cx="1143000" cy="548640"/>
          </a:xfrm>
          <a:prstGeom prst="rect">
            <a:avLst/>
          </a:prstGeom>
          <a:solidFill>
            <a:srgbClr val="6785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57200" y="3172968"/>
            <a:ext cx="1143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Helvetica Neue"/>
              </a:rPr>
              <a:t>G&amp;E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645920" y="3172968"/>
            <a:ext cx="1645920" cy="54864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719072" y="3209544"/>
            <a:ext cx="1499616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1">
                <a:solidFill>
                  <a:srgbClr val="2C3E50"/>
                </a:solidFill>
                <a:latin typeface="Helvetica Neue"/>
              </a:rPr>
              <a:t>T&amp;D Ops · Field Services · Vendors · Cyber &amp; Legal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337560" y="3172968"/>
            <a:ext cx="1554480" cy="54864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410712" y="3209544"/>
            <a:ext cx="1408176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0F1C50"/>
                </a:solidFill>
                <a:latin typeface="Helvetica Neue"/>
              </a:rPr>
              <a:t>Version upgrades · Ad-hoc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937759" y="3172968"/>
            <a:ext cx="1358798" cy="54864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4992623" y="3246120"/>
            <a:ext cx="128016" cy="128016"/>
          </a:xfrm>
          <a:prstGeom prst="rect">
            <a:avLst/>
          </a:prstGeom>
          <a:solidFill>
            <a:srgbClr val="BC4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166359" y="3218688"/>
            <a:ext cx="108447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C3E50"/>
                </a:solidFill>
                <a:latin typeface="Helvetica Neue"/>
              </a:rPr>
              <a:t>Email only (biz/vendor)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342278" y="3172968"/>
            <a:ext cx="1358798" cy="54864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397142" y="3246120"/>
            <a:ext cx="128016" cy="128016"/>
          </a:xfrm>
          <a:prstGeom prst="rect">
            <a:avLst/>
          </a:prstGeom>
          <a:solidFill>
            <a:srgbClr val="BC4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570878" y="3218688"/>
            <a:ext cx="108447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C3E50"/>
                </a:solidFill>
                <a:latin typeface="Helvetica Neue"/>
              </a:rPr>
              <a:t>Depends on nature</a:t>
            </a:r>
          </a:p>
        </p:txBody>
      </p:sp>
      <p:sp>
        <p:nvSpPr>
          <p:cNvPr id="80" name="Rectangle 79"/>
          <p:cNvSpPr/>
          <p:nvPr/>
        </p:nvSpPr>
        <p:spPr>
          <a:xfrm>
            <a:off x="7746796" y="3172968"/>
            <a:ext cx="1358798" cy="54864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801660" y="3246120"/>
            <a:ext cx="128016" cy="128016"/>
          </a:xfrm>
          <a:prstGeom prst="rect">
            <a:avLst/>
          </a:prstGeom>
          <a:solidFill>
            <a:srgbClr val="BC4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7975396" y="3218688"/>
            <a:ext cx="108447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C3E50"/>
                </a:solidFill>
                <a:latin typeface="Helvetica Neue"/>
              </a:rPr>
              <a:t>Operational = urgent</a:t>
            </a:r>
          </a:p>
        </p:txBody>
      </p:sp>
      <p:sp>
        <p:nvSpPr>
          <p:cNvPr id="83" name="Rectangle 82"/>
          <p:cNvSpPr/>
          <p:nvPr/>
        </p:nvSpPr>
        <p:spPr>
          <a:xfrm>
            <a:off x="9151315" y="3172968"/>
            <a:ext cx="1358798" cy="54864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9206179" y="3246120"/>
            <a:ext cx="128016" cy="128016"/>
          </a:xfrm>
          <a:prstGeom prst="rect">
            <a:avLst/>
          </a:prstGeom>
          <a:solidFill>
            <a:srgbClr val="BC4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379915" y="3218688"/>
            <a:ext cx="108447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C3E50"/>
                </a:solidFill>
                <a:latin typeface="Helvetica Neue"/>
              </a:rPr>
              <a:t>Vendor sets timeline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0555833" y="3172968"/>
            <a:ext cx="1358798" cy="54864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10610697" y="3246120"/>
            <a:ext cx="128016" cy="128016"/>
          </a:xfrm>
          <a:prstGeom prst="rect">
            <a:avLst/>
          </a:prstGeom>
          <a:solidFill>
            <a:srgbClr val="BC4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10784433" y="3218688"/>
            <a:ext cx="108447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C3E50"/>
                </a:solidFill>
                <a:latin typeface="Helvetica Neue"/>
              </a:rPr>
              <a:t>Vendor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57200" y="3776472"/>
            <a:ext cx="1143000" cy="548640"/>
          </a:xfrm>
          <a:prstGeom prst="rect">
            <a:avLst/>
          </a:prstGeom>
          <a:solidFill>
            <a:srgbClr val="6785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457200" y="3776472"/>
            <a:ext cx="1143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Helvetica Neue"/>
              </a:rPr>
              <a:t>Global SAP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Helvetica Neue"/>
              </a:rPr>
              <a:t>(Iberdrola)</a:t>
            </a:r>
          </a:p>
        </p:txBody>
      </p:sp>
      <p:sp>
        <p:nvSpPr>
          <p:cNvPr id="91" name="Rectangle 90"/>
          <p:cNvSpPr/>
          <p:nvPr/>
        </p:nvSpPr>
        <p:spPr>
          <a:xfrm>
            <a:off x="1645920" y="3776472"/>
            <a:ext cx="1645920" cy="54864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1719072" y="3813048"/>
            <a:ext cx="1499616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1">
                <a:solidFill>
                  <a:srgbClr val="2C3E50"/>
                </a:solidFill>
                <a:latin typeface="Helvetica Neue"/>
              </a:rPr>
              <a:t>Iberdrola Finance · Controlling · Procurement · Accenture</a:t>
            </a:r>
          </a:p>
        </p:txBody>
      </p:sp>
      <p:sp>
        <p:nvSpPr>
          <p:cNvPr id="93" name="Rectangle 92"/>
          <p:cNvSpPr/>
          <p:nvPr/>
        </p:nvSpPr>
        <p:spPr>
          <a:xfrm>
            <a:off x="3337560" y="3776472"/>
            <a:ext cx="1554480" cy="54864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3410712" y="3813048"/>
            <a:ext cx="1408176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0F1C50"/>
                </a:solidFill>
                <a:latin typeface="Helvetica Neue"/>
              </a:rPr>
              <a:t>Incidents · Small · Minor (RITM) · Major</a:t>
            </a:r>
          </a:p>
        </p:txBody>
      </p:sp>
      <p:sp>
        <p:nvSpPr>
          <p:cNvPr id="95" name="Rectangle 94"/>
          <p:cNvSpPr/>
          <p:nvPr/>
        </p:nvSpPr>
        <p:spPr>
          <a:xfrm>
            <a:off x="4937759" y="3776472"/>
            <a:ext cx="1358798" cy="54864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4992623" y="3849624"/>
            <a:ext cx="128016" cy="128016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5166359" y="3822191"/>
            <a:ext cx="108447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C3E50"/>
                </a:solidFill>
                <a:latin typeface="Helvetica Neue"/>
              </a:rPr>
              <a:t>IT Now + RITM + Jira + SP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342278" y="3776472"/>
            <a:ext cx="1358798" cy="54864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6397142" y="3849624"/>
            <a:ext cx="128016" cy="128016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6570878" y="3822191"/>
            <a:ext cx="108447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C3E50"/>
                </a:solidFill>
                <a:latin typeface="Helvetica Neue"/>
              </a:rPr>
              <a:t>By type (4 channels)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7746796" y="3776472"/>
            <a:ext cx="1358798" cy="54864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7801660" y="3849624"/>
            <a:ext cx="128016" cy="128016"/>
          </a:xfrm>
          <a:prstGeom prst="rect">
            <a:avLst/>
          </a:prstGeom>
          <a:solidFill>
            <a:srgbClr val="BC4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7975396" y="3822191"/>
            <a:ext cx="108447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C3E50"/>
                </a:solidFill>
                <a:latin typeface="Helvetica Neue"/>
              </a:rPr>
              <a:t>Incidents first (P&amp;T)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9151315" y="3776472"/>
            <a:ext cx="1358798" cy="54864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9206179" y="3849624"/>
            <a:ext cx="128016" cy="128016"/>
          </a:xfrm>
          <a:prstGeom prst="rect">
            <a:avLst/>
          </a:prstGeom>
          <a:solidFill>
            <a:srgbClr val="F9A8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9379915" y="3822191"/>
            <a:ext cx="108447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C3E50"/>
                </a:solidFill>
                <a:latin typeface="Helvetica Neue"/>
              </a:rPr>
              <a:t>PDD / SharePoint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10555833" y="3776472"/>
            <a:ext cx="1358798" cy="54864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10610697" y="3849624"/>
            <a:ext cx="128016" cy="128016"/>
          </a:xfrm>
          <a:prstGeom prst="rect">
            <a:avLst/>
          </a:prstGeom>
          <a:solidFill>
            <a:srgbClr val="F9A8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10784433" y="3822191"/>
            <a:ext cx="108447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C3E50"/>
                </a:solidFill>
                <a:latin typeface="Helvetica Neue"/>
              </a:rPr>
              <a:t>Accenture + SWF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57200" y="4379976"/>
            <a:ext cx="11274552" cy="36576"/>
          </a:xfrm>
          <a:prstGeom prst="rect">
            <a:avLst/>
          </a:prstGeom>
          <a:solidFill>
            <a:srgbClr val="BC4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457200" y="4434840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0F1C50"/>
                </a:solidFill>
                <a:latin typeface="Helvetica Neue"/>
              </a:rPr>
              <a:t>CUSTOMER SERVICES / SAP — Director Customer Services Apps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457200" y="4636008"/>
            <a:ext cx="1143000" cy="548640"/>
          </a:xfrm>
          <a:prstGeom prst="rect">
            <a:avLst/>
          </a:prstGeom>
          <a:solidFill>
            <a:srgbClr val="0F1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457200" y="4636008"/>
            <a:ext cx="1143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Helvetica Neue"/>
              </a:rPr>
              <a:t>Smart Metering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Helvetica Neue"/>
              </a:rPr>
              <a:t>(Device &amp; Metering)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1645920" y="4636008"/>
            <a:ext cx="1645920" cy="54864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1719072" y="4672584"/>
            <a:ext cx="1499616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1">
                <a:solidFill>
                  <a:srgbClr val="2C3E50"/>
                </a:solidFill>
                <a:latin typeface="Helvetica Neue"/>
              </a:rPr>
              <a:t>Customer Ops · Field Services · Billing · BRS · Vendors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3337560" y="4636008"/>
            <a:ext cx="1554480" cy="54864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3410712" y="4672584"/>
            <a:ext cx="1408176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0F1C50"/>
                </a:solidFill>
                <a:latin typeface="Helvetica Neue"/>
              </a:rPr>
              <a:t>Incidents · Large · Small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4937759" y="4636008"/>
            <a:ext cx="1358798" cy="54864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4992623" y="4709160"/>
            <a:ext cx="128016" cy="128016"/>
          </a:xfrm>
          <a:prstGeom prst="rect">
            <a:avLst/>
          </a:prstGeom>
          <a:solidFill>
            <a:srgbClr val="F9A8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5166359" y="4681728"/>
            <a:ext cx="108447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C3E50"/>
                </a:solidFill>
                <a:latin typeface="Helvetica Neue"/>
              </a:rPr>
              <a:t>Email (IT Now)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6342278" y="4636008"/>
            <a:ext cx="1358798" cy="54864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6397142" y="4709160"/>
            <a:ext cx="128016" cy="128016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6570878" y="4681728"/>
            <a:ext cx="108447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C3E50"/>
                </a:solidFill>
                <a:latin typeface="Helvetica Neue"/>
              </a:rPr>
              <a:t>IT Now template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7746796" y="4636008"/>
            <a:ext cx="1358798" cy="54864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7801660" y="4709160"/>
            <a:ext cx="128016" cy="128016"/>
          </a:xfrm>
          <a:prstGeom prst="rect">
            <a:avLst/>
          </a:prstGeom>
          <a:solidFill>
            <a:srgbClr val="F9A8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7975396" y="4681728"/>
            <a:ext cx="108447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C3E50"/>
                </a:solidFill>
                <a:latin typeface="Helvetica Neue"/>
              </a:rPr>
              <a:t>Criticality + deadline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9151315" y="4636008"/>
            <a:ext cx="1358798" cy="54864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9206179" y="4709160"/>
            <a:ext cx="128016" cy="128016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9379915" y="4681728"/>
            <a:ext cx="108447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C3E50"/>
                </a:solidFill>
                <a:latin typeface="Helvetica Neue"/>
              </a:rPr>
              <a:t>PPM Now + weekly mtg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10555833" y="4636008"/>
            <a:ext cx="1358798" cy="54864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10610697" y="4709160"/>
            <a:ext cx="128016" cy="128016"/>
          </a:xfrm>
          <a:prstGeom prst="rect">
            <a:avLst/>
          </a:prstGeom>
          <a:solidFill>
            <a:srgbClr val="BC4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10784433" y="4681728"/>
            <a:ext cx="108447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C3E50"/>
                </a:solidFill>
                <a:latin typeface="Helvetica Neue"/>
              </a:rPr>
              <a:t>Vendor (100%)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457200" y="5239512"/>
            <a:ext cx="1143000" cy="548640"/>
          </a:xfrm>
          <a:prstGeom prst="rect">
            <a:avLst/>
          </a:prstGeom>
          <a:solidFill>
            <a:srgbClr val="0F1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457200" y="5239512"/>
            <a:ext cx="1143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Helvetica Neue"/>
              </a:rPr>
              <a:t>Customer Services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Helvetica Neue"/>
              </a:rPr>
              <a:t>(4 teams TBC)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1645920" y="5239512"/>
            <a:ext cx="1645920" cy="54864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1719072" y="5276088"/>
            <a:ext cx="1499616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1">
                <a:solidFill>
                  <a:srgbClr val="2C3E50"/>
                </a:solidFill>
                <a:latin typeface="Helvetica Neue"/>
              </a:rPr>
              <a:t>7 OPCOs via BRS · Travis PMO · Business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3337560" y="5239512"/>
            <a:ext cx="1554480" cy="54864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3410712" y="5276088"/>
            <a:ext cx="1408176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0F1C50"/>
                </a:solidFill>
                <a:latin typeface="Helvetica Neue"/>
              </a:rPr>
              <a:t>Regulatory · Large · Small/Medium · IT-funded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4937759" y="5239512"/>
            <a:ext cx="1358798" cy="54864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4992623" y="5312664"/>
            <a:ext cx="128016" cy="128016"/>
          </a:xfrm>
          <a:prstGeom prst="rect">
            <a:avLst/>
          </a:prstGeom>
          <a:solidFill>
            <a:srgbClr val="BC4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5166359" y="5285232"/>
            <a:ext cx="108447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C3E50"/>
                </a:solidFill>
                <a:latin typeface="Helvetica Neue"/>
              </a:rPr>
              <a:t>Director-level only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6342278" y="5239512"/>
            <a:ext cx="1358798" cy="54864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6397142" y="5312664"/>
            <a:ext cx="128016" cy="128016"/>
          </a:xfrm>
          <a:prstGeom prst="rect">
            <a:avLst/>
          </a:prstGeom>
          <a:solidFill>
            <a:srgbClr val="F9A8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6570878" y="5285232"/>
            <a:ext cx="108447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C3E50"/>
                </a:solidFill>
                <a:latin typeface="Helvetica Neue"/>
              </a:rPr>
              <a:t>Travis / BRS / IT-funded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7746796" y="5239512"/>
            <a:ext cx="1358798" cy="54864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7801660" y="5312664"/>
            <a:ext cx="128016" cy="128016"/>
          </a:xfrm>
          <a:prstGeom prst="rect">
            <a:avLst/>
          </a:prstGeom>
          <a:solidFill>
            <a:srgbClr val="BC4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7975396" y="5285232"/>
            <a:ext cx="108447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C3E50"/>
                </a:solidFill>
                <a:latin typeface="Helvetica Neue"/>
              </a:rPr>
              <a:t>"Intrinsic common sense"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9151315" y="5239512"/>
            <a:ext cx="1358798" cy="54864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9206179" y="5312664"/>
            <a:ext cx="128016" cy="128016"/>
          </a:xfrm>
          <a:prstGeom prst="rect">
            <a:avLst/>
          </a:prstGeom>
          <a:solidFill>
            <a:srgbClr val="BC4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9379915" y="5285232"/>
            <a:ext cx="108447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C3E50"/>
                </a:solidFill>
                <a:latin typeface="Helvetica Neue"/>
              </a:rPr>
              <a:t>No branch tool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10555833" y="5239512"/>
            <a:ext cx="1358798" cy="54864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10610697" y="5312664"/>
            <a:ext cx="128016" cy="128016"/>
          </a:xfrm>
          <a:prstGeom prst="rect">
            <a:avLst/>
          </a:prstGeom>
          <a:solidFill>
            <a:srgbClr val="F9A8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10784433" y="5285232"/>
            <a:ext cx="108447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C3E50"/>
                </a:solidFill>
                <a:latin typeface="Helvetica Neue"/>
              </a:rPr>
              <a:t>SWF + Accenture + Vendors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457200" y="5989320"/>
            <a:ext cx="11274552" cy="502920"/>
          </a:xfrm>
          <a:prstGeom prst="rect">
            <a:avLst/>
          </a:prstGeom>
          <a:solidFill>
            <a:srgbClr val="BC4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685800" y="6035040"/>
            <a:ext cx="10817352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Helvetica Neue"/>
              </a:rPr>
              <a:t>Zero standardization across units: 6 different sources, 6 intake models, 6 prioritization logics, only 1 area uses a portfolio tool — fragmentation is structural, not local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9144000" y="6565392"/>
            <a:ext cx="258775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5A5A6"/>
                </a:solidFill>
                <a:latin typeface="Helvetica Neue"/>
              </a:rPr>
              <a:t>AS-IS Master Demand Map  |  11 / 28</a:t>
            </a:r>
          </a:p>
        </p:txBody>
      </p:sp>
      <p:sp>
        <p:nvSpPr>
          <p:cNvPr id="157" name="Rounded Rectangle 156"/>
          <p:cNvSpPr/>
          <p:nvPr/>
        </p:nvSpPr>
        <p:spPr>
          <a:xfrm>
            <a:off x="457200" y="73152"/>
            <a:ext cx="1848612" cy="201168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457200" y="73152"/>
            <a:ext cx="184861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95A5A6"/>
                </a:solidFill>
                <a:latin typeface="Helvetica Neue"/>
              </a:rPr>
              <a:t>01 · EXECUTIVE SUMMARY</a:t>
            </a:r>
          </a:p>
        </p:txBody>
      </p:sp>
      <p:sp>
        <p:nvSpPr>
          <p:cNvPr id="159" name="Rounded Rectangle 158"/>
          <p:cNvSpPr/>
          <p:nvPr/>
        </p:nvSpPr>
        <p:spPr>
          <a:xfrm>
            <a:off x="2342388" y="73152"/>
            <a:ext cx="1848612" cy="201168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2342388" y="73152"/>
            <a:ext cx="184861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95A5A6"/>
                </a:solidFill>
                <a:latin typeface="Helvetica Neue"/>
              </a:rPr>
              <a:t>02 · ORGANIZATION</a:t>
            </a:r>
          </a:p>
        </p:txBody>
      </p:sp>
      <p:sp>
        <p:nvSpPr>
          <p:cNvPr id="161" name="Rounded Rectangle 160"/>
          <p:cNvSpPr/>
          <p:nvPr/>
        </p:nvSpPr>
        <p:spPr>
          <a:xfrm>
            <a:off x="4227576" y="73152"/>
            <a:ext cx="1848612" cy="201168"/>
          </a:xfrm>
          <a:prstGeom prst="roundRect">
            <a:avLst/>
          </a:prstGeom>
          <a:solidFill>
            <a:srgbClr val="0F1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4227576" y="73152"/>
            <a:ext cx="184861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FFFFFF"/>
                </a:solidFill>
                <a:latin typeface="Helvetica Neue"/>
              </a:rPr>
              <a:t>03 · DEMAND FLOW</a:t>
            </a:r>
          </a:p>
        </p:txBody>
      </p:sp>
      <p:sp>
        <p:nvSpPr>
          <p:cNvPr id="163" name="Rounded Rectangle 162"/>
          <p:cNvSpPr/>
          <p:nvPr/>
        </p:nvSpPr>
        <p:spPr>
          <a:xfrm>
            <a:off x="6112764" y="73152"/>
            <a:ext cx="1848612" cy="201168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6112764" y="73152"/>
            <a:ext cx="184861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95A5A6"/>
                </a:solidFill>
                <a:latin typeface="Helvetica Neue"/>
              </a:rPr>
              <a:t>04 · CAPACITY &amp; PORTFOLIO</a:t>
            </a:r>
          </a:p>
        </p:txBody>
      </p:sp>
      <p:sp>
        <p:nvSpPr>
          <p:cNvPr id="165" name="Rounded Rectangle 164"/>
          <p:cNvSpPr/>
          <p:nvPr/>
        </p:nvSpPr>
        <p:spPr>
          <a:xfrm>
            <a:off x="7997952" y="73152"/>
            <a:ext cx="1848612" cy="201168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7997952" y="73152"/>
            <a:ext cx="184861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95A5A6"/>
                </a:solidFill>
                <a:latin typeface="Helvetica Neue"/>
              </a:rPr>
              <a:t>05 · PAIN POINTS</a:t>
            </a:r>
          </a:p>
        </p:txBody>
      </p:sp>
      <p:sp>
        <p:nvSpPr>
          <p:cNvPr id="167" name="Rounded Rectangle 166"/>
          <p:cNvSpPr/>
          <p:nvPr/>
        </p:nvSpPr>
        <p:spPr>
          <a:xfrm>
            <a:off x="9883140" y="73152"/>
            <a:ext cx="1848612" cy="201168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9883140" y="73152"/>
            <a:ext cx="184861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95A5A6"/>
                </a:solidFill>
                <a:latin typeface="Helvetica Neue"/>
              </a:rPr>
              <a:t>06 · INSIGHTS &amp; TOM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455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F1C50"/>
                </a:solidFill>
                <a:latin typeface="Helvetica Neue"/>
              </a:rPr>
              <a:t>Eight platforms circulate between the two branches with near-zero overlap — the toolchain is fragmented by team, not by purpose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274552" cy="13716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577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785C1"/>
                </a:solidFill>
                <a:latin typeface="Helvetica Neue"/>
              </a:rPr>
              <a:t>APPLICATIONS BRANCH — Director IT Business Applications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737360"/>
            <a:ext cx="73152" cy="438912"/>
          </a:xfrm>
          <a:prstGeom prst="rect">
            <a:avLst/>
          </a:prstGeom>
          <a:solidFill>
            <a:srgbClr val="6785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1737360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F1C50"/>
                </a:solidFill>
                <a:latin typeface="Helvetica Neue"/>
              </a:rPr>
              <a:t>Jira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96596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C3E50"/>
                </a:solidFill>
                <a:latin typeface="Helvetica Neue"/>
              </a:rPr>
              <a:t>Small demand + improvements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14600" y="173736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1">
                <a:solidFill>
                  <a:srgbClr val="6785C1"/>
                </a:solidFill>
                <a:latin typeface="Helvetica Neue"/>
              </a:rPr>
              <a:t>GIS, Corporate, Global SAP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0" y="1828800"/>
            <a:ext cx="914400" cy="274320"/>
          </a:xfrm>
          <a:prstGeom prst="roundRect">
            <a:avLst/>
          </a:prstGeom>
          <a:solidFill>
            <a:srgbClr val="6785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0" y="1828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FFFFFF"/>
                </a:solidFill>
                <a:latin typeface="Helvetica Neue"/>
              </a:rPr>
              <a:t>PRIMARY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221991"/>
            <a:ext cx="73152" cy="438912"/>
          </a:xfrm>
          <a:prstGeom prst="rect">
            <a:avLst/>
          </a:prstGeom>
          <a:solidFill>
            <a:srgbClr val="6785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" y="2221991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F1C50"/>
                </a:solidFill>
                <a:latin typeface="Helvetica Neue"/>
              </a:rPr>
              <a:t>IT Now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2450591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C3E50"/>
                </a:solidFill>
                <a:latin typeface="Helvetica Neue"/>
              </a:rPr>
              <a:t>Incidents + break/fix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14600" y="2221991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1">
                <a:solidFill>
                  <a:srgbClr val="6785C1"/>
                </a:solidFill>
                <a:latin typeface="Helvetica Neue"/>
              </a:rPr>
              <a:t>GIS, Global SAP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0" y="2313432"/>
            <a:ext cx="914400" cy="274320"/>
          </a:xfrm>
          <a:prstGeom prst="roundRect">
            <a:avLst/>
          </a:prstGeom>
          <a:solidFill>
            <a:srgbClr val="6785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0" y="231343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FFFFFF"/>
                </a:solidFill>
                <a:latin typeface="Helvetica Neue"/>
              </a:rPr>
              <a:t>PRIMARY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706624"/>
            <a:ext cx="73152" cy="438912"/>
          </a:xfrm>
          <a:prstGeom prst="rect">
            <a:avLst/>
          </a:prstGeom>
          <a:solidFill>
            <a:srgbClr val="95A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" y="2706624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F1C50"/>
                </a:solidFill>
                <a:latin typeface="Helvetica Neue"/>
              </a:rPr>
              <a:t>IT Now RITM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" y="2935224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C3E50"/>
                </a:solidFill>
                <a:latin typeface="Helvetica Neue"/>
              </a:rPr>
              <a:t>Minor requests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14600" y="2706624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1">
                <a:solidFill>
                  <a:srgbClr val="6785C1"/>
                </a:solidFill>
                <a:latin typeface="Helvetica Neue"/>
              </a:rPr>
              <a:t>Global SAP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0" y="2798064"/>
            <a:ext cx="914400" cy="274320"/>
          </a:xfrm>
          <a:prstGeom prst="roundRect">
            <a:avLst/>
          </a:prstGeom>
          <a:solidFill>
            <a:srgbClr val="95A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0" y="2798064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FFFFFF"/>
                </a:solidFill>
                <a:latin typeface="Helvetica Neue"/>
              </a:rPr>
              <a:t>SPECIFIC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191256"/>
            <a:ext cx="73152" cy="438912"/>
          </a:xfrm>
          <a:prstGeom prst="rect">
            <a:avLst/>
          </a:prstGeom>
          <a:solidFill>
            <a:srgbClr val="95A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92" y="3191256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F1C50"/>
                </a:solidFill>
                <a:latin typeface="Helvetica Neue"/>
              </a:rPr>
              <a:t>SharePoint + Teams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" y="3419856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C3E50"/>
                </a:solidFill>
                <a:latin typeface="Helvetica Neue"/>
              </a:rPr>
              <a:t>Major project work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14600" y="3191256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1">
                <a:solidFill>
                  <a:srgbClr val="6785C1"/>
                </a:solidFill>
                <a:latin typeface="Helvetica Neue"/>
              </a:rPr>
              <a:t>Global SAP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0" y="3282696"/>
            <a:ext cx="914400" cy="274320"/>
          </a:xfrm>
          <a:prstGeom prst="roundRect">
            <a:avLst/>
          </a:prstGeom>
          <a:solidFill>
            <a:srgbClr val="95A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0" y="328269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FFFFFF"/>
                </a:solidFill>
                <a:latin typeface="Helvetica Neue"/>
              </a:rPr>
              <a:t>SPECIFIC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3675888"/>
            <a:ext cx="73152" cy="438912"/>
          </a:xfrm>
          <a:prstGeom prst="rect">
            <a:avLst/>
          </a:prstGeom>
          <a:solidFill>
            <a:srgbClr val="95A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1792" y="3675888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F1C50"/>
                </a:solidFill>
                <a:latin typeface="Helvetica Neue"/>
              </a:rPr>
              <a:t>Confluence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" y="3904488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C3E50"/>
                </a:solidFill>
                <a:latin typeface="Helvetica Neue"/>
              </a:rPr>
              <a:t>Documentation / requirements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514600" y="3675888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1">
                <a:solidFill>
                  <a:srgbClr val="6785C1"/>
                </a:solidFill>
                <a:latin typeface="Helvetica Neue"/>
              </a:rPr>
              <a:t>Corporate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29200" y="3767328"/>
            <a:ext cx="914400" cy="274320"/>
          </a:xfrm>
          <a:prstGeom prst="roundRect">
            <a:avLst/>
          </a:prstGeom>
          <a:solidFill>
            <a:srgbClr val="95A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0" y="376732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FFFFFF"/>
                </a:solidFill>
                <a:latin typeface="Helvetica Neue"/>
              </a:rPr>
              <a:t>SPECIFIC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4160520"/>
            <a:ext cx="73152" cy="438912"/>
          </a:xfrm>
          <a:prstGeom prst="rect">
            <a:avLst/>
          </a:prstGeom>
          <a:solidFill>
            <a:srgbClr val="F9A8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1792" y="4160520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F1C50"/>
                </a:solidFill>
                <a:latin typeface="Helvetica Neue"/>
              </a:rPr>
              <a:t>Word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792" y="438912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C3E50"/>
                </a:solidFill>
                <a:latin typeface="Helvetica Neue"/>
              </a:rPr>
              <a:t>Business requirements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514600" y="416052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1">
                <a:solidFill>
                  <a:srgbClr val="6785C1"/>
                </a:solidFill>
                <a:latin typeface="Helvetica Neue"/>
              </a:rPr>
              <a:t>Corporate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029200" y="4251960"/>
            <a:ext cx="914400" cy="274320"/>
          </a:xfrm>
          <a:prstGeom prst="roundRect">
            <a:avLst/>
          </a:prstGeom>
          <a:solidFill>
            <a:srgbClr val="F9A8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29200" y="425196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FFFFFF"/>
                </a:solidFill>
                <a:latin typeface="Helvetica Neue"/>
              </a:rPr>
              <a:t>LEGACY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4645152"/>
            <a:ext cx="73152" cy="438912"/>
          </a:xfrm>
          <a:prstGeom prst="rect">
            <a:avLst/>
          </a:prstGeom>
          <a:solidFill>
            <a:srgbClr val="BC4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1792" y="4645152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F1C50"/>
                </a:solidFill>
                <a:latin typeface="Helvetica Neue"/>
              </a:rPr>
              <a:t>Email + Meetings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1792" y="4873752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C3E50"/>
                </a:solidFill>
                <a:latin typeface="Helvetica Neue"/>
              </a:rPr>
              <a:t>G&amp;E intake (only channel)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514600" y="4645152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1">
                <a:solidFill>
                  <a:srgbClr val="6785C1"/>
                </a:solidFill>
                <a:latin typeface="Helvetica Neue"/>
              </a:rPr>
              <a:t>G&amp;E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029200" y="4736592"/>
            <a:ext cx="914400" cy="274320"/>
          </a:xfrm>
          <a:prstGeom prst="roundRect">
            <a:avLst/>
          </a:prstGeom>
          <a:solidFill>
            <a:srgbClr val="BC4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29200" y="473659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FFFFFF"/>
                </a:solidFill>
                <a:latin typeface="Helvetica Neue"/>
              </a:rPr>
              <a:t>GAP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7200" y="5129784"/>
            <a:ext cx="73152" cy="438912"/>
          </a:xfrm>
          <a:prstGeom prst="rect">
            <a:avLst/>
          </a:prstGeom>
          <a:solidFill>
            <a:srgbClr val="F9A8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21792" y="5129784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F1C50"/>
                </a:solidFill>
                <a:latin typeface="Helvetica Neue"/>
              </a:rPr>
              <a:t>OneNote / Spreadsheets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1792" y="5358384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C3E50"/>
                </a:solidFill>
                <a:latin typeface="Helvetica Neue"/>
              </a:rPr>
              <a:t>Informal PM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514600" y="5129784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1">
                <a:solidFill>
                  <a:srgbClr val="6785C1"/>
                </a:solidFill>
                <a:latin typeface="Helvetica Neue"/>
              </a:rPr>
              <a:t>GIS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029200" y="5221224"/>
            <a:ext cx="914400" cy="274320"/>
          </a:xfrm>
          <a:prstGeom prst="roundRect">
            <a:avLst/>
          </a:prstGeom>
          <a:solidFill>
            <a:srgbClr val="F9A8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029200" y="5221224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FFFFFF"/>
                </a:solidFill>
                <a:latin typeface="Helvetica Neue"/>
              </a:rPr>
              <a:t>WORKAROUND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63640" y="137160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C50"/>
                </a:solidFill>
                <a:latin typeface="Helvetica Neue"/>
              </a:rPr>
              <a:t>CUSTOMER SERVICES / SAP — Director Customer Services Apps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263640" y="1737360"/>
            <a:ext cx="73152" cy="438912"/>
          </a:xfrm>
          <a:prstGeom prst="rect">
            <a:avLst/>
          </a:prstGeom>
          <a:solidFill>
            <a:srgbClr val="6785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28232" y="1737360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F1C50"/>
                </a:solidFill>
                <a:latin typeface="Helvetica Neue"/>
              </a:rPr>
              <a:t>IT Now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28232" y="196596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C3E50"/>
                </a:solidFill>
                <a:latin typeface="Helvetica Neue"/>
              </a:rPr>
              <a:t>Incidents (template) — Metering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321040" y="173736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1">
                <a:solidFill>
                  <a:srgbClr val="6785C1"/>
                </a:solidFill>
                <a:latin typeface="Helvetica Neue"/>
              </a:rPr>
              <a:t>Smart Metering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10789920" y="1828800"/>
            <a:ext cx="914400" cy="274320"/>
          </a:xfrm>
          <a:prstGeom prst="roundRect">
            <a:avLst/>
          </a:prstGeom>
          <a:solidFill>
            <a:srgbClr val="6785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789920" y="1828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FFFFFF"/>
                </a:solidFill>
                <a:latin typeface="Helvetica Neue"/>
              </a:rPr>
              <a:t>PRIMARY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263640" y="2221991"/>
            <a:ext cx="73152" cy="438912"/>
          </a:xfrm>
          <a:prstGeom prst="rect">
            <a:avLst/>
          </a:prstGeom>
          <a:solidFill>
            <a:srgbClr val="BC4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428232" y="2221991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F1C50"/>
                </a:solidFill>
                <a:latin typeface="Helvetica Neue"/>
              </a:rPr>
              <a:t>Email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428232" y="2450591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C3E50"/>
                </a:solidFill>
                <a:latin typeface="Helvetica Neue"/>
              </a:rPr>
              <a:t>Small demand (Smart Metering)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321040" y="2221991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1">
                <a:solidFill>
                  <a:srgbClr val="6785C1"/>
                </a:solidFill>
                <a:latin typeface="Helvetica Neue"/>
              </a:rPr>
              <a:t>Smart Metering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10789920" y="2313432"/>
            <a:ext cx="914400" cy="274320"/>
          </a:xfrm>
          <a:prstGeom prst="roundRect">
            <a:avLst/>
          </a:prstGeom>
          <a:solidFill>
            <a:srgbClr val="BC4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0789920" y="231343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FFFFFF"/>
                </a:solidFill>
                <a:latin typeface="Helvetica Neue"/>
              </a:rPr>
              <a:t>GAP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263640" y="2706624"/>
            <a:ext cx="73152" cy="438912"/>
          </a:xfrm>
          <a:prstGeom prst="rect">
            <a:avLst/>
          </a:prstGeom>
          <a:solidFill>
            <a:srgbClr val="95A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428232" y="2706624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F1C50"/>
                </a:solidFill>
                <a:latin typeface="Helvetica Neue"/>
              </a:rPr>
              <a:t>Jira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28232" y="2935224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C3E50"/>
                </a:solidFill>
                <a:latin typeface="Helvetica Neue"/>
              </a:rPr>
              <a:t>Used by PMs (Smart Metering)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321040" y="2706624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1">
                <a:solidFill>
                  <a:srgbClr val="6785C1"/>
                </a:solidFill>
                <a:latin typeface="Helvetica Neue"/>
              </a:rPr>
              <a:t>Smart Metering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10789920" y="2798064"/>
            <a:ext cx="914400" cy="274320"/>
          </a:xfrm>
          <a:prstGeom prst="roundRect">
            <a:avLst/>
          </a:prstGeom>
          <a:solidFill>
            <a:srgbClr val="95A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0789920" y="2798064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FFFFFF"/>
                </a:solidFill>
                <a:latin typeface="Helvetica Neue"/>
              </a:rPr>
              <a:t>SPECIFIC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263640" y="3191256"/>
            <a:ext cx="73152" cy="438912"/>
          </a:xfrm>
          <a:prstGeom prst="rect">
            <a:avLst/>
          </a:prstGeom>
          <a:solidFill>
            <a:srgbClr val="95A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428232" y="3191256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F1C50"/>
                </a:solidFill>
                <a:latin typeface="Helvetica Neue"/>
              </a:rPr>
              <a:t>Confluence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428232" y="3419856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C3E50"/>
                </a:solidFill>
                <a:latin typeface="Helvetica Neue"/>
              </a:rPr>
              <a:t>Portfolio documentation (Metering only)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321040" y="3191256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1">
                <a:solidFill>
                  <a:srgbClr val="6785C1"/>
                </a:solidFill>
                <a:latin typeface="Helvetica Neue"/>
              </a:rPr>
              <a:t>Smart Metering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10789920" y="3282696"/>
            <a:ext cx="914400" cy="274320"/>
          </a:xfrm>
          <a:prstGeom prst="roundRect">
            <a:avLst/>
          </a:prstGeom>
          <a:solidFill>
            <a:srgbClr val="95A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0789920" y="328269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FFFFFF"/>
                </a:solidFill>
                <a:latin typeface="Helvetica Neue"/>
              </a:rPr>
              <a:t>SPECIFIC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263640" y="3675888"/>
            <a:ext cx="73152" cy="438912"/>
          </a:xfrm>
          <a:prstGeom prst="rect">
            <a:avLst/>
          </a:prstGeom>
          <a:solidFill>
            <a:srgbClr val="6785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428232" y="3675888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F1C50"/>
                </a:solidFill>
                <a:latin typeface="Helvetica Neue"/>
              </a:rPr>
              <a:t>PPM Now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428232" y="3904488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C3E50"/>
                </a:solidFill>
                <a:latin typeface="Helvetica Neue"/>
              </a:rPr>
              <a:t>Large projects — ONLY in Smart Metering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321040" y="3675888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1">
                <a:solidFill>
                  <a:srgbClr val="6785C1"/>
                </a:solidFill>
                <a:latin typeface="Helvetica Neue"/>
              </a:rPr>
              <a:t>Smart Metering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10789920" y="3767328"/>
            <a:ext cx="914400" cy="274320"/>
          </a:xfrm>
          <a:prstGeom prst="roundRect">
            <a:avLst/>
          </a:prstGeom>
          <a:solidFill>
            <a:srgbClr val="6785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0789920" y="376732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FFFFFF"/>
                </a:solidFill>
                <a:latin typeface="Helvetica Neue"/>
              </a:rPr>
              <a:t>PRIMARY</a:t>
            </a:r>
          </a:p>
        </p:txBody>
      </p:sp>
      <p:sp>
        <p:nvSpPr>
          <p:cNvPr id="84" name="Rectangle 83"/>
          <p:cNvSpPr/>
          <p:nvPr/>
        </p:nvSpPr>
        <p:spPr>
          <a:xfrm>
            <a:off x="6263640" y="4160520"/>
            <a:ext cx="73152" cy="438912"/>
          </a:xfrm>
          <a:prstGeom prst="rect">
            <a:avLst/>
          </a:prstGeom>
          <a:solidFill>
            <a:srgbClr val="95A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428232" y="4160520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F1C50"/>
                </a:solidFill>
                <a:latin typeface="Helvetica Neue"/>
              </a:rPr>
              <a:t>Travis PMO (tool TBC)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428232" y="438912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C3E50"/>
                </a:solidFill>
                <a:latin typeface="Helvetica Neue"/>
              </a:rPr>
              <a:t>Large project management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321040" y="416052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1">
                <a:solidFill>
                  <a:srgbClr val="6785C1"/>
                </a:solidFill>
                <a:latin typeface="Helvetica Neue"/>
              </a:rPr>
              <a:t>Branch-wide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10789920" y="4251960"/>
            <a:ext cx="914400" cy="274320"/>
          </a:xfrm>
          <a:prstGeom prst="roundRect">
            <a:avLst/>
          </a:prstGeom>
          <a:solidFill>
            <a:srgbClr val="95A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10789920" y="425196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FFFFFF"/>
                </a:solidFill>
                <a:latin typeface="Helvetica Neue"/>
              </a:rPr>
              <a:t>SPECIFIC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263640" y="4645152"/>
            <a:ext cx="73152" cy="438912"/>
          </a:xfrm>
          <a:prstGeom prst="rect">
            <a:avLst/>
          </a:prstGeom>
          <a:solidFill>
            <a:srgbClr val="95A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428232" y="4645152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F1C50"/>
                </a:solidFill>
                <a:latin typeface="Helvetica Neue"/>
              </a:rPr>
              <a:t>SWF + Accenture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428232" y="4873752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C3E50"/>
                </a:solidFill>
                <a:latin typeface="Helvetica Neue"/>
              </a:rPr>
              <a:t>Build / delivery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321040" y="4645152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1">
                <a:solidFill>
                  <a:srgbClr val="6785C1"/>
                </a:solidFill>
                <a:latin typeface="Helvetica Neue"/>
              </a:rPr>
              <a:t>Branch-wide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10789920" y="4736592"/>
            <a:ext cx="914400" cy="274320"/>
          </a:xfrm>
          <a:prstGeom prst="roundRect">
            <a:avLst/>
          </a:prstGeom>
          <a:solidFill>
            <a:srgbClr val="95A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10789920" y="473659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FFFFFF"/>
                </a:solidFill>
                <a:latin typeface="Helvetica Neue"/>
              </a:rPr>
              <a:t>SPECIFIC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263640" y="5129784"/>
            <a:ext cx="73152" cy="438912"/>
          </a:xfrm>
          <a:prstGeom prst="rect">
            <a:avLst/>
          </a:prstGeom>
          <a:solidFill>
            <a:srgbClr val="BC4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428232" y="5129784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F1C50"/>
                </a:solidFill>
                <a:latin typeface="Helvetica Neue"/>
              </a:rPr>
              <a:t>4 other teams — tooling not yet captured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428232" y="5358384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C3E50"/>
                </a:solidFill>
                <a:latin typeface="Helvetica Neue"/>
              </a:rPr>
              <a:t>FICA/Billing, CRM, SAP Arch, SAP Basis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321040" y="5129784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1">
                <a:solidFill>
                  <a:srgbClr val="6785C1"/>
                </a:solidFill>
                <a:latin typeface="Helvetica Neue"/>
              </a:rPr>
              <a:t>TBC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10789920" y="5221224"/>
            <a:ext cx="914400" cy="274320"/>
          </a:xfrm>
          <a:prstGeom prst="roundRect">
            <a:avLst/>
          </a:prstGeom>
          <a:solidFill>
            <a:srgbClr val="BC4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10789920" y="5221224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FFFFFF"/>
                </a:solidFill>
                <a:latin typeface="Helvetica Neue"/>
              </a:rPr>
              <a:t>GAP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457200" y="5989320"/>
            <a:ext cx="11274552" cy="502920"/>
          </a:xfrm>
          <a:prstGeom prst="rect">
            <a:avLst/>
          </a:prstGeom>
          <a:solidFill>
            <a:srgbClr val="BC4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85800" y="6035040"/>
            <a:ext cx="10817352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Helvetica Neue"/>
              </a:rPr>
              <a:t>PPM Now exists in only 1 of 9 sub-teams — Jira is the only tool with meaningful cross-team adoption (and it's fragmented across instances)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9144000" y="6565392"/>
            <a:ext cx="258775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5A5A6"/>
                </a:solidFill>
                <a:latin typeface="Helvetica Neue"/>
              </a:rPr>
              <a:t>Tooling Landscape  |  12 / 28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457200" y="73152"/>
            <a:ext cx="1848612" cy="201168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457200" y="73152"/>
            <a:ext cx="184861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95A5A6"/>
                </a:solidFill>
                <a:latin typeface="Helvetica Neue"/>
              </a:rPr>
              <a:t>01 · EXECUTIVE SUMMARY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2342388" y="73152"/>
            <a:ext cx="1848612" cy="201168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2342388" y="73152"/>
            <a:ext cx="184861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95A5A6"/>
                </a:solidFill>
                <a:latin typeface="Helvetica Neue"/>
              </a:rPr>
              <a:t>02 · ORGANIZATION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4227576" y="73152"/>
            <a:ext cx="1848612" cy="201168"/>
          </a:xfrm>
          <a:prstGeom prst="roundRect">
            <a:avLst/>
          </a:prstGeom>
          <a:solidFill>
            <a:srgbClr val="0F1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4227576" y="73152"/>
            <a:ext cx="184861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FFFFFF"/>
                </a:solidFill>
                <a:latin typeface="Helvetica Neue"/>
              </a:rPr>
              <a:t>03 · DEMAND FLOW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6112764" y="73152"/>
            <a:ext cx="1848612" cy="201168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112764" y="73152"/>
            <a:ext cx="184861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95A5A6"/>
                </a:solidFill>
                <a:latin typeface="Helvetica Neue"/>
              </a:rPr>
              <a:t>04 · CAPACITY &amp; PORTFOLIO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7997952" y="73152"/>
            <a:ext cx="1848612" cy="201168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7997952" y="73152"/>
            <a:ext cx="184861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95A5A6"/>
                </a:solidFill>
                <a:latin typeface="Helvetica Neue"/>
              </a:rPr>
              <a:t>05 · PAIN POINTS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9883140" y="73152"/>
            <a:ext cx="1848612" cy="201168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9883140" y="73152"/>
            <a:ext cx="184861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95A5A6"/>
                </a:solidFill>
                <a:latin typeface="Helvetica Neue"/>
              </a:rPr>
              <a:t>06 · INSIGHTS &amp; TOM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455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F1C50"/>
                </a:solidFill>
                <a:latin typeface="Helvetica Neue"/>
              </a:rPr>
              <a:t>Five recurring forums exist — but none covers portfolio-level decisions, and Manager Check-in participants are still TBC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274552" cy="13716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417320"/>
            <a:ext cx="11274552" cy="411480"/>
          </a:xfrm>
          <a:prstGeom prst="rect">
            <a:avLst/>
          </a:prstGeom>
          <a:solidFill>
            <a:srgbClr val="0F1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27432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Helvetica Neue"/>
              </a:rPr>
              <a:t>FORUM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91840" y="1417320"/>
            <a:ext cx="10972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Helvetica Neue"/>
              </a:rPr>
              <a:t>CADENCE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1417320"/>
            <a:ext cx="3657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Helvetica Neue"/>
              </a:rPr>
              <a:t>PARTICIPANTS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19" y="1417320"/>
            <a:ext cx="3776472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Helvetica Neue"/>
              </a:rPr>
              <a:t>DECISION SCOPE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874519"/>
            <a:ext cx="11274552" cy="64008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874519"/>
            <a:ext cx="27432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F1C50"/>
                </a:solidFill>
                <a:latin typeface="Helvetica Neue"/>
              </a:rPr>
              <a:t>Critical Integrations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1874519"/>
            <a:ext cx="10972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C3E50"/>
                </a:solidFill>
                <a:latin typeface="Helvetica Neue"/>
              </a:rPr>
              <a:t>Weekly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1874519"/>
            <a:ext cx="3657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Business Apps, P&amp;S, Digital Products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19" y="1874519"/>
            <a:ext cx="3776472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Integration decisions across business apps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532887"/>
            <a:ext cx="11274552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532887"/>
            <a:ext cx="27432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F1C50"/>
                </a:solidFill>
                <a:latin typeface="Helvetica Neue"/>
              </a:rPr>
              <a:t>Daily BSS BI/BW Stand Up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2532887"/>
            <a:ext cx="10972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C3E50"/>
                </a:solidFill>
                <a:latin typeface="Helvetica Neue"/>
              </a:rPr>
              <a:t>Weekly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2532887"/>
            <a:ext cx="3657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Data &amp; Analytics Teams, Digital Products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19" y="2532887"/>
            <a:ext cx="3776472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Daily BI/BW operations alignment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191255"/>
            <a:ext cx="11274552" cy="64008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191255"/>
            <a:ext cx="27432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F1C50"/>
                </a:solidFill>
                <a:latin typeface="Helvetica Neue"/>
              </a:rPr>
              <a:t>Data, Analytics &amp; Solutions Check-In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91840" y="3191255"/>
            <a:ext cx="10972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C3E50"/>
                </a:solidFill>
                <a:latin typeface="Helvetica Neue"/>
              </a:rPr>
              <a:t>Weekly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3191255"/>
            <a:ext cx="3657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Data &amp; Analytics Teams, Digital Products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19" y="3191255"/>
            <a:ext cx="3776472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Data &amp; analytics demand review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849623"/>
            <a:ext cx="11274552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3849623"/>
            <a:ext cx="27432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F1C50"/>
                </a:solidFill>
                <a:latin typeface="Helvetica Neue"/>
              </a:rPr>
              <a:t>CX &amp; Digital CMP Update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91840" y="3849623"/>
            <a:ext cx="10972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C3E50"/>
                </a:solidFill>
                <a:latin typeface="Helvetica Neue"/>
              </a:rPr>
              <a:t>Monthly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9120" y="3849623"/>
            <a:ext cx="3657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CX Digital, Operations, CMP President, VP CS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19" y="3849623"/>
            <a:ext cx="3776472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CX-level strategic updates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4507991"/>
            <a:ext cx="11274552" cy="64008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4507991"/>
            <a:ext cx="27432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F1C50"/>
                </a:solidFill>
                <a:latin typeface="Helvetica Neue"/>
              </a:rPr>
              <a:t>Manager Check-in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91840" y="4507991"/>
            <a:ext cx="10972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C3E50"/>
                </a:solidFill>
                <a:latin typeface="Helvetica Neue"/>
              </a:rPr>
              <a:t>Weekly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89120" y="4507991"/>
            <a:ext cx="3657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BC4328"/>
                </a:solidFill>
                <a:latin typeface="Helvetica Neue"/>
              </a:rPr>
              <a:t>[To be confirmed]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46719" y="4507991"/>
            <a:ext cx="3776472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BC4328"/>
                </a:solidFill>
                <a:latin typeface="Helvetica Neue"/>
              </a:rPr>
              <a:t>[To be confirmed]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5257799"/>
            <a:ext cx="11274552" cy="713232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57200" y="5257799"/>
            <a:ext cx="73152" cy="713232"/>
          </a:xfrm>
          <a:prstGeom prst="rect">
            <a:avLst/>
          </a:prstGeom>
          <a:solidFill>
            <a:srgbClr val="BC4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1792" y="5303519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BC4328"/>
                </a:solidFill>
                <a:latin typeface="Helvetica Neue"/>
              </a:rPr>
              <a:t>WHAT'S MISSING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792" y="5532119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C3E50"/>
                </a:solidFill>
                <a:latin typeface="Helvetica Neue"/>
              </a:rPr>
              <a:t>No portfolio steering forum (decisions on trade-offs across branches, budget, capacity)  •  No vendor performance forum  •  Manager Check-in participants and scope pending definition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5989320"/>
            <a:ext cx="11274552" cy="502920"/>
          </a:xfrm>
          <a:prstGeom prst="rect">
            <a:avLst/>
          </a:prstGeom>
          <a:solidFill>
            <a:srgbClr val="0F1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5800" y="6035040"/>
            <a:ext cx="10817352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Helvetica Neue"/>
              </a:rPr>
              <a:t>The governance layer is operationally busy (4 weekly + 1 monthly) but strategically incomplete — a portfolio steering cadence must be introduced in the TOM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0" y="6565392"/>
            <a:ext cx="258775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5A5A6"/>
                </a:solidFill>
                <a:latin typeface="Helvetica Neue"/>
              </a:rPr>
              <a:t>Governance Forums  |  13 / 28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" y="73152"/>
            <a:ext cx="1848612" cy="201168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7200" y="73152"/>
            <a:ext cx="184861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95A5A6"/>
                </a:solidFill>
                <a:latin typeface="Helvetica Neue"/>
              </a:rPr>
              <a:t>01 · EXECUTIVE SUMMARY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342388" y="73152"/>
            <a:ext cx="1848612" cy="201168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342388" y="73152"/>
            <a:ext cx="184861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95A5A6"/>
                </a:solidFill>
                <a:latin typeface="Helvetica Neue"/>
              </a:rPr>
              <a:t>02 · ORGANIZATION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227576" y="73152"/>
            <a:ext cx="1848612" cy="201168"/>
          </a:xfrm>
          <a:prstGeom prst="roundRect">
            <a:avLst/>
          </a:prstGeom>
          <a:solidFill>
            <a:srgbClr val="0F1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227576" y="73152"/>
            <a:ext cx="184861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FFFFFF"/>
                </a:solidFill>
                <a:latin typeface="Helvetica Neue"/>
              </a:rPr>
              <a:t>03 · DEMAND FLOW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112764" y="73152"/>
            <a:ext cx="1848612" cy="201168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112764" y="73152"/>
            <a:ext cx="184861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95A5A6"/>
                </a:solidFill>
                <a:latin typeface="Helvetica Neue"/>
              </a:rPr>
              <a:t>04 · CAPACITY &amp; PORTFOLIO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997952" y="73152"/>
            <a:ext cx="1848612" cy="201168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997952" y="73152"/>
            <a:ext cx="184861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95A5A6"/>
                </a:solidFill>
                <a:latin typeface="Helvetica Neue"/>
              </a:rPr>
              <a:t>05 · PAIN POINTS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883140" y="73152"/>
            <a:ext cx="1848612" cy="201168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883140" y="73152"/>
            <a:ext cx="184861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95A5A6"/>
                </a:solidFill>
                <a:latin typeface="Helvetica Neue"/>
              </a:rPr>
              <a:t>06 · INSIGHTS &amp; TOM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455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F1C50"/>
                </a:solidFill>
                <a:latin typeface="Helvetica Neue"/>
              </a:rPr>
              <a:t>GIS balances break/fix urgency against yearly PDD planning — with no formal channel for small demand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274552" cy="13716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70432"/>
            <a:ext cx="1127455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6785C1"/>
                </a:solidFill>
                <a:latin typeface="Helvetica Neue"/>
              </a:rPr>
              <a:t>GIS &amp; OSG — team led by GIS Sr. Manager / Champion (Sr. Manager)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26464"/>
            <a:ext cx="11274552" cy="274320"/>
          </a:xfrm>
          <a:prstGeom prst="rect">
            <a:avLst/>
          </a:prstGeom>
          <a:solidFill>
            <a:srgbClr val="0F1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26464"/>
            <a:ext cx="1828800" cy="274320"/>
          </a:xfrm>
          <a:prstGeom prst="rect">
            <a:avLst/>
          </a:prstGeom>
          <a:solidFill>
            <a:srgbClr val="BC4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26464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Helvetica Neue"/>
              </a:rPr>
              <a:t>BUSINESS REQUESTERS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1426464"/>
            <a:ext cx="92811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Helvetica Neue"/>
              </a:rPr>
              <a:t>Electric &amp; Gas Field Operations · T&amp;D Engineering · Asset Management · Planning &amp; Design · Compliance (DIMP/TIMP) · OSG (Operational Support Group)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1810512"/>
            <a:ext cx="2167128" cy="347472"/>
          </a:xfrm>
          <a:prstGeom prst="rect">
            <a:avLst/>
          </a:prstGeom>
          <a:solidFill>
            <a:srgbClr val="0F1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1810512"/>
            <a:ext cx="216712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Helvetica Neue"/>
              </a:rPr>
              <a:t>01 INTAKE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32204" y="2212848"/>
            <a:ext cx="1097280" cy="182880"/>
          </a:xfrm>
          <a:prstGeom prst="roundRect">
            <a:avLst/>
          </a:prstGeom>
          <a:solidFill>
            <a:srgbClr val="F9A8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32204" y="2212848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Helvetica Neue"/>
              </a:rPr>
              <a:t>PARTIAL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19272" y="1810512"/>
            <a:ext cx="2167128" cy="347472"/>
          </a:xfrm>
          <a:prstGeom prst="rect">
            <a:avLst/>
          </a:prstGeom>
          <a:solidFill>
            <a:srgbClr val="0F1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19272" y="1810512"/>
            <a:ext cx="216712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Helvetica Neue"/>
              </a:rPr>
              <a:t>02 CLASSIFICATION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54196" y="2212848"/>
            <a:ext cx="1097280" cy="182880"/>
          </a:xfrm>
          <a:prstGeom prst="roundRect">
            <a:avLst/>
          </a:prstGeom>
          <a:solidFill>
            <a:srgbClr val="F9A8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54196" y="2212848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Helvetica Neue"/>
              </a:rPr>
              <a:t>PARTIAL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541264" y="1810512"/>
            <a:ext cx="2167128" cy="347472"/>
          </a:xfrm>
          <a:prstGeom prst="rect">
            <a:avLst/>
          </a:prstGeom>
          <a:solidFill>
            <a:srgbClr val="0F1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541264" y="1810512"/>
            <a:ext cx="216712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Helvetica Neue"/>
              </a:rPr>
              <a:t>03 PRIORITIZATION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76188" y="2212848"/>
            <a:ext cx="1097280" cy="182880"/>
          </a:xfrm>
          <a:prstGeom prst="roundRect">
            <a:avLst/>
          </a:prstGeom>
          <a:solidFill>
            <a:srgbClr val="F9A8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76188" y="2212848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Helvetica Neue"/>
              </a:rPr>
              <a:t>PARTIAL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63256" y="1810512"/>
            <a:ext cx="2167128" cy="347472"/>
          </a:xfrm>
          <a:prstGeom prst="rect">
            <a:avLst/>
          </a:prstGeom>
          <a:solidFill>
            <a:srgbClr val="0F1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63256" y="1810512"/>
            <a:ext cx="216712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Helvetica Neue"/>
              </a:rPr>
              <a:t>04 PORTFOLIO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98180" y="2212848"/>
            <a:ext cx="1097280" cy="18288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98180" y="2212848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Helvetica Neue"/>
              </a:rPr>
              <a:t>OK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985248" y="1810512"/>
            <a:ext cx="2167128" cy="347472"/>
          </a:xfrm>
          <a:prstGeom prst="rect">
            <a:avLst/>
          </a:prstGeom>
          <a:solidFill>
            <a:srgbClr val="0F1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985248" y="1810512"/>
            <a:ext cx="216712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Helvetica Neue"/>
              </a:rPr>
              <a:t>05 DELIVERY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520172" y="2212848"/>
            <a:ext cx="1097280" cy="18288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520172" y="2212848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Helvetica Neue"/>
              </a:rPr>
              <a:t>OK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2450592"/>
            <a:ext cx="594360" cy="493776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2450592"/>
            <a:ext cx="59436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FFFFFF"/>
                </a:solidFill>
                <a:latin typeface="Helvetica Neue"/>
              </a:rPr>
              <a:t>CHANNELS  ·  HOW IT ARRIVES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97280" y="2450592"/>
            <a:ext cx="2167128" cy="493776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88720" y="2496312"/>
            <a:ext cx="198424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Jira (misc. work) + Email / Meetings (small demand) + IT-Now (daily break/fix)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319272" y="2450592"/>
            <a:ext cx="2167128" cy="493776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410712" y="2496312"/>
            <a:ext cx="198424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Small: email / Jira / IT-Now routed by type; Large: yearly PDD process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541264" y="2450592"/>
            <a:ext cx="2167128" cy="493776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632704" y="2496312"/>
            <a:ext cx="198424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Business drives prioritization; P&amp;T is the face for small demand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63256" y="2450592"/>
            <a:ext cx="2167128" cy="493776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854696" y="2496312"/>
            <a:ext cx="198424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PDD-approved portfolio; no dedicated portfolio tool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985248" y="2450592"/>
            <a:ext cx="2167128" cy="493776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76688" y="2496312"/>
            <a:ext cx="198424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Internal team for break/fix; SWF brought in for resource impact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2980944"/>
            <a:ext cx="594360" cy="493776"/>
          </a:xfrm>
          <a:prstGeom prst="rect">
            <a:avLst/>
          </a:prstGeom>
          <a:solidFill>
            <a:srgbClr val="6785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7200" y="2980944"/>
            <a:ext cx="59436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FFFFFF"/>
                </a:solidFill>
                <a:latin typeface="Helvetica Neue"/>
              </a:rPr>
              <a:t>ROLES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97280" y="2980944"/>
            <a:ext cx="2167128" cy="493776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88720" y="3026664"/>
            <a:ext cx="198424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Business users open tickets; GIS Champion's team receives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319272" y="2980944"/>
            <a:ext cx="2167128" cy="493776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410712" y="3026664"/>
            <a:ext cx="198424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GIS Champion + team classify; PDD committee for large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541264" y="2980944"/>
            <a:ext cx="2167128" cy="493776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632704" y="3026664"/>
            <a:ext cx="198424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"Impact to most users" rule (GIS Champion); PDD approvers for large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763256" y="2980944"/>
            <a:ext cx="2167128" cy="493776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854696" y="3026664"/>
            <a:ext cx="198424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Informal PM — GIS Champion manages via OneNote / Teams / spreadsheets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985248" y="2980944"/>
            <a:ext cx="2167128" cy="493776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076688" y="3026664"/>
            <a:ext cx="198424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GIS team + Software Factory (shared server infra: SAP HANA, ARCFM)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57200" y="3511296"/>
            <a:ext cx="594360" cy="493776"/>
          </a:xfrm>
          <a:prstGeom prst="rect">
            <a:avLst/>
          </a:prstGeom>
          <a:solidFill>
            <a:srgbClr val="0F1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57200" y="3511296"/>
            <a:ext cx="59436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FFFFFF"/>
                </a:solidFill>
                <a:latin typeface="Helvetica Neue"/>
              </a:rPr>
              <a:t>TOOLS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097280" y="3511296"/>
            <a:ext cx="2167128" cy="493776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188720" y="3557016"/>
            <a:ext cx="198424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Jira · Email · Meetings · IT-Now (RITM)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319272" y="3511296"/>
            <a:ext cx="2167128" cy="493776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410712" y="3557016"/>
            <a:ext cx="198424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No single tool — Jira tags, PDD workbook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541264" y="3511296"/>
            <a:ext cx="2167128" cy="493776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632704" y="3557016"/>
            <a:ext cx="198424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Spreadsheet-based; no scoring tool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763256" y="3511296"/>
            <a:ext cx="2167128" cy="493776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854696" y="3557016"/>
            <a:ext cx="198424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OneNote + Teams + Spreadsheets (informal) + PDD (large)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985248" y="3511296"/>
            <a:ext cx="2167128" cy="493776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076688" y="3557016"/>
            <a:ext cx="198424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Jira (internal) + SWF process (vendor capacity)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57200" y="4041648"/>
            <a:ext cx="594360" cy="493776"/>
          </a:xfrm>
          <a:prstGeom prst="rect">
            <a:avLst/>
          </a:prstGeom>
          <a:solidFill>
            <a:srgbClr val="BC4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57200" y="4041648"/>
            <a:ext cx="59436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FFFFFF"/>
                </a:solidFill>
                <a:latin typeface="Helvetica Neue"/>
              </a:rPr>
              <a:t>GOVERNANCE  &amp;  METRICS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097280" y="4041648"/>
            <a:ext cx="2167128" cy="493776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188720" y="4087368"/>
            <a:ext cx="198424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No SLA on small demand; no volume tracking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319272" y="4041648"/>
            <a:ext cx="2167128" cy="493776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410712" y="4087368"/>
            <a:ext cx="198424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No classification rule below PDD threshold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541264" y="4041648"/>
            <a:ext cx="2167128" cy="493776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632704" y="4087368"/>
            <a:ext cx="198424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"Highest impact / most users" — heuristic, not scored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763256" y="4041648"/>
            <a:ext cx="2167128" cy="493776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854696" y="4087368"/>
            <a:ext cx="198424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PDD governance works for large; no below-threshold governance</a:t>
            </a:r>
          </a:p>
        </p:txBody>
      </p:sp>
      <p:sp>
        <p:nvSpPr>
          <p:cNvPr id="75" name="Rectangle 74"/>
          <p:cNvSpPr/>
          <p:nvPr/>
        </p:nvSpPr>
        <p:spPr>
          <a:xfrm>
            <a:off x="9985248" y="4041648"/>
            <a:ext cx="2167128" cy="493776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0076688" y="4087368"/>
            <a:ext cx="198424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SWF engagement tracked ad-hoc; no KPIs per release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57200" y="4645152"/>
            <a:ext cx="11274552" cy="1298448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457200" y="4645152"/>
            <a:ext cx="73152" cy="1298448"/>
          </a:xfrm>
          <a:prstGeom prst="rect">
            <a:avLst/>
          </a:prstGeom>
          <a:solidFill>
            <a:srgbClr val="0F1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40080" y="4690872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F1C50"/>
                </a:solidFill>
                <a:latin typeface="Helvetica Neue"/>
              </a:rPr>
              <a:t>KEY PATTERNS  —  WHAT THE FINDINGS REVEAL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400800" y="4690872"/>
            <a:ext cx="5166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BC4328"/>
                </a:solidFill>
                <a:latin typeface="Helvetica Neue"/>
              </a:rPr>
              <a:t>SUPPORTING QUOTE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400800" y="4937760"/>
            <a:ext cx="5166360" cy="932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2C3E50"/>
                </a:solidFill>
                <a:latin typeface="Helvetica Neue"/>
              </a:rPr>
              <a:t>"I prioritize things that have the highest impact to the most users. In most cases these are break/fix requests" — GIS Sr. Manager / Champion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40080" y="4937760"/>
            <a:ext cx="5486400" cy="932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▸  GIS treats "small demand" and "break/fix" as interchangeable — volume grows, prioritization logic doesn't scale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▸  PDD works for large projects but leaves 60-70% of actual work (break/fix + small) ungoverned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▸  SWF is the elasticity valve — predictable capacity relief, but vendor-dependent and untracked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57200" y="5989320"/>
            <a:ext cx="11274552" cy="502920"/>
          </a:xfrm>
          <a:prstGeom prst="rect">
            <a:avLst/>
          </a:prstGeom>
          <a:solidFill>
            <a:srgbClr val="BC4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85800" y="6035040"/>
            <a:ext cx="10817352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Helvetica Neue"/>
              </a:rPr>
              <a:t>GIS has a working large-project process (PDD) but relies on email + meetings for small demand — capacity risk as volume grows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9144000" y="6565392"/>
            <a:ext cx="258775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5A5A6"/>
                </a:solidFill>
                <a:latin typeface="Helvetica Neue"/>
              </a:rPr>
              <a:t>Drill-down: GIS  |  14 / 28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457200" y="73152"/>
            <a:ext cx="1848612" cy="201168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457200" y="73152"/>
            <a:ext cx="184861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95A5A6"/>
                </a:solidFill>
                <a:latin typeface="Helvetica Neue"/>
              </a:rPr>
              <a:t>01 · EXECUTIVE SUMMARY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2342388" y="73152"/>
            <a:ext cx="1848612" cy="201168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2342388" y="73152"/>
            <a:ext cx="184861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95A5A6"/>
                </a:solidFill>
                <a:latin typeface="Helvetica Neue"/>
              </a:rPr>
              <a:t>02 · ORGANIZATION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4227576" y="73152"/>
            <a:ext cx="1848612" cy="201168"/>
          </a:xfrm>
          <a:prstGeom prst="roundRect">
            <a:avLst/>
          </a:prstGeom>
          <a:solidFill>
            <a:srgbClr val="0F1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4227576" y="73152"/>
            <a:ext cx="184861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FFFFFF"/>
                </a:solidFill>
                <a:latin typeface="Helvetica Neue"/>
              </a:rPr>
              <a:t>03 · DEMAND FLOW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6112764" y="73152"/>
            <a:ext cx="1848612" cy="201168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6112764" y="73152"/>
            <a:ext cx="184861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95A5A6"/>
                </a:solidFill>
                <a:latin typeface="Helvetica Neue"/>
              </a:rPr>
              <a:t>04 · CAPACITY &amp; PORTFOLIO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7997952" y="73152"/>
            <a:ext cx="1848612" cy="201168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7997952" y="73152"/>
            <a:ext cx="184861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95A5A6"/>
                </a:solidFill>
                <a:latin typeface="Helvetica Neue"/>
              </a:rPr>
              <a:t>05 · PAIN POINTS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9883140" y="73152"/>
            <a:ext cx="1848612" cy="201168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9883140" y="73152"/>
            <a:ext cx="184861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95A5A6"/>
                </a:solidFill>
                <a:latin typeface="Helvetica Neue"/>
              </a:rPr>
              <a:t>06 · INSIGHTS &amp; TOM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455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F1C50"/>
                </a:solidFill>
                <a:latin typeface="Helvetica Neue"/>
              </a:rPr>
              <a:t>Corporate runs demand through Jira, Confluence and Word — standardization gap despite the highest regulatory pressure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274552" cy="13716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70432"/>
            <a:ext cx="1127455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6785C1"/>
                </a:solidFill>
                <a:latin typeface="Helvetica Neue"/>
              </a:rPr>
              <a:t>Corporate Applications — led by Sr. Manager / Corporate Apps  ·  Champion: Corporate Tech Lead (5-6 PMs + 2 Tech Leads)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26464"/>
            <a:ext cx="11274552" cy="274320"/>
          </a:xfrm>
          <a:prstGeom prst="rect">
            <a:avLst/>
          </a:prstGeom>
          <a:solidFill>
            <a:srgbClr val="0F1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26464"/>
            <a:ext cx="1828800" cy="274320"/>
          </a:xfrm>
          <a:prstGeom prst="rect">
            <a:avLst/>
          </a:prstGeom>
          <a:solidFill>
            <a:srgbClr val="BC4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26464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Helvetica Neue"/>
              </a:rPr>
              <a:t>BUSINESS REQUESTERS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1426464"/>
            <a:ext cx="92811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Helvetica Neue"/>
              </a:rPr>
              <a:t>Finance · HR / People · Procurement · Legal &amp; Compliance · Training &amp; Corporate Functions · Regulatory affairs · Enterprise Shared Services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1810512"/>
            <a:ext cx="2167128" cy="347472"/>
          </a:xfrm>
          <a:prstGeom prst="rect">
            <a:avLst/>
          </a:prstGeom>
          <a:solidFill>
            <a:srgbClr val="0F1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1810512"/>
            <a:ext cx="216712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Helvetica Neue"/>
              </a:rPr>
              <a:t>01 INTAKE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32204" y="2212848"/>
            <a:ext cx="1097280" cy="182880"/>
          </a:xfrm>
          <a:prstGeom prst="roundRect">
            <a:avLst/>
          </a:prstGeom>
          <a:solidFill>
            <a:srgbClr val="F9A8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32204" y="2212848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Helvetica Neue"/>
              </a:rPr>
              <a:t>PARTIAL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19272" y="1810512"/>
            <a:ext cx="2167128" cy="347472"/>
          </a:xfrm>
          <a:prstGeom prst="rect">
            <a:avLst/>
          </a:prstGeom>
          <a:solidFill>
            <a:srgbClr val="0F1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19272" y="1810512"/>
            <a:ext cx="216712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Helvetica Neue"/>
              </a:rPr>
              <a:t>02 CLASSIFICATION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54196" y="2212848"/>
            <a:ext cx="1097280" cy="182880"/>
          </a:xfrm>
          <a:prstGeom prst="roundRect">
            <a:avLst/>
          </a:prstGeom>
          <a:solidFill>
            <a:srgbClr val="BC4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54196" y="2212848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Helvetica Neue"/>
              </a:rPr>
              <a:t>GAP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541264" y="1810512"/>
            <a:ext cx="2167128" cy="347472"/>
          </a:xfrm>
          <a:prstGeom prst="rect">
            <a:avLst/>
          </a:prstGeom>
          <a:solidFill>
            <a:srgbClr val="0F1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541264" y="1810512"/>
            <a:ext cx="216712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Helvetica Neue"/>
              </a:rPr>
              <a:t>03 PRIORITIZATION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76188" y="2212848"/>
            <a:ext cx="1097280" cy="182880"/>
          </a:xfrm>
          <a:prstGeom prst="roundRect">
            <a:avLst/>
          </a:prstGeom>
          <a:solidFill>
            <a:srgbClr val="F9A8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76188" y="2212848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Helvetica Neue"/>
              </a:rPr>
              <a:t>PARTIAL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63256" y="1810512"/>
            <a:ext cx="2167128" cy="347472"/>
          </a:xfrm>
          <a:prstGeom prst="rect">
            <a:avLst/>
          </a:prstGeom>
          <a:solidFill>
            <a:srgbClr val="0F1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63256" y="1810512"/>
            <a:ext cx="216712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Helvetica Neue"/>
              </a:rPr>
              <a:t>04 PORTFOLIO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98180" y="2212848"/>
            <a:ext cx="1097280" cy="18288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98180" y="2212848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Helvetica Neue"/>
              </a:rPr>
              <a:t>OK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985248" y="1810512"/>
            <a:ext cx="2167128" cy="347472"/>
          </a:xfrm>
          <a:prstGeom prst="rect">
            <a:avLst/>
          </a:prstGeom>
          <a:solidFill>
            <a:srgbClr val="0F1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985248" y="1810512"/>
            <a:ext cx="216712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Helvetica Neue"/>
              </a:rPr>
              <a:t>05 DELIVERY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520172" y="2212848"/>
            <a:ext cx="1097280" cy="182880"/>
          </a:xfrm>
          <a:prstGeom prst="roundRect">
            <a:avLst/>
          </a:prstGeom>
          <a:solidFill>
            <a:srgbClr val="F9A8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520172" y="2212848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Helvetica Neue"/>
              </a:rPr>
              <a:t>PARTIAL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2450592"/>
            <a:ext cx="594360" cy="493776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2450592"/>
            <a:ext cx="59436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FFFFFF"/>
                </a:solidFill>
                <a:latin typeface="Helvetica Neue"/>
              </a:rPr>
              <a:t>CHANNELS  ·  HOW IT ARRIVES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97280" y="2450592"/>
            <a:ext cx="2167128" cy="493776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88720" y="2496312"/>
            <a:ext cx="198424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PM via Jira + Confluence; Word docs for business requirements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319272" y="2450592"/>
            <a:ext cx="2167128" cy="493776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410712" y="2496312"/>
            <a:ext cx="198424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PDD drives for large; no explicit model for small/medium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541264" y="2450592"/>
            <a:ext cx="2167128" cy="493776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632704" y="2496312"/>
            <a:ext cx="198424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PDD is the driver; regulatory is treated as standing priority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63256" y="2450592"/>
            <a:ext cx="2167128" cy="493776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854696" y="2496312"/>
            <a:ext cx="198424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PDD-approved portfolio; overlap visible in Confluence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985248" y="2450592"/>
            <a:ext cx="2167128" cy="493776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76688" y="2496312"/>
            <a:ext cx="198424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Internal + Vendor split; regulatory-driven release cadence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2980944"/>
            <a:ext cx="594360" cy="493776"/>
          </a:xfrm>
          <a:prstGeom prst="rect">
            <a:avLst/>
          </a:prstGeom>
          <a:solidFill>
            <a:srgbClr val="6785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7200" y="2980944"/>
            <a:ext cx="59436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FFFFFF"/>
                </a:solidFill>
                <a:latin typeface="Helvetica Neue"/>
              </a:rPr>
              <a:t>ROLES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97280" y="2980944"/>
            <a:ext cx="2167128" cy="493776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88720" y="3026664"/>
            <a:ext cx="198424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Business analysts send requirements; PMs own Jira intake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319272" y="2980944"/>
            <a:ext cx="2167128" cy="493776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410712" y="3026664"/>
            <a:ext cx="198424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5-6 PMs + 2 Tech Leads classify (central PM pool sits here)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541264" y="2980944"/>
            <a:ext cx="2167128" cy="493776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632704" y="3026664"/>
            <a:ext cx="198424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PMs + business leadership — regulatory always lifted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763256" y="2980944"/>
            <a:ext cx="2167128" cy="493776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854696" y="3026664"/>
            <a:ext cx="198424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PMs track Jira; overlap visible but not resolved upstream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985248" y="2980944"/>
            <a:ext cx="2167128" cy="493776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076688" y="3026664"/>
            <a:ext cx="198424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Internal team + SWF + vendors for specific modules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57200" y="3511296"/>
            <a:ext cx="594360" cy="493776"/>
          </a:xfrm>
          <a:prstGeom prst="rect">
            <a:avLst/>
          </a:prstGeom>
          <a:solidFill>
            <a:srgbClr val="0F1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57200" y="3511296"/>
            <a:ext cx="59436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FFFFFF"/>
                </a:solidFill>
                <a:latin typeface="Helvetica Neue"/>
              </a:rPr>
              <a:t>TOOLS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097280" y="3511296"/>
            <a:ext cx="2167128" cy="493776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188720" y="3557016"/>
            <a:ext cx="198424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Jira · Confluence · Word docs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319272" y="3511296"/>
            <a:ext cx="2167128" cy="493776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410712" y="3557016"/>
            <a:ext cx="198424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Jira labels + PDD workbook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541264" y="3511296"/>
            <a:ext cx="2167128" cy="493776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632704" y="3557016"/>
            <a:ext cx="198424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No scoring tool — regulatory tag = priority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763256" y="3511296"/>
            <a:ext cx="2167128" cy="493776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854696" y="3557016"/>
            <a:ext cx="198424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Confluence + PDD; no consolidated portfolio tool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985248" y="3511296"/>
            <a:ext cx="2167128" cy="493776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076688" y="3557016"/>
            <a:ext cx="198424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Jira + Confluence; SWF for vendor capacity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57200" y="4041648"/>
            <a:ext cx="594360" cy="493776"/>
          </a:xfrm>
          <a:prstGeom prst="rect">
            <a:avLst/>
          </a:prstGeom>
          <a:solidFill>
            <a:srgbClr val="BC4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57200" y="4041648"/>
            <a:ext cx="59436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FFFFFF"/>
                </a:solidFill>
                <a:latin typeface="Helvetica Neue"/>
              </a:rPr>
              <a:t>GOVERNANCE  &amp;  METRICS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097280" y="4041648"/>
            <a:ext cx="2167128" cy="493776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188720" y="4087368"/>
            <a:ext cx="198424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No consolidated intake funnel; Word breaks digital trail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319272" y="4041648"/>
            <a:ext cx="2167128" cy="493776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410712" y="4087368"/>
            <a:ext cx="198424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No deduplication between overlapping PDDs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541264" y="4041648"/>
            <a:ext cx="2167128" cy="493776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632704" y="4087368"/>
            <a:ext cx="198424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Regulatory urgency is exception-driven, not scored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763256" y="4041648"/>
            <a:ext cx="2167128" cy="493776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854696" y="4087368"/>
            <a:ext cx="198424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PDD approvals govern; below-threshold demand untracked</a:t>
            </a:r>
          </a:p>
        </p:txBody>
      </p:sp>
      <p:sp>
        <p:nvSpPr>
          <p:cNvPr id="75" name="Rectangle 74"/>
          <p:cNvSpPr/>
          <p:nvPr/>
        </p:nvSpPr>
        <p:spPr>
          <a:xfrm>
            <a:off x="9985248" y="4041648"/>
            <a:ext cx="2167128" cy="493776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0076688" y="4087368"/>
            <a:ext cx="198424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One-year plan + recurring training; no release KPIs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57200" y="4645152"/>
            <a:ext cx="11274552" cy="1298448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457200" y="4645152"/>
            <a:ext cx="73152" cy="1298448"/>
          </a:xfrm>
          <a:prstGeom prst="rect">
            <a:avLst/>
          </a:prstGeom>
          <a:solidFill>
            <a:srgbClr val="0F1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40080" y="4690872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F1C50"/>
                </a:solidFill>
                <a:latin typeface="Helvetica Neue"/>
              </a:rPr>
              <a:t>KEY PATTERNS  —  WHAT THE FINDINGS REVEAL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400800" y="4690872"/>
            <a:ext cx="5166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BC4328"/>
                </a:solidFill>
                <a:latin typeface="Helvetica Neue"/>
              </a:rPr>
              <a:t>SUPPORTING QUOTE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400800" y="4937760"/>
            <a:ext cx="5166360" cy="932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2C3E50"/>
                </a:solidFill>
                <a:latin typeface="Helvetica Neue"/>
              </a:rPr>
              <a:t>"Regulatory and Employee — not only one year plan and training, coming with new requirements that are always a priority" — Corporate Champion (Tech Lead)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40080" y="4937760"/>
            <a:ext cx="5486400" cy="932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▸  Word-document requirements betray a pre-agile posture — downstream Jira adoption is superficial, not structural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▸  "Overlapping projects" signals classification breakdown: multiple PDDs chase similar outcomes because intake doesn't deduplicate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▸  Regulatory pressure masks the lack of formal scoring — everything becomes urgent by exception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57200" y="5989320"/>
            <a:ext cx="11274552" cy="502920"/>
          </a:xfrm>
          <a:prstGeom prst="rect">
            <a:avLst/>
          </a:prstGeom>
          <a:solidFill>
            <a:srgbClr val="BC4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85800" y="6035040"/>
            <a:ext cx="10817352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Helvetica Neue"/>
              </a:rPr>
              <a:t>Corporate absorbs regulatory volatility through PDD — but Word-doc intake and overlap between projects create duplication and rework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9144000" y="6565392"/>
            <a:ext cx="258775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5A5A6"/>
                </a:solidFill>
                <a:latin typeface="Helvetica Neue"/>
              </a:rPr>
              <a:t>Drill-down: Corporate  |  15 / 28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457200" y="73152"/>
            <a:ext cx="1848612" cy="201168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457200" y="73152"/>
            <a:ext cx="184861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95A5A6"/>
                </a:solidFill>
                <a:latin typeface="Helvetica Neue"/>
              </a:rPr>
              <a:t>01 · EXECUTIVE SUMMARY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2342388" y="73152"/>
            <a:ext cx="1848612" cy="201168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2342388" y="73152"/>
            <a:ext cx="184861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95A5A6"/>
                </a:solidFill>
                <a:latin typeface="Helvetica Neue"/>
              </a:rPr>
              <a:t>02 · ORGANIZATION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4227576" y="73152"/>
            <a:ext cx="1848612" cy="201168"/>
          </a:xfrm>
          <a:prstGeom prst="roundRect">
            <a:avLst/>
          </a:prstGeom>
          <a:solidFill>
            <a:srgbClr val="0F1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4227576" y="73152"/>
            <a:ext cx="184861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FFFFFF"/>
                </a:solidFill>
                <a:latin typeface="Helvetica Neue"/>
              </a:rPr>
              <a:t>03 · DEMAND FLOW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6112764" y="73152"/>
            <a:ext cx="1848612" cy="201168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6112764" y="73152"/>
            <a:ext cx="184861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95A5A6"/>
                </a:solidFill>
                <a:latin typeface="Helvetica Neue"/>
              </a:rPr>
              <a:t>04 · CAPACITY &amp; PORTFOLIO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7997952" y="73152"/>
            <a:ext cx="1848612" cy="201168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7997952" y="73152"/>
            <a:ext cx="184861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95A5A6"/>
                </a:solidFill>
                <a:latin typeface="Helvetica Neue"/>
              </a:rPr>
              <a:t>05 · PAIN POINTS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9883140" y="73152"/>
            <a:ext cx="1848612" cy="201168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9883140" y="73152"/>
            <a:ext cx="184861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95A5A6"/>
                </a:solidFill>
                <a:latin typeface="Helvetica Neue"/>
              </a:rPr>
              <a:t>06 · INSIGHTS &amp; TOM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455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F1C50"/>
                </a:solidFill>
                <a:latin typeface="Helvetica Neue"/>
              </a:rPr>
              <a:t>G&amp;E is the only area with NO formal digital intake — every request arrives via email from business or vendor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274552" cy="13716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70432"/>
            <a:ext cx="1127455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6785C1"/>
                </a:solidFill>
                <a:latin typeface="Helvetica Neue"/>
              </a:rPr>
              <a:t>G&amp;E — sub-scope within Electric &amp; Gas Operations Products (led by Sr. Manager / E&amp;G Ops)  ·  Champion: G&amp;E Tech Lead (70-90 apps)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26464"/>
            <a:ext cx="11274552" cy="274320"/>
          </a:xfrm>
          <a:prstGeom prst="rect">
            <a:avLst/>
          </a:prstGeom>
          <a:solidFill>
            <a:srgbClr val="0F1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26464"/>
            <a:ext cx="1828800" cy="274320"/>
          </a:xfrm>
          <a:prstGeom prst="rect">
            <a:avLst/>
          </a:prstGeom>
          <a:solidFill>
            <a:srgbClr val="BC4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26464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Helvetica Neue"/>
              </a:rPr>
              <a:t>BUSINESS REQUESTERS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1426464"/>
            <a:ext cx="92811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Helvetica Neue"/>
              </a:rPr>
              <a:t>Electric &amp; Gas Operations (T&amp;D) · Field Services · Outage Management · Third-party vendors (direct) · Cyber &amp; Legal (compliance gates) · Regulatory affairs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1810512"/>
            <a:ext cx="2167128" cy="347472"/>
          </a:xfrm>
          <a:prstGeom prst="rect">
            <a:avLst/>
          </a:prstGeom>
          <a:solidFill>
            <a:srgbClr val="0F1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1810512"/>
            <a:ext cx="216712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Helvetica Neue"/>
              </a:rPr>
              <a:t>01 INTAKE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32204" y="2212848"/>
            <a:ext cx="1097280" cy="182880"/>
          </a:xfrm>
          <a:prstGeom prst="roundRect">
            <a:avLst/>
          </a:prstGeom>
          <a:solidFill>
            <a:srgbClr val="BC4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32204" y="2212848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Helvetica Neue"/>
              </a:rPr>
              <a:t>GAP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19272" y="1810512"/>
            <a:ext cx="2167128" cy="347472"/>
          </a:xfrm>
          <a:prstGeom prst="rect">
            <a:avLst/>
          </a:prstGeom>
          <a:solidFill>
            <a:srgbClr val="0F1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19272" y="1810512"/>
            <a:ext cx="216712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Helvetica Neue"/>
              </a:rPr>
              <a:t>02 CLASSIFICATION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54196" y="2212848"/>
            <a:ext cx="1097280" cy="182880"/>
          </a:xfrm>
          <a:prstGeom prst="roundRect">
            <a:avLst/>
          </a:prstGeom>
          <a:solidFill>
            <a:srgbClr val="BC4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54196" y="2212848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Helvetica Neue"/>
              </a:rPr>
              <a:t>GAP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541264" y="1810512"/>
            <a:ext cx="2167128" cy="347472"/>
          </a:xfrm>
          <a:prstGeom prst="rect">
            <a:avLst/>
          </a:prstGeom>
          <a:solidFill>
            <a:srgbClr val="0F1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541264" y="1810512"/>
            <a:ext cx="216712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Helvetica Neue"/>
              </a:rPr>
              <a:t>03 PRIORITIZATION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76188" y="2212848"/>
            <a:ext cx="1097280" cy="182880"/>
          </a:xfrm>
          <a:prstGeom prst="roundRect">
            <a:avLst/>
          </a:prstGeom>
          <a:solidFill>
            <a:srgbClr val="BC4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76188" y="2212848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Helvetica Neue"/>
              </a:rPr>
              <a:t>GAP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63256" y="1810512"/>
            <a:ext cx="2167128" cy="347472"/>
          </a:xfrm>
          <a:prstGeom prst="rect">
            <a:avLst/>
          </a:prstGeom>
          <a:solidFill>
            <a:srgbClr val="0F1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63256" y="1810512"/>
            <a:ext cx="216712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Helvetica Neue"/>
              </a:rPr>
              <a:t>04 PORTFOLIO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98180" y="2212848"/>
            <a:ext cx="1097280" cy="182880"/>
          </a:xfrm>
          <a:prstGeom prst="roundRect">
            <a:avLst/>
          </a:prstGeom>
          <a:solidFill>
            <a:srgbClr val="BC4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98180" y="2212848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Helvetica Neue"/>
              </a:rPr>
              <a:t>GAP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985248" y="1810512"/>
            <a:ext cx="2167128" cy="347472"/>
          </a:xfrm>
          <a:prstGeom prst="rect">
            <a:avLst/>
          </a:prstGeom>
          <a:solidFill>
            <a:srgbClr val="0F1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985248" y="1810512"/>
            <a:ext cx="216712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Helvetica Neue"/>
              </a:rPr>
              <a:t>05 DELIVERY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520172" y="2212848"/>
            <a:ext cx="1097280" cy="182880"/>
          </a:xfrm>
          <a:prstGeom prst="roundRect">
            <a:avLst/>
          </a:prstGeom>
          <a:solidFill>
            <a:srgbClr val="BC4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520172" y="2212848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Helvetica Neue"/>
              </a:rPr>
              <a:t>GAP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2450592"/>
            <a:ext cx="594360" cy="493776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2450592"/>
            <a:ext cx="59436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FFFFFF"/>
                </a:solidFill>
                <a:latin typeface="Helvetica Neue"/>
              </a:rPr>
              <a:t>CHANNELS  ·  HOW IT ARRIVES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97280" y="2450592"/>
            <a:ext cx="2167128" cy="493776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88720" y="2496312"/>
            <a:ext cx="198424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EMAILS only — from business AND from vendor; no ticketing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319272" y="2450592"/>
            <a:ext cx="2167128" cy="493776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410712" y="2496312"/>
            <a:ext cx="198424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Ad-hoc by demand nature; depends on upgrade type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541264" y="2450592"/>
            <a:ext cx="2167128" cy="493776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632704" y="2496312"/>
            <a:ext cx="198424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G&amp;E Champion's internal call — operational = urgent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63256" y="2450592"/>
            <a:ext cx="2167128" cy="493776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854696" y="2496312"/>
            <a:ext cx="198424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Vendor sets its own timeline; upgrades need budget/time eval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985248" y="2450592"/>
            <a:ext cx="2167128" cy="493776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76688" y="2496312"/>
            <a:ext cx="198424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Vendor-led delivery; competing priorities without triage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2980944"/>
            <a:ext cx="594360" cy="493776"/>
          </a:xfrm>
          <a:prstGeom prst="rect">
            <a:avLst/>
          </a:prstGeom>
          <a:solidFill>
            <a:srgbClr val="6785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7200" y="2980944"/>
            <a:ext cx="59436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FFFFFF"/>
                </a:solidFill>
                <a:latin typeface="Helvetica Neue"/>
              </a:rPr>
              <a:t>ROLES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97280" y="2980944"/>
            <a:ext cx="2167128" cy="493776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88720" y="3026664"/>
            <a:ext cx="198424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Business + vendor send email → G&amp;E Champion receives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319272" y="2980944"/>
            <a:ext cx="2167128" cy="493776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410712" y="3026664"/>
            <a:ext cx="198424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G&amp;E Champion alone classifies — no second reviewer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541264" y="2980944"/>
            <a:ext cx="2167128" cy="493776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632704" y="3026664"/>
            <a:ext cx="198424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G&amp;E Champion prioritizes; cyber / legal / third-party weighted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763256" y="2980944"/>
            <a:ext cx="2167128" cy="493776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854696" y="3026664"/>
            <a:ext cx="198424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Vendor owns timeline; G&amp;E Champion tracks manually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985248" y="2980944"/>
            <a:ext cx="2167128" cy="493776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076688" y="3026664"/>
            <a:ext cx="198424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Vendor + G&amp;E Champion; no internal release role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57200" y="3511296"/>
            <a:ext cx="594360" cy="493776"/>
          </a:xfrm>
          <a:prstGeom prst="rect">
            <a:avLst/>
          </a:prstGeom>
          <a:solidFill>
            <a:srgbClr val="0F1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57200" y="3511296"/>
            <a:ext cx="59436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FFFFFF"/>
                </a:solidFill>
                <a:latin typeface="Helvetica Neue"/>
              </a:rPr>
              <a:t>TOOLS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097280" y="3511296"/>
            <a:ext cx="2167128" cy="493776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188720" y="3557016"/>
            <a:ext cx="198424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Email (Outlook) — no Jira, no IT-Now, no RITM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319272" y="3511296"/>
            <a:ext cx="2167128" cy="493776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410712" y="3557016"/>
            <a:ext cx="198424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Email threads as the classification evidence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541264" y="3511296"/>
            <a:ext cx="2167128" cy="493776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632704" y="3557016"/>
            <a:ext cx="198424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No scoring tool — judgment call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763256" y="3511296"/>
            <a:ext cx="2167128" cy="493776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854696" y="3557016"/>
            <a:ext cx="198424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No portfolio tool in use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985248" y="3511296"/>
            <a:ext cx="2167128" cy="493776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076688" y="3557016"/>
            <a:ext cx="198424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No delivery tooling — vendor runs its own stack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57200" y="4041648"/>
            <a:ext cx="594360" cy="493776"/>
          </a:xfrm>
          <a:prstGeom prst="rect">
            <a:avLst/>
          </a:prstGeom>
          <a:solidFill>
            <a:srgbClr val="BC4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57200" y="4041648"/>
            <a:ext cx="59436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FFFFFF"/>
                </a:solidFill>
                <a:latin typeface="Helvetica Neue"/>
              </a:rPr>
              <a:t>GOVERNANCE  &amp;  METRICS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097280" y="4041648"/>
            <a:ext cx="2167128" cy="493776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188720" y="4087368"/>
            <a:ext cx="198424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Zero digital trail; volumes unknown; single-person dependency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319272" y="4041648"/>
            <a:ext cx="2167128" cy="493776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410712" y="4087368"/>
            <a:ext cx="198424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No written rule; no audit trail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541264" y="4041648"/>
            <a:ext cx="2167128" cy="493776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632704" y="4087368"/>
            <a:ext cx="198424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Key-person risk — G&amp;E Champion = only router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763256" y="4041648"/>
            <a:ext cx="2167128" cy="493776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854696" y="4087368"/>
            <a:ext cx="198424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Third-Party Risk gates upgrades; interface is slow</a:t>
            </a:r>
          </a:p>
        </p:txBody>
      </p:sp>
      <p:sp>
        <p:nvSpPr>
          <p:cNvPr id="75" name="Rectangle 74"/>
          <p:cNvSpPr/>
          <p:nvPr/>
        </p:nvSpPr>
        <p:spPr>
          <a:xfrm>
            <a:off x="9985248" y="4041648"/>
            <a:ext cx="2167128" cy="493776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0076688" y="4087368"/>
            <a:ext cx="198424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Budget / time tension on every upgrade; no KPIs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57200" y="4645152"/>
            <a:ext cx="11274552" cy="1298448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457200" y="4645152"/>
            <a:ext cx="73152" cy="1298448"/>
          </a:xfrm>
          <a:prstGeom prst="rect">
            <a:avLst/>
          </a:prstGeom>
          <a:solidFill>
            <a:srgbClr val="0F1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40080" y="4690872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F1C50"/>
                </a:solidFill>
                <a:latin typeface="Helvetica Neue"/>
              </a:rPr>
              <a:t>KEY PATTERNS  —  WHAT THE FINDINGS REVEAL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400800" y="4690872"/>
            <a:ext cx="5166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BC4328"/>
                </a:solidFill>
                <a:latin typeface="Helvetica Neue"/>
              </a:rPr>
              <a:t>SUPPORTING QUOTE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400800" y="4937760"/>
            <a:ext cx="5166360" cy="932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2C3E50"/>
                </a:solidFill>
                <a:latin typeface="Helvetica Neue"/>
              </a:rPr>
              <a:t>"I receive requests/input from the business or from the vendor" — G&amp;E Champion (Tech Lead, 70-90 apps) (via email)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40080" y="4937760"/>
            <a:ext cx="5486400" cy="932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▸  Vendor-led model creates structural dependency: Avangrid cannot estimate or schedule its own work — budget/timeline are exogenous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▸  Third-party risk assessments add hidden lead time — upgrades routinely stall at this interface, invisible in any tracking system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▸  Single-person routing (G&amp;E Champion) is a key-person risk — zero redundancy, zero documentation, zero auditability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57200" y="5989320"/>
            <a:ext cx="11274552" cy="502920"/>
          </a:xfrm>
          <a:prstGeom prst="rect">
            <a:avLst/>
          </a:prstGeom>
          <a:solidFill>
            <a:srgbClr val="BC4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85800" y="6035040"/>
            <a:ext cx="10817352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Helvetica Neue"/>
              </a:rPr>
              <a:t>G&amp;E is the canary of intake fragmentation — zero digital trail, every decision is individual and unreproducible; must be the first area addressed in the TOM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9144000" y="6565392"/>
            <a:ext cx="258775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5A5A6"/>
                </a:solidFill>
                <a:latin typeface="Helvetica Neue"/>
              </a:rPr>
              <a:t>Drill-down: G&amp;E / Electric &amp; Gas Operations  |  16 / 28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457200" y="73152"/>
            <a:ext cx="1848612" cy="201168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457200" y="73152"/>
            <a:ext cx="184861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95A5A6"/>
                </a:solidFill>
                <a:latin typeface="Helvetica Neue"/>
              </a:rPr>
              <a:t>01 · EXECUTIVE SUMMARY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2342388" y="73152"/>
            <a:ext cx="1848612" cy="201168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2342388" y="73152"/>
            <a:ext cx="184861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95A5A6"/>
                </a:solidFill>
                <a:latin typeface="Helvetica Neue"/>
              </a:rPr>
              <a:t>02 · ORGANIZATION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4227576" y="73152"/>
            <a:ext cx="1848612" cy="201168"/>
          </a:xfrm>
          <a:prstGeom prst="roundRect">
            <a:avLst/>
          </a:prstGeom>
          <a:solidFill>
            <a:srgbClr val="0F1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4227576" y="73152"/>
            <a:ext cx="184861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FFFFFF"/>
                </a:solidFill>
                <a:latin typeface="Helvetica Neue"/>
              </a:rPr>
              <a:t>03 · DEMAND FLOW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6112764" y="73152"/>
            <a:ext cx="1848612" cy="201168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6112764" y="73152"/>
            <a:ext cx="184861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95A5A6"/>
                </a:solidFill>
                <a:latin typeface="Helvetica Neue"/>
              </a:rPr>
              <a:t>04 · CAPACITY &amp; PORTFOLIO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7997952" y="73152"/>
            <a:ext cx="1848612" cy="201168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7997952" y="73152"/>
            <a:ext cx="184861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95A5A6"/>
                </a:solidFill>
                <a:latin typeface="Helvetica Neue"/>
              </a:rPr>
              <a:t>05 · PAIN POINTS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9883140" y="73152"/>
            <a:ext cx="1848612" cy="201168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9883140" y="73152"/>
            <a:ext cx="184861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95A5A6"/>
                </a:solidFill>
                <a:latin typeface="Helvetica Neue"/>
              </a:rPr>
              <a:t>06 · INSIGHTS &amp; TOM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455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F1C50"/>
                </a:solidFill>
                <a:latin typeface="Helvetica Neue"/>
              </a:rPr>
              <a:t>Global SAP — Iberdrola has the most mature channel taxonomy — but is trapped by incident overload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274552" cy="13716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70432"/>
            <a:ext cx="1127455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6785C1"/>
                </a:solidFill>
                <a:latin typeface="Helvetica Neue"/>
              </a:rPr>
              <a:t>Global SAP — Iberdrola environment (Spain) — led by Manager IT Apps Global SAP, covering FI, PO, Budget control  ·  Champion: Global SAP Tech Lead (35 yrs in business, now IT)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26464"/>
            <a:ext cx="11274552" cy="274320"/>
          </a:xfrm>
          <a:prstGeom prst="rect">
            <a:avLst/>
          </a:prstGeom>
          <a:solidFill>
            <a:srgbClr val="0F1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26464"/>
            <a:ext cx="1828800" cy="274320"/>
          </a:xfrm>
          <a:prstGeom prst="rect">
            <a:avLst/>
          </a:prstGeom>
          <a:solidFill>
            <a:srgbClr val="BC4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26464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Helvetica Neue"/>
              </a:rPr>
              <a:t>BUSINESS REQUESTERS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1426464"/>
            <a:ext cx="92811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Helvetica Neue"/>
              </a:rPr>
              <a:t>Iberdrola Corporate Finance · Controlling &amp; Budget · Procurement / PO · Accounts Payable · Treasury · Accenture (support partner) · Avangrid Finance (US consolidation)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1810512"/>
            <a:ext cx="2167128" cy="347472"/>
          </a:xfrm>
          <a:prstGeom prst="rect">
            <a:avLst/>
          </a:prstGeom>
          <a:solidFill>
            <a:srgbClr val="0F1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1810512"/>
            <a:ext cx="216712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Helvetica Neue"/>
              </a:rPr>
              <a:t>01 INTAKE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32204" y="2212848"/>
            <a:ext cx="1097280" cy="18288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32204" y="2212848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Helvetica Neue"/>
              </a:rPr>
              <a:t>OK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19272" y="1810512"/>
            <a:ext cx="2167128" cy="347472"/>
          </a:xfrm>
          <a:prstGeom prst="rect">
            <a:avLst/>
          </a:prstGeom>
          <a:solidFill>
            <a:srgbClr val="0F1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19272" y="1810512"/>
            <a:ext cx="216712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Helvetica Neue"/>
              </a:rPr>
              <a:t>02 CLASSIFICATION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54196" y="2212848"/>
            <a:ext cx="1097280" cy="18288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54196" y="2212848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Helvetica Neue"/>
              </a:rPr>
              <a:t>OK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541264" y="1810512"/>
            <a:ext cx="2167128" cy="347472"/>
          </a:xfrm>
          <a:prstGeom prst="rect">
            <a:avLst/>
          </a:prstGeom>
          <a:solidFill>
            <a:srgbClr val="0F1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541264" y="1810512"/>
            <a:ext cx="216712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Helvetica Neue"/>
              </a:rPr>
              <a:t>03 PRIORITIZATION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76188" y="2212848"/>
            <a:ext cx="1097280" cy="182880"/>
          </a:xfrm>
          <a:prstGeom prst="roundRect">
            <a:avLst/>
          </a:prstGeom>
          <a:solidFill>
            <a:srgbClr val="BC4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76188" y="2212848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Helvetica Neue"/>
              </a:rPr>
              <a:t>GAP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63256" y="1810512"/>
            <a:ext cx="2167128" cy="347472"/>
          </a:xfrm>
          <a:prstGeom prst="rect">
            <a:avLst/>
          </a:prstGeom>
          <a:solidFill>
            <a:srgbClr val="0F1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63256" y="1810512"/>
            <a:ext cx="216712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Helvetica Neue"/>
              </a:rPr>
              <a:t>04 PORTFOLIO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98180" y="2212848"/>
            <a:ext cx="1097280" cy="182880"/>
          </a:xfrm>
          <a:prstGeom prst="roundRect">
            <a:avLst/>
          </a:prstGeom>
          <a:solidFill>
            <a:srgbClr val="F9A8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98180" y="2212848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Helvetica Neue"/>
              </a:rPr>
              <a:t>PARTIAL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985248" y="1810512"/>
            <a:ext cx="2167128" cy="347472"/>
          </a:xfrm>
          <a:prstGeom prst="rect">
            <a:avLst/>
          </a:prstGeom>
          <a:solidFill>
            <a:srgbClr val="0F1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985248" y="1810512"/>
            <a:ext cx="216712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Helvetica Neue"/>
              </a:rPr>
              <a:t>05 DELIVERY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520172" y="2212848"/>
            <a:ext cx="1097280" cy="182880"/>
          </a:xfrm>
          <a:prstGeom prst="roundRect">
            <a:avLst/>
          </a:prstGeom>
          <a:solidFill>
            <a:srgbClr val="F9A8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520172" y="2212848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Helvetica Neue"/>
              </a:rPr>
              <a:t>PARTIAL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2450592"/>
            <a:ext cx="594360" cy="493776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2450592"/>
            <a:ext cx="59436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FFFFFF"/>
                </a:solidFill>
                <a:latin typeface="Helvetica Neue"/>
              </a:rPr>
              <a:t>CHANNELS  ·  HOW IT ARRIVES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97280" y="2450592"/>
            <a:ext cx="2167128" cy="493776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88720" y="2496312"/>
            <a:ext cx="198424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IT Now (Incidents) · RITM (Minor) · Jira (Small Demands) · SharePoint + Teams (Projects)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319272" y="2450592"/>
            <a:ext cx="2167128" cy="493776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410712" y="2496312"/>
            <a:ext cx="198424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Incidents→IT NOW · Small→JIRA · Minor→RITM · Major→SharePoint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541264" y="2450592"/>
            <a:ext cx="2167128" cy="493776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632704" y="2496312"/>
            <a:ext cx="198424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#1 Incidents always first; #2 Small + Major; P&amp;T prioritizes projects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63256" y="2450592"/>
            <a:ext cx="2167128" cy="493776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854696" y="2496312"/>
            <a:ext cx="198424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PDD for major projects; SharePoint is project home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985248" y="2450592"/>
            <a:ext cx="2167128" cy="493776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76688" y="2496312"/>
            <a:ext cx="198424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Accenture + SWF (Software Factory) run delivery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2980944"/>
            <a:ext cx="594360" cy="493776"/>
          </a:xfrm>
          <a:prstGeom prst="rect">
            <a:avLst/>
          </a:prstGeom>
          <a:solidFill>
            <a:srgbClr val="6785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7200" y="2980944"/>
            <a:ext cx="59436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FFFFFF"/>
                </a:solidFill>
                <a:latin typeface="Helvetica Neue"/>
              </a:rPr>
              <a:t>ROLES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97280" y="2980944"/>
            <a:ext cx="2167128" cy="493776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88720" y="3026664"/>
            <a:ext cx="198424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Business / Accenture open tickets; Global SAP Manager's 5-FTE team receives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319272" y="2980944"/>
            <a:ext cx="2167128" cy="493776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410712" y="3026664"/>
            <a:ext cx="198424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Classification is tool-driven — channel = class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541264" y="2980944"/>
            <a:ext cx="2167128" cy="493776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632704" y="3026664"/>
            <a:ext cx="198424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Global SAP Champion + leadership call incidents first; P&amp;T helps with projects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763256" y="2980944"/>
            <a:ext cx="2167128" cy="493776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854696" y="3026664"/>
            <a:ext cx="198424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Global SAP Champion owns weekly incident review (Thursday, with Accenture)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985248" y="2980944"/>
            <a:ext cx="2167128" cy="493776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076688" y="3026664"/>
            <a:ext cx="198424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Accenture = incidents; SWF = projects; P&amp;T = intermediary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57200" y="3511296"/>
            <a:ext cx="594360" cy="493776"/>
          </a:xfrm>
          <a:prstGeom prst="rect">
            <a:avLst/>
          </a:prstGeom>
          <a:solidFill>
            <a:srgbClr val="0F1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57200" y="3511296"/>
            <a:ext cx="59436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FFFFFF"/>
                </a:solidFill>
                <a:latin typeface="Helvetica Neue"/>
              </a:rPr>
              <a:t>TOOLS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097280" y="3511296"/>
            <a:ext cx="2167128" cy="493776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188720" y="3557016"/>
            <a:ext cx="198424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IT Now · IT Now RITM · Jira · SharePoint · Teams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319272" y="3511296"/>
            <a:ext cx="2167128" cy="493776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410712" y="3557016"/>
            <a:ext cx="198424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IT Now + Jira + SharePoint (by channel)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541264" y="3511296"/>
            <a:ext cx="2167128" cy="493776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632704" y="3557016"/>
            <a:ext cx="198424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No scoring tool — incidents-first rule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763256" y="3511296"/>
            <a:ext cx="2167128" cy="493776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854696" y="3557016"/>
            <a:ext cx="198424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SharePoint (projects) + PDD (approval) + Thursday incident meeting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985248" y="3511296"/>
            <a:ext cx="2167128" cy="493776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076688" y="3557016"/>
            <a:ext cx="198424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Accenture's delivery stack + SWF pipeline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57200" y="4041648"/>
            <a:ext cx="594360" cy="493776"/>
          </a:xfrm>
          <a:prstGeom prst="rect">
            <a:avLst/>
          </a:prstGeom>
          <a:solidFill>
            <a:srgbClr val="BC4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57200" y="4041648"/>
            <a:ext cx="59436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FFFFFF"/>
                </a:solidFill>
                <a:latin typeface="Helvetica Neue"/>
              </a:rPr>
              <a:t>GOVERNANCE  &amp;  METRICS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097280" y="4041648"/>
            <a:ext cx="2167128" cy="493776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188720" y="4087368"/>
            <a:ext cx="198424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Strongest channel taxonomy in the org — but tuned for incidents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319272" y="4041648"/>
            <a:ext cx="2167128" cy="493776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410712" y="4087368"/>
            <a:ext cx="198424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Channel taxonomy = de-facto classification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541264" y="4041648"/>
            <a:ext cx="2167128" cy="493776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632704" y="4087368"/>
            <a:ext cx="198424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Incident volume caps strategic capacity ("entire team on incidents")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763256" y="4041648"/>
            <a:ext cx="2167128" cy="493776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854696" y="4087368"/>
            <a:ext cx="198424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Weekly Accenture incident review governs incidents; projects via PDD</a:t>
            </a:r>
          </a:p>
        </p:txBody>
      </p:sp>
      <p:sp>
        <p:nvSpPr>
          <p:cNvPr id="75" name="Rectangle 74"/>
          <p:cNvSpPr/>
          <p:nvPr/>
        </p:nvSpPr>
        <p:spPr>
          <a:xfrm>
            <a:off x="9985248" y="4041648"/>
            <a:ext cx="2167128" cy="493776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0076688" y="4087368"/>
            <a:ext cx="198424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Knowledge transfer loss at every turnover — 1-year hiring lag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57200" y="4645152"/>
            <a:ext cx="11274552" cy="1298448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457200" y="4645152"/>
            <a:ext cx="73152" cy="1298448"/>
          </a:xfrm>
          <a:prstGeom prst="rect">
            <a:avLst/>
          </a:prstGeom>
          <a:solidFill>
            <a:srgbClr val="0F1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40080" y="4690872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F1C50"/>
                </a:solidFill>
                <a:latin typeface="Helvetica Neue"/>
              </a:rPr>
              <a:t>KEY PATTERNS  —  WHAT THE FINDINGS REVEAL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400800" y="4690872"/>
            <a:ext cx="5166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BC4328"/>
                </a:solidFill>
                <a:latin typeface="Helvetica Neue"/>
              </a:rPr>
              <a:t>SUPPORTING QUOTE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400800" y="4937760"/>
            <a:ext cx="5166360" cy="932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2C3E50"/>
                </a:solidFill>
                <a:latin typeface="Helvetica Neue"/>
              </a:rPr>
              <a:t>"Balance all the demands: Incidents, Small Demands, Major projects (PDD). Limited resources — 1 year to hire someone" — Global SAP Champion (Tech Lead)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40080" y="4937760"/>
            <a:ext cx="5486400" cy="932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▸  Channel taxonomy is the strongest in the organization — but it was designed around incidents, not strategic demand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▸  Incidents-first rule means strategic work enters a de-facto waiting queue — hiring lag (1 year) keeps the queue deep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▸  Accenture + SWF dependency is the hidden scaling mechanism — cost and knowledge concentrate outside Avangrid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57200" y="5989320"/>
            <a:ext cx="11274552" cy="502920"/>
          </a:xfrm>
          <a:prstGeom prst="rect">
            <a:avLst/>
          </a:prstGeom>
          <a:solidFill>
            <a:srgbClr val="BC4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85800" y="6035040"/>
            <a:ext cx="10817352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Helvetica Neue"/>
              </a:rPr>
              <a:t>Global SAP's channel taxonomy is the closest to a target state — but the incident flood caps strategic capacity; reducing incident load is the leverage point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9144000" y="6565392"/>
            <a:ext cx="258775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5A5A6"/>
                </a:solidFill>
                <a:latin typeface="Helvetica Neue"/>
              </a:rPr>
              <a:t>Drill-down: Global SAP — Iberdrola (Spain)  |  17 / 28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457200" y="73152"/>
            <a:ext cx="1848612" cy="201168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457200" y="73152"/>
            <a:ext cx="184861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95A5A6"/>
                </a:solidFill>
                <a:latin typeface="Helvetica Neue"/>
              </a:rPr>
              <a:t>01 · EXECUTIVE SUMMARY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2342388" y="73152"/>
            <a:ext cx="1848612" cy="201168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2342388" y="73152"/>
            <a:ext cx="184861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95A5A6"/>
                </a:solidFill>
                <a:latin typeface="Helvetica Neue"/>
              </a:rPr>
              <a:t>02 · ORGANIZATION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4227576" y="73152"/>
            <a:ext cx="1848612" cy="201168"/>
          </a:xfrm>
          <a:prstGeom prst="roundRect">
            <a:avLst/>
          </a:prstGeom>
          <a:solidFill>
            <a:srgbClr val="0F1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4227576" y="73152"/>
            <a:ext cx="184861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FFFFFF"/>
                </a:solidFill>
                <a:latin typeface="Helvetica Neue"/>
              </a:rPr>
              <a:t>03 · DEMAND FLOW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6112764" y="73152"/>
            <a:ext cx="1848612" cy="201168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6112764" y="73152"/>
            <a:ext cx="184861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95A5A6"/>
                </a:solidFill>
                <a:latin typeface="Helvetica Neue"/>
              </a:rPr>
              <a:t>04 · CAPACITY &amp; PORTFOLIO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7997952" y="73152"/>
            <a:ext cx="1848612" cy="201168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7997952" y="73152"/>
            <a:ext cx="184861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95A5A6"/>
                </a:solidFill>
                <a:latin typeface="Helvetica Neue"/>
              </a:rPr>
              <a:t>05 · PAIN POINTS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9883140" y="73152"/>
            <a:ext cx="1848612" cy="201168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9883140" y="73152"/>
            <a:ext cx="184861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95A5A6"/>
                </a:solidFill>
                <a:latin typeface="Helvetica Neue"/>
              </a:rPr>
              <a:t>06 · INSIGHTS &amp; TOM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455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F1C50"/>
                </a:solidFill>
                <a:latin typeface="Helvetica Neue"/>
              </a:rPr>
              <a:t>Smart Metering is the only area fully vendor-delivered with PPM Now + Confluence — but relies on "intrinsic common sense" for prioritization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274552" cy="13716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70432"/>
            <a:ext cx="1127455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6785C1"/>
                </a:solidFill>
                <a:latin typeface="Helvetica Neue"/>
              </a:rPr>
              <a:t>Smart Metering — sub-scope within Device &amp; Metering (led by Sr. Manager / Device &amp; Metering, Customer Services branch)  ·  Champion: Smart Metering PM (works with Corporate Apps Manager + G&amp;E team)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26464"/>
            <a:ext cx="11274552" cy="274320"/>
          </a:xfrm>
          <a:prstGeom prst="rect">
            <a:avLst/>
          </a:prstGeom>
          <a:solidFill>
            <a:srgbClr val="0F1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26464"/>
            <a:ext cx="1828800" cy="274320"/>
          </a:xfrm>
          <a:prstGeom prst="rect">
            <a:avLst/>
          </a:prstGeom>
          <a:solidFill>
            <a:srgbClr val="BC4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26464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Helvetica Neue"/>
              </a:rPr>
              <a:t>BUSINESS REQUESTERS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1426464"/>
            <a:ext cx="92811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Helvetica Neue"/>
              </a:rPr>
              <a:t>Customer Operations · Field Services (meter installers) · Billing &amp; Collections · Grid Ops · BRS UIL / CMP / NY (regional business/regulatory groups) · Vendors (primary delivery partner)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1810512"/>
            <a:ext cx="2167128" cy="347472"/>
          </a:xfrm>
          <a:prstGeom prst="rect">
            <a:avLst/>
          </a:prstGeom>
          <a:solidFill>
            <a:srgbClr val="0F1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1810512"/>
            <a:ext cx="216712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Helvetica Neue"/>
              </a:rPr>
              <a:t>01 INTAKE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32204" y="2212848"/>
            <a:ext cx="1097280" cy="182880"/>
          </a:xfrm>
          <a:prstGeom prst="roundRect">
            <a:avLst/>
          </a:prstGeom>
          <a:solidFill>
            <a:srgbClr val="F9A8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32204" y="2212848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Helvetica Neue"/>
              </a:rPr>
              <a:t>PARTIAL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19272" y="1810512"/>
            <a:ext cx="2167128" cy="347472"/>
          </a:xfrm>
          <a:prstGeom prst="rect">
            <a:avLst/>
          </a:prstGeom>
          <a:solidFill>
            <a:srgbClr val="0F1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19272" y="1810512"/>
            <a:ext cx="216712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Helvetica Neue"/>
              </a:rPr>
              <a:t>02 CLASSIFICATION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54196" y="2212848"/>
            <a:ext cx="1097280" cy="18288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54196" y="2212848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Helvetica Neue"/>
              </a:rPr>
              <a:t>OK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541264" y="1810512"/>
            <a:ext cx="2167128" cy="347472"/>
          </a:xfrm>
          <a:prstGeom prst="rect">
            <a:avLst/>
          </a:prstGeom>
          <a:solidFill>
            <a:srgbClr val="0F1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541264" y="1810512"/>
            <a:ext cx="216712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Helvetica Neue"/>
              </a:rPr>
              <a:t>03 PRIORITIZATION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76188" y="2212848"/>
            <a:ext cx="1097280" cy="182880"/>
          </a:xfrm>
          <a:prstGeom prst="roundRect">
            <a:avLst/>
          </a:prstGeom>
          <a:solidFill>
            <a:srgbClr val="F9A8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76188" y="2212848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Helvetica Neue"/>
              </a:rPr>
              <a:t>PARTIAL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63256" y="1810512"/>
            <a:ext cx="2167128" cy="347472"/>
          </a:xfrm>
          <a:prstGeom prst="rect">
            <a:avLst/>
          </a:prstGeom>
          <a:solidFill>
            <a:srgbClr val="0F1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63256" y="1810512"/>
            <a:ext cx="216712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Helvetica Neue"/>
              </a:rPr>
              <a:t>04 PORTFOLIO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98180" y="2212848"/>
            <a:ext cx="1097280" cy="18288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98180" y="2212848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Helvetica Neue"/>
              </a:rPr>
              <a:t>OK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985248" y="1810512"/>
            <a:ext cx="2167128" cy="347472"/>
          </a:xfrm>
          <a:prstGeom prst="rect">
            <a:avLst/>
          </a:prstGeom>
          <a:solidFill>
            <a:srgbClr val="0F1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985248" y="1810512"/>
            <a:ext cx="216712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Helvetica Neue"/>
              </a:rPr>
              <a:t>05 DELIVERY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520172" y="2212848"/>
            <a:ext cx="1097280" cy="182880"/>
          </a:xfrm>
          <a:prstGeom prst="roundRect">
            <a:avLst/>
          </a:prstGeom>
          <a:solidFill>
            <a:srgbClr val="BC4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520172" y="2212848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Helvetica Neue"/>
              </a:rPr>
              <a:t>GAP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2450592"/>
            <a:ext cx="594360" cy="493776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2450592"/>
            <a:ext cx="59436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FFFFFF"/>
                </a:solidFill>
                <a:latin typeface="Helvetica Neue"/>
              </a:rPr>
              <a:t>CHANNELS  ·  HOW IT ARRIVES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97280" y="2450592"/>
            <a:ext cx="2167128" cy="493776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88720" y="2496312"/>
            <a:ext cx="198424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Small demands via email (IT Now); normal flow — not seasonal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319272" y="2450592"/>
            <a:ext cx="2167128" cy="493776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410712" y="2496312"/>
            <a:ext cx="198424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Incidents → IT Now template; requirements usually clear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541264" y="2450592"/>
            <a:ext cx="2167128" cy="493776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632704" y="2496312"/>
            <a:ext cx="198424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Criticality + deadline + application priority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63256" y="2450592"/>
            <a:ext cx="2167128" cy="493776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854696" y="2496312"/>
            <a:ext cx="198424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PPM Now (large) + Jira + Confluence (PM-to-PM)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985248" y="2450592"/>
            <a:ext cx="2167128" cy="493776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76688" y="2496312"/>
            <a:ext cx="198424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100% vendor-delivered portfolio — vendors = consultants + code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2980944"/>
            <a:ext cx="594360" cy="493776"/>
          </a:xfrm>
          <a:prstGeom prst="rect">
            <a:avLst/>
          </a:prstGeom>
          <a:solidFill>
            <a:srgbClr val="6785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7200" y="2980944"/>
            <a:ext cx="59436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FFFFFF"/>
                </a:solidFill>
                <a:latin typeface="Helvetica Neue"/>
              </a:rPr>
              <a:t>ROLES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97280" y="2980944"/>
            <a:ext cx="2167128" cy="493776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88720" y="3026664"/>
            <a:ext cx="198424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Business opens IT Now / email; Smart Metering Champion (PM) receives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319272" y="2980944"/>
            <a:ext cx="2167128" cy="493776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410712" y="3026664"/>
            <a:ext cx="198424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Smart Metering Champion + team classify by template; vendor tech lead joins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541264" y="2980944"/>
            <a:ext cx="2167128" cy="493776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632704" y="3026664"/>
            <a:ext cx="198424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Smart Metering Champion prioritizes on deadline + criticality — "intrinsic common sense"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763256" y="2980944"/>
            <a:ext cx="2167128" cy="493776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854696" y="3026664"/>
            <a:ext cx="198424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Smart Metering Champion + manager (weekly); vendor PMs help PMs prioritize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985248" y="2980944"/>
            <a:ext cx="2167128" cy="493776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076688" y="3026664"/>
            <a:ext cx="198424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Vendors do requirements AND code; Avangrid = product owner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57200" y="3511296"/>
            <a:ext cx="594360" cy="493776"/>
          </a:xfrm>
          <a:prstGeom prst="rect">
            <a:avLst/>
          </a:prstGeom>
          <a:solidFill>
            <a:srgbClr val="0F1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57200" y="3511296"/>
            <a:ext cx="59436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FFFFFF"/>
                </a:solidFill>
                <a:latin typeface="Helvetica Neue"/>
              </a:rPr>
              <a:t>TOOLS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097280" y="3511296"/>
            <a:ext cx="2167128" cy="493776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188720" y="3557016"/>
            <a:ext cx="198424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Email · IT Now (template) · occasional RITM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319272" y="3511296"/>
            <a:ext cx="2167128" cy="493776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410712" y="3557016"/>
            <a:ext cx="198424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IT Now template = primary classification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541264" y="3511296"/>
            <a:ext cx="2167128" cy="493776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632704" y="3557016"/>
            <a:ext cx="198424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No scoring tool — judgment + weekly cadence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763256" y="3511296"/>
            <a:ext cx="2167128" cy="493776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854696" y="3557016"/>
            <a:ext cx="198424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PPM Now + Confluence + Jira — most mature stack in scope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985248" y="3511296"/>
            <a:ext cx="2167128" cy="493776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076688" y="3557016"/>
            <a:ext cx="198424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Vendor stack for build; Confluence for portfolio documentation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57200" y="4041648"/>
            <a:ext cx="594360" cy="493776"/>
          </a:xfrm>
          <a:prstGeom prst="rect">
            <a:avLst/>
          </a:prstGeom>
          <a:solidFill>
            <a:srgbClr val="BC4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57200" y="4041648"/>
            <a:ext cx="59436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FFFFFF"/>
                </a:solidFill>
                <a:latin typeface="Helvetica Neue"/>
              </a:rPr>
              <a:t>GOVERNANCE  &amp;  METRICS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097280" y="4041648"/>
            <a:ext cx="2167128" cy="493776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188720" y="4087368"/>
            <a:ext cx="198424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Volumes OK (not seasonal); "usually no urgent requests"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319272" y="4041648"/>
            <a:ext cx="2167128" cy="493776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410712" y="4087368"/>
            <a:ext cx="198424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Template-based → consistent, but no cross-team view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541264" y="4041648"/>
            <a:ext cx="2167128" cy="493776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632704" y="4087368"/>
            <a:ext cx="198424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"Intrinsic common sense" = tribal knowledge risk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763256" y="4041648"/>
            <a:ext cx="2167128" cy="493776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854696" y="4087368"/>
            <a:ext cx="198424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Weekly meeting governs; PPM Now = only portfolio instance in CS branch</a:t>
            </a:r>
          </a:p>
        </p:txBody>
      </p:sp>
      <p:sp>
        <p:nvSpPr>
          <p:cNvPr id="75" name="Rectangle 74"/>
          <p:cNvSpPr/>
          <p:nvPr/>
        </p:nvSpPr>
        <p:spPr>
          <a:xfrm>
            <a:off x="9985248" y="4041648"/>
            <a:ext cx="2167128" cy="493776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0076688" y="4087368"/>
            <a:ext cx="198424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If vendor exits, execution knowledge is lost — 100% dependency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57200" y="4645152"/>
            <a:ext cx="11274552" cy="1298448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457200" y="4645152"/>
            <a:ext cx="73152" cy="1298448"/>
          </a:xfrm>
          <a:prstGeom prst="rect">
            <a:avLst/>
          </a:prstGeom>
          <a:solidFill>
            <a:srgbClr val="0F1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40080" y="4690872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F1C50"/>
                </a:solidFill>
                <a:latin typeface="Helvetica Neue"/>
              </a:rPr>
              <a:t>KEY PATTERNS  —  WHAT THE FINDINGS REVEAL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400800" y="4690872"/>
            <a:ext cx="5166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BC4328"/>
                </a:solidFill>
                <a:latin typeface="Helvetica Neue"/>
              </a:rPr>
              <a:t>SUPPORTING QUOTE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400800" y="4937760"/>
            <a:ext cx="5166360" cy="932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2C3E50"/>
                </a:solidFill>
                <a:latin typeface="Helvetica Neue"/>
              </a:rPr>
              <a:t>"All portfolio in vendor. Vendors are the consultants for the work — getting requirements on tech side, steps to follow and do the code also — all custom applications" — Smart Metering Champion (PM)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40080" y="4937760"/>
            <a:ext cx="5486400" cy="932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▸  Only area using PPM Now + Confluence — the stack is right, but it exists as one-team exception rather than branch standard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▸  100% vendor delivery (requirements + code) means Avangrid owns no execution knowledge — if the vendor exits, everything stops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▸  "Intrinsic common sense" for prioritization signals tribal knowledge — works at current scale, fails on leadership transition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57200" y="5989320"/>
            <a:ext cx="11274552" cy="502920"/>
          </a:xfrm>
          <a:prstGeom prst="rect">
            <a:avLst/>
          </a:prstGeom>
          <a:solidFill>
            <a:srgbClr val="BC4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85800" y="6035040"/>
            <a:ext cx="10817352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Helvetica Neue"/>
              </a:rPr>
              <a:t>Smart Metering is the most tool-mature area — but full vendor dependency and intuitive prioritization create knowledge and governance risk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9144000" y="6565392"/>
            <a:ext cx="258775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5A5A6"/>
                </a:solidFill>
                <a:latin typeface="Helvetica Neue"/>
              </a:rPr>
              <a:t>Drill-down: Smart Metering — Avangrid (US)  |  18 / 28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457200" y="73152"/>
            <a:ext cx="1848612" cy="201168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457200" y="73152"/>
            <a:ext cx="184861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95A5A6"/>
                </a:solidFill>
                <a:latin typeface="Helvetica Neue"/>
              </a:rPr>
              <a:t>01 · EXECUTIVE SUMMARY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2342388" y="73152"/>
            <a:ext cx="1848612" cy="201168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2342388" y="73152"/>
            <a:ext cx="184861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95A5A6"/>
                </a:solidFill>
                <a:latin typeface="Helvetica Neue"/>
              </a:rPr>
              <a:t>02 · ORGANIZATION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4227576" y="73152"/>
            <a:ext cx="1848612" cy="201168"/>
          </a:xfrm>
          <a:prstGeom prst="roundRect">
            <a:avLst/>
          </a:prstGeom>
          <a:solidFill>
            <a:srgbClr val="0F1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4227576" y="73152"/>
            <a:ext cx="184861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FFFFFF"/>
                </a:solidFill>
                <a:latin typeface="Helvetica Neue"/>
              </a:rPr>
              <a:t>03 · DEMAND FLOW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6112764" y="73152"/>
            <a:ext cx="1848612" cy="201168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6112764" y="73152"/>
            <a:ext cx="184861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95A5A6"/>
                </a:solidFill>
                <a:latin typeface="Helvetica Neue"/>
              </a:rPr>
              <a:t>04 · CAPACITY &amp; PORTFOLIO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7997952" y="73152"/>
            <a:ext cx="1848612" cy="201168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7997952" y="73152"/>
            <a:ext cx="184861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95A5A6"/>
                </a:solidFill>
                <a:latin typeface="Helvetica Neue"/>
              </a:rPr>
              <a:t>05 · PAIN POINTS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9883140" y="73152"/>
            <a:ext cx="1848612" cy="201168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9883140" y="73152"/>
            <a:ext cx="184861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95A5A6"/>
                </a:solidFill>
                <a:latin typeface="Helvetica Neue"/>
              </a:rPr>
              <a:t>06 · INSIGHTS &amp; TOM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455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F1C50"/>
                </a:solidFill>
                <a:latin typeface="Helvetica Neue"/>
              </a:rPr>
              <a:t>Customer Services runs 5 sub-teams with heterogeneous maturity — only Smart Metering exhibits a mature portfolio practice; the rest route demand director-level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274552" cy="13716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70432"/>
            <a:ext cx="1127455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6785C1"/>
                </a:solidFill>
                <a:latin typeface="Helvetica Neue"/>
              </a:rPr>
              <a:t>Customer Services Apps — Director Customer Services Apps (Director) — 5 sub-teams: FICA/Billing, CRM &amp; Contact Center (vacant), Device &amp; Metering, SAP &amp; CS Architecture (vacant), SAP Basis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26464"/>
            <a:ext cx="11274552" cy="274320"/>
          </a:xfrm>
          <a:prstGeom prst="rect">
            <a:avLst/>
          </a:prstGeom>
          <a:solidFill>
            <a:srgbClr val="0F1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26464"/>
            <a:ext cx="1828800" cy="274320"/>
          </a:xfrm>
          <a:prstGeom prst="rect">
            <a:avLst/>
          </a:prstGeom>
          <a:solidFill>
            <a:srgbClr val="BC4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26464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Helvetica Neue"/>
              </a:rPr>
              <a:t>BUSINESS REQUESTERS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1426464"/>
            <a:ext cx="92811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Helvetica Neue"/>
              </a:rPr>
              <a:t>Customer Billing &amp; Collections · Contact Center · CRM operations · Credit &amp; Risk · BRS UIL (CT) · BRS CMP (ME) · BRS NY (New York) · Travis PMO · 7 OPCOs (via BRS)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1810512"/>
            <a:ext cx="2167128" cy="347472"/>
          </a:xfrm>
          <a:prstGeom prst="rect">
            <a:avLst/>
          </a:prstGeom>
          <a:solidFill>
            <a:srgbClr val="0F1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1810512"/>
            <a:ext cx="216712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Helvetica Neue"/>
              </a:rPr>
              <a:t>01 INTAKE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32204" y="2212848"/>
            <a:ext cx="1097280" cy="182880"/>
          </a:xfrm>
          <a:prstGeom prst="roundRect">
            <a:avLst/>
          </a:prstGeom>
          <a:solidFill>
            <a:srgbClr val="BC4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32204" y="2212848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Helvetica Neue"/>
              </a:rPr>
              <a:t>GAP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19272" y="1810512"/>
            <a:ext cx="2167128" cy="347472"/>
          </a:xfrm>
          <a:prstGeom prst="rect">
            <a:avLst/>
          </a:prstGeom>
          <a:solidFill>
            <a:srgbClr val="0F1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19272" y="1810512"/>
            <a:ext cx="216712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Helvetica Neue"/>
              </a:rPr>
              <a:t>02 CLASSIFICATION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54196" y="2212848"/>
            <a:ext cx="1097280" cy="182880"/>
          </a:xfrm>
          <a:prstGeom prst="roundRect">
            <a:avLst/>
          </a:prstGeom>
          <a:solidFill>
            <a:srgbClr val="F9A8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54196" y="2212848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Helvetica Neue"/>
              </a:rPr>
              <a:t>PARTIAL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541264" y="1810512"/>
            <a:ext cx="2167128" cy="347472"/>
          </a:xfrm>
          <a:prstGeom prst="rect">
            <a:avLst/>
          </a:prstGeom>
          <a:solidFill>
            <a:srgbClr val="0F1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541264" y="1810512"/>
            <a:ext cx="216712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Helvetica Neue"/>
              </a:rPr>
              <a:t>03 PRIORITIZATION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76188" y="2212848"/>
            <a:ext cx="1097280" cy="182880"/>
          </a:xfrm>
          <a:prstGeom prst="roundRect">
            <a:avLst/>
          </a:prstGeom>
          <a:solidFill>
            <a:srgbClr val="BC4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76188" y="2212848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Helvetica Neue"/>
              </a:rPr>
              <a:t>GAP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63256" y="1810512"/>
            <a:ext cx="2167128" cy="347472"/>
          </a:xfrm>
          <a:prstGeom prst="rect">
            <a:avLst/>
          </a:prstGeom>
          <a:solidFill>
            <a:srgbClr val="0F1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63256" y="1810512"/>
            <a:ext cx="216712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Helvetica Neue"/>
              </a:rPr>
              <a:t>04 PORTFOLIO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98180" y="2212848"/>
            <a:ext cx="1097280" cy="182880"/>
          </a:xfrm>
          <a:prstGeom prst="roundRect">
            <a:avLst/>
          </a:prstGeom>
          <a:solidFill>
            <a:srgbClr val="BC4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98180" y="2212848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Helvetica Neue"/>
              </a:rPr>
              <a:t>GAP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985248" y="1810512"/>
            <a:ext cx="2167128" cy="347472"/>
          </a:xfrm>
          <a:prstGeom prst="rect">
            <a:avLst/>
          </a:prstGeom>
          <a:solidFill>
            <a:srgbClr val="0F1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985248" y="1810512"/>
            <a:ext cx="216712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Helvetica Neue"/>
              </a:rPr>
              <a:t>05 DELIVERY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520172" y="2212848"/>
            <a:ext cx="1097280" cy="182880"/>
          </a:xfrm>
          <a:prstGeom prst="roundRect">
            <a:avLst/>
          </a:prstGeom>
          <a:solidFill>
            <a:srgbClr val="F9A8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520172" y="2212848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Helvetica Neue"/>
              </a:rPr>
              <a:t>PARTIAL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2450592"/>
            <a:ext cx="594360" cy="493776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2450592"/>
            <a:ext cx="59436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FFFFFF"/>
                </a:solidFill>
                <a:latin typeface="Helvetica Neue"/>
              </a:rPr>
              <a:t>CHANNELS  ·  HOW IT ARRIVES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97280" y="2450592"/>
            <a:ext cx="2167128" cy="493776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88720" y="2496312"/>
            <a:ext cx="198424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Email + IT Now (Metering); Jira (small-med); no shared branch channel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319272" y="2450592"/>
            <a:ext cx="2167128" cy="493776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410712" y="2496312"/>
            <a:ext cx="198424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Incidents→IT Now template; Large→Travis PMO; Small/Med→Jira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541264" y="2450592"/>
            <a:ext cx="2167128" cy="493776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632704" y="2496312"/>
            <a:ext cx="198424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Criticality + deadline (Metering); director-level calls elsewhere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63256" y="2450592"/>
            <a:ext cx="2167128" cy="493776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854696" y="2496312"/>
            <a:ext cx="198424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PPM Now (Metering only); no branch-wide tool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985248" y="2450592"/>
            <a:ext cx="2167128" cy="493776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76688" y="2496312"/>
            <a:ext cx="198424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SWF + Accenture + Vendors (100% in Metering)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2980944"/>
            <a:ext cx="594360" cy="493776"/>
          </a:xfrm>
          <a:prstGeom prst="rect">
            <a:avLst/>
          </a:prstGeom>
          <a:solidFill>
            <a:srgbClr val="6785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7200" y="2980944"/>
            <a:ext cx="59436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FFFFFF"/>
                </a:solidFill>
                <a:latin typeface="Helvetica Neue"/>
              </a:rPr>
              <a:t>ROLES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97280" y="2980944"/>
            <a:ext cx="2167128" cy="493776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88720" y="3026664"/>
            <a:ext cx="198424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Business / BRS / OPCOs open varied channels; 5 Sr. Managers (2 vacant) receive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319272" y="2980944"/>
            <a:ext cx="2167128" cy="493776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410712" y="3026664"/>
            <a:ext cx="198424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By sub-team (Metering/FICA/CRM/Basis); Travis PMO for large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541264" y="2980944"/>
            <a:ext cx="2167128" cy="493776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632704" y="3026664"/>
            <a:ext cx="198424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CS Director + sub-team managers; "intrinsic common sense" (Smart Metering Champion)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763256" y="2980944"/>
            <a:ext cx="2167128" cy="493776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854696" y="3026664"/>
            <a:ext cx="198424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Travis PMO (large) + sub-team managers (small); no portfolio lead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985248" y="2980944"/>
            <a:ext cx="2167128" cy="493776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076688" y="3026664"/>
            <a:ext cx="198424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SWF runs projects; PM + SAP Architect roles in place (large)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57200" y="3511296"/>
            <a:ext cx="594360" cy="493776"/>
          </a:xfrm>
          <a:prstGeom prst="rect">
            <a:avLst/>
          </a:prstGeom>
          <a:solidFill>
            <a:srgbClr val="0F1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57200" y="3511296"/>
            <a:ext cx="59436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FFFFFF"/>
                </a:solidFill>
                <a:latin typeface="Helvetica Neue"/>
              </a:rPr>
              <a:t>TOOLS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097280" y="3511296"/>
            <a:ext cx="2167128" cy="493776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188720" y="3557016"/>
            <a:ext cx="198424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IT Now · Email · Jira · no cross-channel funnel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319272" y="3511296"/>
            <a:ext cx="2167128" cy="493776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410712" y="3557016"/>
            <a:ext cx="198424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IT Now template + Jira labels + PPM (large)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541264" y="3511296"/>
            <a:ext cx="2167128" cy="493776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632704" y="3557016"/>
            <a:ext cx="198424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Forum criteria (strategic / ops / regulatory / size) — applied by sub-team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763256" y="3511296"/>
            <a:ext cx="2167128" cy="493776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854696" y="3557016"/>
            <a:ext cx="198424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PPM Now (Metering) · SharePoint · Confluence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985248" y="3511296"/>
            <a:ext cx="2167128" cy="493776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076688" y="3557016"/>
            <a:ext cx="198424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SWF delivery pipeline · vendor stacks (per sub-team)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57200" y="4041648"/>
            <a:ext cx="594360" cy="493776"/>
          </a:xfrm>
          <a:prstGeom prst="rect">
            <a:avLst/>
          </a:prstGeom>
          <a:solidFill>
            <a:srgbClr val="BC4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57200" y="4041648"/>
            <a:ext cx="59436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FFFFFF"/>
                </a:solidFill>
                <a:latin typeface="Helvetica Neue"/>
              </a:rPr>
              <a:t>GOVERNANCE  &amp;  METRICS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097280" y="4041648"/>
            <a:ext cx="2167128" cy="493776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188720" y="4087368"/>
            <a:ext cx="198424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2 Sr. Manager vacancies (CRM &amp; Contact Center, SAP &amp; CS Architecture)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319272" y="4041648"/>
            <a:ext cx="2167128" cy="493776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410712" y="4087368"/>
            <a:ext cx="198424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Triple routing: Travis PMO / BRS / IT-funded — blurs accountability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541264" y="4041648"/>
            <a:ext cx="2167128" cy="493776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632704" y="4087368"/>
            <a:ext cx="198424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No formal director-level model; regulatory overrides size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763256" y="4041648"/>
            <a:ext cx="2167128" cy="493776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854696" y="4087368"/>
            <a:ext cx="198424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7 OPCOs compete for the same IT capacity — multi-OPCO contention</a:t>
            </a:r>
          </a:p>
        </p:txBody>
      </p:sp>
      <p:sp>
        <p:nvSpPr>
          <p:cNvPr id="75" name="Rectangle 74"/>
          <p:cNvSpPr/>
          <p:nvPr/>
        </p:nvSpPr>
        <p:spPr>
          <a:xfrm>
            <a:off x="9985248" y="4041648"/>
            <a:ext cx="2167128" cy="493776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0076688" y="4087368"/>
            <a:ext cx="198424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Heavy vendor concentration; single-team mature practice (Metering)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57200" y="4645152"/>
            <a:ext cx="11274552" cy="1298448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457200" y="4645152"/>
            <a:ext cx="73152" cy="1298448"/>
          </a:xfrm>
          <a:prstGeom prst="rect">
            <a:avLst/>
          </a:prstGeom>
          <a:solidFill>
            <a:srgbClr val="0F1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40080" y="4690872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F1C50"/>
                </a:solidFill>
                <a:latin typeface="Helvetica Neue"/>
              </a:rPr>
              <a:t>KEY PATTERNS  —  WHAT THE FINDINGS REVEAL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400800" y="4690872"/>
            <a:ext cx="5166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BC4328"/>
                </a:solidFill>
                <a:latin typeface="Helvetica Neue"/>
              </a:rPr>
              <a:t>SUPPORTING QUOTE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400800" y="4937760"/>
            <a:ext cx="5166360" cy="932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2C3E50"/>
                </a:solidFill>
                <a:latin typeface="Helvetica Neue"/>
              </a:rPr>
              <a:t>"Who is in charge of what — 3 people can run the payment jobs for example. Resource allocation — multiple OPCOs competing by capacity" — CS Director + Business-side lead  —  Customer Services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40080" y="4937760"/>
            <a:ext cx="5486400" cy="932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▸  Three parallel ownership tracks without a routing rule — Travis PMO for large projects, BRS for business-funded work, IT-funded for CS Director's teams — the same request can land in any of them, blurring accountability and prioritization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▸  Smart Metering is the mature outlier; other four teams operate without equivalent tooling — branch has no portfolio consolidation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▸  PM + SAP Architect roles are in place for large projects (CS Director confirmed) — the gap is not in roles, it's in branch-wide portfolio visibility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57200" y="5989320"/>
            <a:ext cx="11274552" cy="502920"/>
          </a:xfrm>
          <a:prstGeom prst="rect">
            <a:avLst/>
          </a:prstGeom>
          <a:solidFill>
            <a:srgbClr val="BC4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85800" y="6035040"/>
            <a:ext cx="10817352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Helvetica Neue"/>
              </a:rPr>
              <a:t>Smart Metering's model (PPM Now + weekly PM meeting + 100% vendor delivery) is the only mature practice in CS Director's branch — it is also the blueprint and the warning sign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9144000" y="6565392"/>
            <a:ext cx="258775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5A5A6"/>
                </a:solidFill>
                <a:latin typeface="Helvetica Neue"/>
              </a:rPr>
              <a:t>Drill-down: Customer Services Apps (CS Director's Branch)  |  19 / 28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457200" y="73152"/>
            <a:ext cx="1848612" cy="201168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457200" y="73152"/>
            <a:ext cx="184861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95A5A6"/>
                </a:solidFill>
                <a:latin typeface="Helvetica Neue"/>
              </a:rPr>
              <a:t>01 · EXECUTIVE SUMMARY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2342388" y="73152"/>
            <a:ext cx="1848612" cy="201168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2342388" y="73152"/>
            <a:ext cx="184861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95A5A6"/>
                </a:solidFill>
                <a:latin typeface="Helvetica Neue"/>
              </a:rPr>
              <a:t>02 · ORGANIZATION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4227576" y="73152"/>
            <a:ext cx="1848612" cy="201168"/>
          </a:xfrm>
          <a:prstGeom prst="roundRect">
            <a:avLst/>
          </a:prstGeom>
          <a:solidFill>
            <a:srgbClr val="0F1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4227576" y="73152"/>
            <a:ext cx="184861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FFFFFF"/>
                </a:solidFill>
                <a:latin typeface="Helvetica Neue"/>
              </a:rPr>
              <a:t>03 · DEMAND FLOW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6112764" y="73152"/>
            <a:ext cx="1848612" cy="201168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6112764" y="73152"/>
            <a:ext cx="184861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95A5A6"/>
                </a:solidFill>
                <a:latin typeface="Helvetica Neue"/>
              </a:rPr>
              <a:t>04 · CAPACITY &amp; PORTFOLIO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7997952" y="73152"/>
            <a:ext cx="1848612" cy="201168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7997952" y="73152"/>
            <a:ext cx="184861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95A5A6"/>
                </a:solidFill>
                <a:latin typeface="Helvetica Neue"/>
              </a:rPr>
              <a:t>05 · PAIN POINTS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9883140" y="73152"/>
            <a:ext cx="1848612" cy="201168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9883140" y="73152"/>
            <a:ext cx="184861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95A5A6"/>
                </a:solidFill>
                <a:latin typeface="Helvetica Neue"/>
              </a:rPr>
              <a:t>06 · INSIGHTS &amp; TOM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455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F1C50"/>
                </a:solidFill>
                <a:latin typeface="Helvetica Neue"/>
              </a:rPr>
              <a:t>Capacity Baseline — to be populated from the five champion interviews (headcount · mix · utilization per area)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274552" cy="13716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234440"/>
            <a:ext cx="11274552" cy="365760"/>
          </a:xfrm>
          <a:prstGeom prst="rect">
            <a:avLst/>
          </a:prstGeom>
          <a:solidFill>
            <a:srgbClr val="BC4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Helvetica Neue"/>
              </a:rPr>
              <a:t>STATUS  —  Pending Wave 1 discovery sessions  ·  target close: May 2026  ·  Source: NTT interviews + Excel baseline template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2560320" y="1783080"/>
            <a:ext cx="1761134" cy="365760"/>
          </a:xfrm>
          <a:prstGeom prst="rect">
            <a:avLst/>
          </a:prstGeom>
          <a:solidFill>
            <a:srgbClr val="0F1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0" y="1783080"/>
            <a:ext cx="176113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Helvetica Neue"/>
              </a:rPr>
              <a:t>FTE  (internal)</a:t>
            </a:r>
          </a:p>
        </p:txBody>
      </p:sp>
      <p:sp>
        <p:nvSpPr>
          <p:cNvPr id="8" name="Rectangle 7"/>
          <p:cNvSpPr/>
          <p:nvPr/>
        </p:nvSpPr>
        <p:spPr>
          <a:xfrm>
            <a:off x="4394606" y="1783080"/>
            <a:ext cx="1761134" cy="365760"/>
          </a:xfrm>
          <a:prstGeom prst="rect">
            <a:avLst/>
          </a:prstGeom>
          <a:solidFill>
            <a:srgbClr val="0F1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94606" y="1783080"/>
            <a:ext cx="176113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Helvetica Neue"/>
              </a:rPr>
              <a:t>SWF / Accenture / Vendor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28892" y="1783080"/>
            <a:ext cx="1761134" cy="365760"/>
          </a:xfrm>
          <a:prstGeom prst="rect">
            <a:avLst/>
          </a:prstGeom>
          <a:solidFill>
            <a:srgbClr val="0F1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28892" y="1783080"/>
            <a:ext cx="176113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Helvetica Neue"/>
              </a:rPr>
              <a:t>% BAU vs. STRATEGIC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63179" y="1783080"/>
            <a:ext cx="1761134" cy="365760"/>
          </a:xfrm>
          <a:prstGeom prst="rect">
            <a:avLst/>
          </a:prstGeom>
          <a:solidFill>
            <a:srgbClr val="0F1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63179" y="1783080"/>
            <a:ext cx="176113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Helvetica Neue"/>
              </a:rPr>
              <a:t>UTILIZATION 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897465" y="1783080"/>
            <a:ext cx="1761134" cy="365760"/>
          </a:xfrm>
          <a:prstGeom prst="rect">
            <a:avLst/>
          </a:prstGeom>
          <a:solidFill>
            <a:srgbClr val="0F1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97465" y="1783080"/>
            <a:ext cx="176113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Helvetica Neue"/>
              </a:rPr>
              <a:t>KEY-PERSON RISKS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185416"/>
            <a:ext cx="2011680" cy="566928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2240280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Helvetica Neue"/>
              </a:rPr>
              <a:t>GIS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2496312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1">
                <a:solidFill>
                  <a:srgbClr val="FFFFFF"/>
                </a:solidFill>
                <a:latin typeface="Helvetica Neue"/>
              </a:rPr>
              <a:t>GIS Sr. Manager / Champion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560320" y="2185416"/>
            <a:ext cx="1761134" cy="566928"/>
          </a:xfrm>
          <a:prstGeom prst="rect">
            <a:avLst/>
          </a:prstGeom>
          <a:solidFill>
            <a:srgbClr val="F5F5F5"/>
          </a:solidFill>
          <a:ln w="9525">
            <a:solidFill>
              <a:srgbClr val="6785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560320" y="2276856"/>
            <a:ext cx="176113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1">
                <a:solidFill>
                  <a:srgbClr val="95A5A6"/>
                </a:solidFill>
                <a:latin typeface="Helvetica Neue"/>
              </a:rPr>
              <a:t>[to populate]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94606" y="2185416"/>
            <a:ext cx="1761134" cy="566928"/>
          </a:xfrm>
          <a:prstGeom prst="rect">
            <a:avLst/>
          </a:prstGeom>
          <a:solidFill>
            <a:srgbClr val="F5F5F5"/>
          </a:solidFill>
          <a:ln w="9525">
            <a:solidFill>
              <a:srgbClr val="6785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94606" y="2276856"/>
            <a:ext cx="176113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1">
                <a:solidFill>
                  <a:srgbClr val="95A5A6"/>
                </a:solidFill>
                <a:latin typeface="Helvetica Neue"/>
              </a:rPr>
              <a:t>[to populate]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28892" y="2185416"/>
            <a:ext cx="1761134" cy="566928"/>
          </a:xfrm>
          <a:prstGeom prst="rect">
            <a:avLst/>
          </a:prstGeom>
          <a:solidFill>
            <a:srgbClr val="F5F5F5"/>
          </a:solidFill>
          <a:ln w="9525">
            <a:solidFill>
              <a:srgbClr val="6785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28892" y="2276856"/>
            <a:ext cx="176113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1">
                <a:solidFill>
                  <a:srgbClr val="95A5A6"/>
                </a:solidFill>
                <a:latin typeface="Helvetica Neue"/>
              </a:rPr>
              <a:t>[to populate]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63179" y="2185416"/>
            <a:ext cx="1761134" cy="566928"/>
          </a:xfrm>
          <a:prstGeom prst="rect">
            <a:avLst/>
          </a:prstGeom>
          <a:solidFill>
            <a:srgbClr val="F5F5F5"/>
          </a:solidFill>
          <a:ln w="9525">
            <a:solidFill>
              <a:srgbClr val="6785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63179" y="2276856"/>
            <a:ext cx="176113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1">
                <a:solidFill>
                  <a:srgbClr val="95A5A6"/>
                </a:solidFill>
                <a:latin typeface="Helvetica Neue"/>
              </a:rPr>
              <a:t>[to populate]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897465" y="2185416"/>
            <a:ext cx="1761134" cy="566928"/>
          </a:xfrm>
          <a:prstGeom prst="rect">
            <a:avLst/>
          </a:prstGeom>
          <a:solidFill>
            <a:srgbClr val="F5F5F5"/>
          </a:solidFill>
          <a:ln w="9525">
            <a:solidFill>
              <a:srgbClr val="6785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97465" y="2276856"/>
            <a:ext cx="176113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1">
                <a:solidFill>
                  <a:srgbClr val="95A5A6"/>
                </a:solidFill>
                <a:latin typeface="Helvetica Neue"/>
              </a:rPr>
              <a:t>[to populate]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2798064"/>
            <a:ext cx="2011680" cy="566928"/>
          </a:xfrm>
          <a:prstGeom prst="rect">
            <a:avLst/>
          </a:prstGeom>
          <a:solidFill>
            <a:srgbClr val="BC4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66928" y="2852928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Helvetica Neue"/>
              </a:rPr>
              <a:t>Corporate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3108960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1">
                <a:solidFill>
                  <a:srgbClr val="FFFFFF"/>
                </a:solidFill>
                <a:latin typeface="Helvetica Neue"/>
              </a:rPr>
              <a:t>Corporate Champion (Tech Lead)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560320" y="2798064"/>
            <a:ext cx="1761134" cy="566928"/>
          </a:xfrm>
          <a:prstGeom prst="rect">
            <a:avLst/>
          </a:prstGeom>
          <a:solidFill>
            <a:srgbClr val="F5F5F5"/>
          </a:solidFill>
          <a:ln w="9525">
            <a:solidFill>
              <a:srgbClr val="6785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560320" y="2889504"/>
            <a:ext cx="176113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1">
                <a:solidFill>
                  <a:srgbClr val="95A5A6"/>
                </a:solidFill>
                <a:latin typeface="Helvetica Neue"/>
              </a:rPr>
              <a:t>[to populate]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94606" y="2798064"/>
            <a:ext cx="1761134" cy="566928"/>
          </a:xfrm>
          <a:prstGeom prst="rect">
            <a:avLst/>
          </a:prstGeom>
          <a:solidFill>
            <a:srgbClr val="F5F5F5"/>
          </a:solidFill>
          <a:ln w="9525">
            <a:solidFill>
              <a:srgbClr val="6785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94606" y="2889504"/>
            <a:ext cx="176113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1">
                <a:solidFill>
                  <a:srgbClr val="95A5A6"/>
                </a:solidFill>
                <a:latin typeface="Helvetica Neue"/>
              </a:rPr>
              <a:t>[to populate]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28892" y="2798064"/>
            <a:ext cx="1761134" cy="566928"/>
          </a:xfrm>
          <a:prstGeom prst="rect">
            <a:avLst/>
          </a:prstGeom>
          <a:solidFill>
            <a:srgbClr val="F5F5F5"/>
          </a:solidFill>
          <a:ln w="9525">
            <a:solidFill>
              <a:srgbClr val="6785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28892" y="2889504"/>
            <a:ext cx="176113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1">
                <a:solidFill>
                  <a:srgbClr val="95A5A6"/>
                </a:solidFill>
                <a:latin typeface="Helvetica Neue"/>
              </a:rPr>
              <a:t>[to populate]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063179" y="2798064"/>
            <a:ext cx="1761134" cy="566928"/>
          </a:xfrm>
          <a:prstGeom prst="rect">
            <a:avLst/>
          </a:prstGeom>
          <a:solidFill>
            <a:srgbClr val="F5F5F5"/>
          </a:solidFill>
          <a:ln w="9525">
            <a:solidFill>
              <a:srgbClr val="6785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063179" y="2889504"/>
            <a:ext cx="176113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1">
                <a:solidFill>
                  <a:srgbClr val="95A5A6"/>
                </a:solidFill>
                <a:latin typeface="Helvetica Neue"/>
              </a:rPr>
              <a:t>[to populate]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897465" y="2798064"/>
            <a:ext cx="1761134" cy="566928"/>
          </a:xfrm>
          <a:prstGeom prst="rect">
            <a:avLst/>
          </a:prstGeom>
          <a:solidFill>
            <a:srgbClr val="F5F5F5"/>
          </a:solidFill>
          <a:ln w="9525">
            <a:solidFill>
              <a:srgbClr val="6785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897465" y="2889504"/>
            <a:ext cx="176113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1">
                <a:solidFill>
                  <a:srgbClr val="95A5A6"/>
                </a:solidFill>
                <a:latin typeface="Helvetica Neue"/>
              </a:rPr>
              <a:t>[to populate]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3410712"/>
            <a:ext cx="2011680" cy="566928"/>
          </a:xfrm>
          <a:prstGeom prst="rect">
            <a:avLst/>
          </a:prstGeom>
          <a:solidFill>
            <a:srgbClr val="BC4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66928" y="3465576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Helvetica Neue"/>
              </a:rPr>
              <a:t>G&amp;E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6928" y="3721608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1">
                <a:solidFill>
                  <a:srgbClr val="FFFFFF"/>
                </a:solidFill>
                <a:latin typeface="Helvetica Neue"/>
              </a:rPr>
              <a:t>G&amp;E Champion (Tech Lead, 70-90 apps)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560320" y="3410712"/>
            <a:ext cx="1761134" cy="566928"/>
          </a:xfrm>
          <a:prstGeom prst="rect">
            <a:avLst/>
          </a:prstGeom>
          <a:solidFill>
            <a:srgbClr val="F5F5F5"/>
          </a:solidFill>
          <a:ln w="9525">
            <a:solidFill>
              <a:srgbClr val="6785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560320" y="3502152"/>
            <a:ext cx="176113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1">
                <a:solidFill>
                  <a:srgbClr val="95A5A6"/>
                </a:solidFill>
                <a:latin typeface="Helvetica Neue"/>
              </a:rPr>
              <a:t>[to populate]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394606" y="3410712"/>
            <a:ext cx="1761134" cy="566928"/>
          </a:xfrm>
          <a:prstGeom prst="rect">
            <a:avLst/>
          </a:prstGeom>
          <a:solidFill>
            <a:srgbClr val="F5F5F5"/>
          </a:solidFill>
          <a:ln w="9525">
            <a:solidFill>
              <a:srgbClr val="6785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394606" y="3502152"/>
            <a:ext cx="176113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1">
                <a:solidFill>
                  <a:srgbClr val="95A5A6"/>
                </a:solidFill>
                <a:latin typeface="Helvetica Neue"/>
              </a:rPr>
              <a:t>[to populate]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228892" y="3410712"/>
            <a:ext cx="1761134" cy="566928"/>
          </a:xfrm>
          <a:prstGeom prst="rect">
            <a:avLst/>
          </a:prstGeom>
          <a:solidFill>
            <a:srgbClr val="F5F5F5"/>
          </a:solidFill>
          <a:ln w="9525">
            <a:solidFill>
              <a:srgbClr val="6785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228892" y="3502152"/>
            <a:ext cx="176113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1">
                <a:solidFill>
                  <a:srgbClr val="95A5A6"/>
                </a:solidFill>
                <a:latin typeface="Helvetica Neue"/>
              </a:rPr>
              <a:t>[to populate]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063179" y="3410712"/>
            <a:ext cx="1761134" cy="566928"/>
          </a:xfrm>
          <a:prstGeom prst="rect">
            <a:avLst/>
          </a:prstGeom>
          <a:solidFill>
            <a:srgbClr val="F5F5F5"/>
          </a:solidFill>
          <a:ln w="9525">
            <a:solidFill>
              <a:srgbClr val="6785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063179" y="3502152"/>
            <a:ext cx="176113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1">
                <a:solidFill>
                  <a:srgbClr val="95A5A6"/>
                </a:solidFill>
                <a:latin typeface="Helvetica Neue"/>
              </a:rPr>
              <a:t>[to populate]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897465" y="3410712"/>
            <a:ext cx="1761134" cy="566928"/>
          </a:xfrm>
          <a:prstGeom prst="rect">
            <a:avLst/>
          </a:prstGeom>
          <a:solidFill>
            <a:srgbClr val="F5F5F5"/>
          </a:solidFill>
          <a:ln w="9525">
            <a:solidFill>
              <a:srgbClr val="6785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897465" y="3502152"/>
            <a:ext cx="176113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1">
                <a:solidFill>
                  <a:srgbClr val="95A5A6"/>
                </a:solidFill>
                <a:latin typeface="Helvetica Neue"/>
              </a:rPr>
              <a:t>[to populate]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57200" y="4023360"/>
            <a:ext cx="2011680" cy="566928"/>
          </a:xfrm>
          <a:prstGeom prst="rect">
            <a:avLst/>
          </a:prstGeom>
          <a:solidFill>
            <a:srgbClr val="6785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66928" y="4078224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Helvetica Neue"/>
              </a:rPr>
              <a:t>Global SAP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66928" y="4334256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1">
                <a:solidFill>
                  <a:srgbClr val="FFFFFF"/>
                </a:solidFill>
                <a:latin typeface="Helvetica Neue"/>
              </a:rPr>
              <a:t>Global SAP Champion (Tech Lead)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560320" y="4023360"/>
            <a:ext cx="1761134" cy="566928"/>
          </a:xfrm>
          <a:prstGeom prst="rect">
            <a:avLst/>
          </a:prstGeom>
          <a:solidFill>
            <a:srgbClr val="F5F5F5"/>
          </a:solidFill>
          <a:ln w="9525">
            <a:solidFill>
              <a:srgbClr val="6785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560320" y="4114800"/>
            <a:ext cx="176113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1">
                <a:solidFill>
                  <a:srgbClr val="95A5A6"/>
                </a:solidFill>
                <a:latin typeface="Helvetica Neue"/>
              </a:rPr>
              <a:t>[to populate]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394606" y="4023360"/>
            <a:ext cx="1761134" cy="566928"/>
          </a:xfrm>
          <a:prstGeom prst="rect">
            <a:avLst/>
          </a:prstGeom>
          <a:solidFill>
            <a:srgbClr val="F5F5F5"/>
          </a:solidFill>
          <a:ln w="9525">
            <a:solidFill>
              <a:srgbClr val="6785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394606" y="4114800"/>
            <a:ext cx="176113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1">
                <a:solidFill>
                  <a:srgbClr val="95A5A6"/>
                </a:solidFill>
                <a:latin typeface="Helvetica Neue"/>
              </a:rPr>
              <a:t>[to populate]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228892" y="4023360"/>
            <a:ext cx="1761134" cy="566928"/>
          </a:xfrm>
          <a:prstGeom prst="rect">
            <a:avLst/>
          </a:prstGeom>
          <a:solidFill>
            <a:srgbClr val="F5F5F5"/>
          </a:solidFill>
          <a:ln w="9525">
            <a:solidFill>
              <a:srgbClr val="6785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228892" y="4114800"/>
            <a:ext cx="176113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1">
                <a:solidFill>
                  <a:srgbClr val="95A5A6"/>
                </a:solidFill>
                <a:latin typeface="Helvetica Neue"/>
              </a:rPr>
              <a:t>[to populate]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063179" y="4023360"/>
            <a:ext cx="1761134" cy="566928"/>
          </a:xfrm>
          <a:prstGeom prst="rect">
            <a:avLst/>
          </a:prstGeom>
          <a:solidFill>
            <a:srgbClr val="F5F5F5"/>
          </a:solidFill>
          <a:ln w="9525">
            <a:solidFill>
              <a:srgbClr val="6785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063179" y="4114800"/>
            <a:ext cx="176113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1">
                <a:solidFill>
                  <a:srgbClr val="95A5A6"/>
                </a:solidFill>
                <a:latin typeface="Helvetica Neue"/>
              </a:rPr>
              <a:t>[to populate]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897465" y="4023360"/>
            <a:ext cx="1761134" cy="566928"/>
          </a:xfrm>
          <a:prstGeom prst="rect">
            <a:avLst/>
          </a:prstGeom>
          <a:solidFill>
            <a:srgbClr val="F5F5F5"/>
          </a:solidFill>
          <a:ln w="9525">
            <a:solidFill>
              <a:srgbClr val="6785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897465" y="4114800"/>
            <a:ext cx="176113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1">
                <a:solidFill>
                  <a:srgbClr val="95A5A6"/>
                </a:solidFill>
                <a:latin typeface="Helvetica Neue"/>
              </a:rPr>
              <a:t>[to populate]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57200" y="4636008"/>
            <a:ext cx="2011680" cy="566928"/>
          </a:xfrm>
          <a:prstGeom prst="rect">
            <a:avLst/>
          </a:prstGeom>
          <a:solidFill>
            <a:srgbClr val="F9A8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66928" y="4690872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Helvetica Neue"/>
              </a:rPr>
              <a:t>Smart Metering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66928" y="4946904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1">
                <a:solidFill>
                  <a:srgbClr val="FFFFFF"/>
                </a:solidFill>
                <a:latin typeface="Helvetica Neue"/>
              </a:rPr>
              <a:t>Smart Metering Champion (PM)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560320" y="4636008"/>
            <a:ext cx="1761134" cy="566928"/>
          </a:xfrm>
          <a:prstGeom prst="rect">
            <a:avLst/>
          </a:prstGeom>
          <a:solidFill>
            <a:srgbClr val="F5F5F5"/>
          </a:solidFill>
          <a:ln w="9525">
            <a:solidFill>
              <a:srgbClr val="6785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2560320" y="4727448"/>
            <a:ext cx="176113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1">
                <a:solidFill>
                  <a:srgbClr val="95A5A6"/>
                </a:solidFill>
                <a:latin typeface="Helvetica Neue"/>
              </a:rPr>
              <a:t>[to populate]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394606" y="4636008"/>
            <a:ext cx="1761134" cy="566928"/>
          </a:xfrm>
          <a:prstGeom prst="rect">
            <a:avLst/>
          </a:prstGeom>
          <a:solidFill>
            <a:srgbClr val="F5F5F5"/>
          </a:solidFill>
          <a:ln w="9525">
            <a:solidFill>
              <a:srgbClr val="6785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394606" y="4727448"/>
            <a:ext cx="176113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1">
                <a:solidFill>
                  <a:srgbClr val="95A5A6"/>
                </a:solidFill>
                <a:latin typeface="Helvetica Neue"/>
              </a:rPr>
              <a:t>[to populate]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228892" y="4636008"/>
            <a:ext cx="1761134" cy="566928"/>
          </a:xfrm>
          <a:prstGeom prst="rect">
            <a:avLst/>
          </a:prstGeom>
          <a:solidFill>
            <a:srgbClr val="F5F5F5"/>
          </a:solidFill>
          <a:ln w="9525">
            <a:solidFill>
              <a:srgbClr val="6785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228892" y="4727448"/>
            <a:ext cx="176113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1">
                <a:solidFill>
                  <a:srgbClr val="95A5A6"/>
                </a:solidFill>
                <a:latin typeface="Helvetica Neue"/>
              </a:rPr>
              <a:t>[to populate]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063179" y="4636008"/>
            <a:ext cx="1761134" cy="566928"/>
          </a:xfrm>
          <a:prstGeom prst="rect">
            <a:avLst/>
          </a:prstGeom>
          <a:solidFill>
            <a:srgbClr val="F5F5F5"/>
          </a:solidFill>
          <a:ln w="9525">
            <a:solidFill>
              <a:srgbClr val="6785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063179" y="4727448"/>
            <a:ext cx="176113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1">
                <a:solidFill>
                  <a:srgbClr val="95A5A6"/>
                </a:solidFill>
                <a:latin typeface="Helvetica Neue"/>
              </a:rPr>
              <a:t>[to populate]</a:t>
            </a:r>
          </a:p>
        </p:txBody>
      </p:sp>
      <p:sp>
        <p:nvSpPr>
          <p:cNvPr id="79" name="Rectangle 78"/>
          <p:cNvSpPr/>
          <p:nvPr/>
        </p:nvSpPr>
        <p:spPr>
          <a:xfrm>
            <a:off x="9897465" y="4636008"/>
            <a:ext cx="1761134" cy="566928"/>
          </a:xfrm>
          <a:prstGeom prst="rect">
            <a:avLst/>
          </a:prstGeom>
          <a:solidFill>
            <a:srgbClr val="F5F5F5"/>
          </a:solidFill>
          <a:ln w="9525">
            <a:solidFill>
              <a:srgbClr val="6785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9897465" y="4727448"/>
            <a:ext cx="176113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1">
                <a:solidFill>
                  <a:srgbClr val="95A5A6"/>
                </a:solidFill>
                <a:latin typeface="Helvetica Neue"/>
              </a:rPr>
              <a:t>[to populate]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57200" y="5212080"/>
            <a:ext cx="11274552" cy="73152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457200" y="5212080"/>
            <a:ext cx="73152" cy="731520"/>
          </a:xfrm>
          <a:prstGeom prst="rect">
            <a:avLst/>
          </a:prstGeom>
          <a:solidFill>
            <a:srgbClr val="6785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40080" y="5285232"/>
            <a:ext cx="10972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F1C50"/>
                </a:solidFill>
                <a:latin typeface="Helvetica Neue"/>
              </a:rPr>
              <a:t>HOW THIS GETS POPULATED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40080" y="5504688"/>
            <a:ext cx="1097280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C3E50"/>
                </a:solidFill>
                <a:latin typeface="Helvetica Neue"/>
              </a:rPr>
              <a:t>Each champion fills their row during the dynamic (Applications Team Discovery Canvas  —  Block 1 Capacity Landscape). Numbers reconciled against the Excel baseline. Empty cells flagged HYPOTHESIS until verified.</a:t>
            </a:r>
          </a:p>
        </p:txBody>
      </p:sp>
      <p:sp>
        <p:nvSpPr>
          <p:cNvPr id="85" name="Rectangle 84"/>
          <p:cNvSpPr/>
          <p:nvPr/>
        </p:nvSpPr>
        <p:spPr>
          <a:xfrm>
            <a:off x="457200" y="5989320"/>
            <a:ext cx="11274552" cy="502920"/>
          </a:xfrm>
          <a:prstGeom prst="rect">
            <a:avLst/>
          </a:prstGeom>
          <a:solidFill>
            <a:srgbClr val="0F1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85800" y="6035040"/>
            <a:ext cx="10817352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Helvetica Neue"/>
              </a:rPr>
              <a:t>Once populated, this becomes the quantitative baseline for capacity planning in the TOM — and the reference for Block 2 Resource Mix analysis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9144000" y="6565392"/>
            <a:ext cx="258775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5A5A6"/>
                </a:solidFill>
                <a:latin typeface="Helvetica Neue"/>
              </a:rPr>
              <a:t>Capacity Data  |  20 / 28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457200" y="73152"/>
            <a:ext cx="1848612" cy="201168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57200" y="73152"/>
            <a:ext cx="184861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95A5A6"/>
                </a:solidFill>
                <a:latin typeface="Helvetica Neue"/>
              </a:rPr>
              <a:t>01 · EXECUTIVE SUMMARY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2342388" y="73152"/>
            <a:ext cx="1848612" cy="201168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2342388" y="73152"/>
            <a:ext cx="184861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95A5A6"/>
                </a:solidFill>
                <a:latin typeface="Helvetica Neue"/>
              </a:rPr>
              <a:t>02 · ORGANIZATION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4227576" y="73152"/>
            <a:ext cx="1848612" cy="201168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227576" y="73152"/>
            <a:ext cx="184861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95A5A6"/>
                </a:solidFill>
                <a:latin typeface="Helvetica Neue"/>
              </a:rPr>
              <a:t>03 · DEMAND FLOW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6112764" y="73152"/>
            <a:ext cx="1848612" cy="201168"/>
          </a:xfrm>
          <a:prstGeom prst="roundRect">
            <a:avLst/>
          </a:prstGeom>
          <a:solidFill>
            <a:srgbClr val="0F1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112764" y="73152"/>
            <a:ext cx="184861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FFFFFF"/>
                </a:solidFill>
                <a:latin typeface="Helvetica Neue"/>
              </a:rPr>
              <a:t>04 · CAPACITY &amp; PORTFOLIO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7997952" y="73152"/>
            <a:ext cx="1848612" cy="201168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997952" y="73152"/>
            <a:ext cx="184861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95A5A6"/>
                </a:solidFill>
                <a:latin typeface="Helvetica Neue"/>
              </a:rPr>
              <a:t>05 · PAIN POINTS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9883140" y="73152"/>
            <a:ext cx="1848612" cy="201168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9883140" y="73152"/>
            <a:ext cx="184861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95A5A6"/>
                </a:solidFill>
                <a:latin typeface="Helvetica Neue"/>
              </a:rPr>
              <a:t>06 · INSIGHTS &amp; TOM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455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F1C50"/>
                </a:solidFill>
                <a:latin typeface="Helvetica Neue"/>
              </a:rPr>
              <a:t>Portfolio Inventory — to be populated with projects in flight, vendor mix and cost distribution per area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274552" cy="13716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234440"/>
            <a:ext cx="11274552" cy="365760"/>
          </a:xfrm>
          <a:prstGeom prst="rect">
            <a:avLst/>
          </a:prstGeom>
          <a:solidFill>
            <a:srgbClr val="BC4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Helvetica Neue"/>
              </a:rPr>
              <a:t>STATUS  —  Pending Wave 1 discovery sessions  ·  target close: May 2026  ·  Source: PDD workbook + PPM Now (where available) + champion interviews</a:t>
            </a:r>
          </a:p>
        </p:txBody>
      </p:sp>
      <p:sp>
        <p:nvSpPr>
          <p:cNvPr id="6" name="Rectangle 5"/>
          <p:cNvSpPr/>
          <p:nvPr/>
        </p:nvSpPr>
        <p:spPr>
          <a:xfrm>
            <a:off x="2560320" y="1783080"/>
            <a:ext cx="1761134" cy="365760"/>
          </a:xfrm>
          <a:prstGeom prst="rect">
            <a:avLst/>
          </a:prstGeom>
          <a:solidFill>
            <a:srgbClr val="0F1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0" y="1783080"/>
            <a:ext cx="176113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Helvetica Neue"/>
              </a:rPr>
              <a:t>PROJECTS  IN FLIGHT</a:t>
            </a:r>
          </a:p>
        </p:txBody>
      </p:sp>
      <p:sp>
        <p:nvSpPr>
          <p:cNvPr id="8" name="Rectangle 7"/>
          <p:cNvSpPr/>
          <p:nvPr/>
        </p:nvSpPr>
        <p:spPr>
          <a:xfrm>
            <a:off x="4394606" y="1783080"/>
            <a:ext cx="1761134" cy="365760"/>
          </a:xfrm>
          <a:prstGeom prst="rect">
            <a:avLst/>
          </a:prstGeom>
          <a:solidFill>
            <a:srgbClr val="0F1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94606" y="1783080"/>
            <a:ext cx="176113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Helvetica Neue"/>
              </a:rPr>
              <a:t>PDD COUNT  (current yr)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28892" y="1783080"/>
            <a:ext cx="1761134" cy="365760"/>
          </a:xfrm>
          <a:prstGeom prst="rect">
            <a:avLst/>
          </a:prstGeom>
          <a:solidFill>
            <a:srgbClr val="0F1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28892" y="1783080"/>
            <a:ext cx="176113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Helvetica Neue"/>
              </a:rPr>
              <a:t>VENDOR MIX 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63179" y="1783080"/>
            <a:ext cx="1761134" cy="365760"/>
          </a:xfrm>
          <a:prstGeom prst="rect">
            <a:avLst/>
          </a:prstGeom>
          <a:solidFill>
            <a:srgbClr val="0F1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63179" y="1783080"/>
            <a:ext cx="176113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Helvetica Neue"/>
              </a:rPr>
              <a:t>COST / QUARTER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897465" y="1783080"/>
            <a:ext cx="1761134" cy="365760"/>
          </a:xfrm>
          <a:prstGeom prst="rect">
            <a:avLst/>
          </a:prstGeom>
          <a:solidFill>
            <a:srgbClr val="0F1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97465" y="1783080"/>
            <a:ext cx="176113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Helvetica Neue"/>
              </a:rPr>
              <a:t>PORTFOLIO TOOL?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185416"/>
            <a:ext cx="2011680" cy="566928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2240280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Helvetica Neue"/>
              </a:rPr>
              <a:t>GIS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2496312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1">
                <a:solidFill>
                  <a:srgbClr val="FFFFFF"/>
                </a:solidFill>
                <a:latin typeface="Helvetica Neue"/>
              </a:rPr>
              <a:t>GIS Sr. Manager / Champion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560320" y="2185416"/>
            <a:ext cx="1761134" cy="566928"/>
          </a:xfrm>
          <a:prstGeom prst="rect">
            <a:avLst/>
          </a:prstGeom>
          <a:solidFill>
            <a:srgbClr val="F5F5F5"/>
          </a:solidFill>
          <a:ln w="9525">
            <a:solidFill>
              <a:srgbClr val="BC43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560320" y="2276856"/>
            <a:ext cx="176113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1">
                <a:solidFill>
                  <a:srgbClr val="95A5A6"/>
                </a:solidFill>
                <a:latin typeface="Helvetica Neue"/>
              </a:rPr>
              <a:t>[to populate]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94606" y="2185416"/>
            <a:ext cx="1761134" cy="566928"/>
          </a:xfrm>
          <a:prstGeom prst="rect">
            <a:avLst/>
          </a:prstGeom>
          <a:solidFill>
            <a:srgbClr val="F5F5F5"/>
          </a:solidFill>
          <a:ln w="9525">
            <a:solidFill>
              <a:srgbClr val="BC43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94606" y="2276856"/>
            <a:ext cx="176113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1">
                <a:solidFill>
                  <a:srgbClr val="95A5A6"/>
                </a:solidFill>
                <a:latin typeface="Helvetica Neue"/>
              </a:rPr>
              <a:t>[to populate]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28892" y="2185416"/>
            <a:ext cx="1761134" cy="566928"/>
          </a:xfrm>
          <a:prstGeom prst="rect">
            <a:avLst/>
          </a:prstGeom>
          <a:solidFill>
            <a:srgbClr val="F5F5F5"/>
          </a:solidFill>
          <a:ln w="9525">
            <a:solidFill>
              <a:srgbClr val="BC43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28892" y="2276856"/>
            <a:ext cx="176113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1">
                <a:solidFill>
                  <a:srgbClr val="95A5A6"/>
                </a:solidFill>
                <a:latin typeface="Helvetica Neue"/>
              </a:rPr>
              <a:t>[to populate]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63179" y="2185416"/>
            <a:ext cx="1761134" cy="566928"/>
          </a:xfrm>
          <a:prstGeom prst="rect">
            <a:avLst/>
          </a:prstGeom>
          <a:solidFill>
            <a:srgbClr val="F5F5F5"/>
          </a:solidFill>
          <a:ln w="9525">
            <a:solidFill>
              <a:srgbClr val="BC43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63179" y="2276856"/>
            <a:ext cx="176113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1">
                <a:solidFill>
                  <a:srgbClr val="95A5A6"/>
                </a:solidFill>
                <a:latin typeface="Helvetica Neue"/>
              </a:rPr>
              <a:t>[to populate]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897465" y="2185416"/>
            <a:ext cx="1761134" cy="566928"/>
          </a:xfrm>
          <a:prstGeom prst="rect">
            <a:avLst/>
          </a:prstGeom>
          <a:solidFill>
            <a:srgbClr val="F5F5F5"/>
          </a:solidFill>
          <a:ln w="9525">
            <a:solidFill>
              <a:srgbClr val="BC43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97465" y="2276856"/>
            <a:ext cx="176113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1">
                <a:solidFill>
                  <a:srgbClr val="95A5A6"/>
                </a:solidFill>
                <a:latin typeface="Helvetica Neue"/>
              </a:rPr>
              <a:t>[to populate]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2798064"/>
            <a:ext cx="2011680" cy="566928"/>
          </a:xfrm>
          <a:prstGeom prst="rect">
            <a:avLst/>
          </a:prstGeom>
          <a:solidFill>
            <a:srgbClr val="BC4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66928" y="2852928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Helvetica Neue"/>
              </a:rPr>
              <a:t>Corporate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3108960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1">
                <a:solidFill>
                  <a:srgbClr val="FFFFFF"/>
                </a:solidFill>
                <a:latin typeface="Helvetica Neue"/>
              </a:rPr>
              <a:t>Corporate Champion (Tech Lead)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560320" y="2798064"/>
            <a:ext cx="1761134" cy="566928"/>
          </a:xfrm>
          <a:prstGeom prst="rect">
            <a:avLst/>
          </a:prstGeom>
          <a:solidFill>
            <a:srgbClr val="F5F5F5"/>
          </a:solidFill>
          <a:ln w="9525">
            <a:solidFill>
              <a:srgbClr val="BC43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560320" y="2889504"/>
            <a:ext cx="176113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1">
                <a:solidFill>
                  <a:srgbClr val="95A5A6"/>
                </a:solidFill>
                <a:latin typeface="Helvetica Neue"/>
              </a:rPr>
              <a:t>[to populate]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94606" y="2798064"/>
            <a:ext cx="1761134" cy="566928"/>
          </a:xfrm>
          <a:prstGeom prst="rect">
            <a:avLst/>
          </a:prstGeom>
          <a:solidFill>
            <a:srgbClr val="F5F5F5"/>
          </a:solidFill>
          <a:ln w="9525">
            <a:solidFill>
              <a:srgbClr val="BC43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94606" y="2889504"/>
            <a:ext cx="176113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1">
                <a:solidFill>
                  <a:srgbClr val="95A5A6"/>
                </a:solidFill>
                <a:latin typeface="Helvetica Neue"/>
              </a:rPr>
              <a:t>[to populate]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28892" y="2798064"/>
            <a:ext cx="1761134" cy="566928"/>
          </a:xfrm>
          <a:prstGeom prst="rect">
            <a:avLst/>
          </a:prstGeom>
          <a:solidFill>
            <a:srgbClr val="F5F5F5"/>
          </a:solidFill>
          <a:ln w="9525">
            <a:solidFill>
              <a:srgbClr val="BC43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28892" y="2889504"/>
            <a:ext cx="176113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1">
                <a:solidFill>
                  <a:srgbClr val="95A5A6"/>
                </a:solidFill>
                <a:latin typeface="Helvetica Neue"/>
              </a:rPr>
              <a:t>[to populate]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063179" y="2798064"/>
            <a:ext cx="1761134" cy="566928"/>
          </a:xfrm>
          <a:prstGeom prst="rect">
            <a:avLst/>
          </a:prstGeom>
          <a:solidFill>
            <a:srgbClr val="F5F5F5"/>
          </a:solidFill>
          <a:ln w="9525">
            <a:solidFill>
              <a:srgbClr val="BC43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063179" y="2889504"/>
            <a:ext cx="176113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1">
                <a:solidFill>
                  <a:srgbClr val="95A5A6"/>
                </a:solidFill>
                <a:latin typeface="Helvetica Neue"/>
              </a:rPr>
              <a:t>[to populate]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897465" y="2798064"/>
            <a:ext cx="1761134" cy="566928"/>
          </a:xfrm>
          <a:prstGeom prst="rect">
            <a:avLst/>
          </a:prstGeom>
          <a:solidFill>
            <a:srgbClr val="F5F5F5"/>
          </a:solidFill>
          <a:ln w="9525">
            <a:solidFill>
              <a:srgbClr val="BC43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897465" y="2889504"/>
            <a:ext cx="176113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1">
                <a:solidFill>
                  <a:srgbClr val="95A5A6"/>
                </a:solidFill>
                <a:latin typeface="Helvetica Neue"/>
              </a:rPr>
              <a:t>[to populate]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3410712"/>
            <a:ext cx="2011680" cy="566928"/>
          </a:xfrm>
          <a:prstGeom prst="rect">
            <a:avLst/>
          </a:prstGeom>
          <a:solidFill>
            <a:srgbClr val="BC4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66928" y="3465576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Helvetica Neue"/>
              </a:rPr>
              <a:t>G&amp;E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6928" y="3721608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1">
                <a:solidFill>
                  <a:srgbClr val="FFFFFF"/>
                </a:solidFill>
                <a:latin typeface="Helvetica Neue"/>
              </a:rPr>
              <a:t>G&amp;E Champion (Tech Lead, 70-90 apps)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560320" y="3410712"/>
            <a:ext cx="1761134" cy="566928"/>
          </a:xfrm>
          <a:prstGeom prst="rect">
            <a:avLst/>
          </a:prstGeom>
          <a:solidFill>
            <a:srgbClr val="F5F5F5"/>
          </a:solidFill>
          <a:ln w="9525">
            <a:solidFill>
              <a:srgbClr val="BC43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560320" y="3502152"/>
            <a:ext cx="176113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1">
                <a:solidFill>
                  <a:srgbClr val="95A5A6"/>
                </a:solidFill>
                <a:latin typeface="Helvetica Neue"/>
              </a:rPr>
              <a:t>[to populate]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394606" y="3410712"/>
            <a:ext cx="1761134" cy="566928"/>
          </a:xfrm>
          <a:prstGeom prst="rect">
            <a:avLst/>
          </a:prstGeom>
          <a:solidFill>
            <a:srgbClr val="F5F5F5"/>
          </a:solidFill>
          <a:ln w="9525">
            <a:solidFill>
              <a:srgbClr val="BC43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394606" y="3502152"/>
            <a:ext cx="176113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1">
                <a:solidFill>
                  <a:srgbClr val="95A5A6"/>
                </a:solidFill>
                <a:latin typeface="Helvetica Neue"/>
              </a:rPr>
              <a:t>[to populate]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228892" y="3410712"/>
            <a:ext cx="1761134" cy="566928"/>
          </a:xfrm>
          <a:prstGeom prst="rect">
            <a:avLst/>
          </a:prstGeom>
          <a:solidFill>
            <a:srgbClr val="F5F5F5"/>
          </a:solidFill>
          <a:ln w="9525">
            <a:solidFill>
              <a:srgbClr val="BC43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228892" y="3502152"/>
            <a:ext cx="176113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1">
                <a:solidFill>
                  <a:srgbClr val="95A5A6"/>
                </a:solidFill>
                <a:latin typeface="Helvetica Neue"/>
              </a:rPr>
              <a:t>[to populate]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063179" y="3410712"/>
            <a:ext cx="1761134" cy="566928"/>
          </a:xfrm>
          <a:prstGeom prst="rect">
            <a:avLst/>
          </a:prstGeom>
          <a:solidFill>
            <a:srgbClr val="F5F5F5"/>
          </a:solidFill>
          <a:ln w="9525">
            <a:solidFill>
              <a:srgbClr val="BC43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063179" y="3502152"/>
            <a:ext cx="176113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1">
                <a:solidFill>
                  <a:srgbClr val="95A5A6"/>
                </a:solidFill>
                <a:latin typeface="Helvetica Neue"/>
              </a:rPr>
              <a:t>[to populate]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897465" y="3410712"/>
            <a:ext cx="1761134" cy="566928"/>
          </a:xfrm>
          <a:prstGeom prst="rect">
            <a:avLst/>
          </a:prstGeom>
          <a:solidFill>
            <a:srgbClr val="F5F5F5"/>
          </a:solidFill>
          <a:ln w="9525">
            <a:solidFill>
              <a:srgbClr val="BC43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897465" y="3502152"/>
            <a:ext cx="176113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1">
                <a:solidFill>
                  <a:srgbClr val="95A5A6"/>
                </a:solidFill>
                <a:latin typeface="Helvetica Neue"/>
              </a:rPr>
              <a:t>[to populate]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57200" y="4023360"/>
            <a:ext cx="2011680" cy="566928"/>
          </a:xfrm>
          <a:prstGeom prst="rect">
            <a:avLst/>
          </a:prstGeom>
          <a:solidFill>
            <a:srgbClr val="6785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66928" y="4078224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Helvetica Neue"/>
              </a:rPr>
              <a:t>Global SAP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66928" y="4334256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1">
                <a:solidFill>
                  <a:srgbClr val="FFFFFF"/>
                </a:solidFill>
                <a:latin typeface="Helvetica Neue"/>
              </a:rPr>
              <a:t>Global SAP Champion (Tech Lead)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560320" y="4023360"/>
            <a:ext cx="1761134" cy="566928"/>
          </a:xfrm>
          <a:prstGeom prst="rect">
            <a:avLst/>
          </a:prstGeom>
          <a:solidFill>
            <a:srgbClr val="F5F5F5"/>
          </a:solidFill>
          <a:ln w="9525">
            <a:solidFill>
              <a:srgbClr val="BC43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560320" y="4114800"/>
            <a:ext cx="176113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1">
                <a:solidFill>
                  <a:srgbClr val="95A5A6"/>
                </a:solidFill>
                <a:latin typeface="Helvetica Neue"/>
              </a:rPr>
              <a:t>[to populate]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394606" y="4023360"/>
            <a:ext cx="1761134" cy="566928"/>
          </a:xfrm>
          <a:prstGeom prst="rect">
            <a:avLst/>
          </a:prstGeom>
          <a:solidFill>
            <a:srgbClr val="F5F5F5"/>
          </a:solidFill>
          <a:ln w="9525">
            <a:solidFill>
              <a:srgbClr val="BC43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394606" y="4114800"/>
            <a:ext cx="176113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1">
                <a:solidFill>
                  <a:srgbClr val="95A5A6"/>
                </a:solidFill>
                <a:latin typeface="Helvetica Neue"/>
              </a:rPr>
              <a:t>[to populate]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228892" y="4023360"/>
            <a:ext cx="1761134" cy="566928"/>
          </a:xfrm>
          <a:prstGeom prst="rect">
            <a:avLst/>
          </a:prstGeom>
          <a:solidFill>
            <a:srgbClr val="F5F5F5"/>
          </a:solidFill>
          <a:ln w="9525">
            <a:solidFill>
              <a:srgbClr val="BC43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228892" y="4114800"/>
            <a:ext cx="176113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1">
                <a:solidFill>
                  <a:srgbClr val="95A5A6"/>
                </a:solidFill>
                <a:latin typeface="Helvetica Neue"/>
              </a:rPr>
              <a:t>[to populate]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063179" y="4023360"/>
            <a:ext cx="1761134" cy="566928"/>
          </a:xfrm>
          <a:prstGeom prst="rect">
            <a:avLst/>
          </a:prstGeom>
          <a:solidFill>
            <a:srgbClr val="F5F5F5"/>
          </a:solidFill>
          <a:ln w="9525">
            <a:solidFill>
              <a:srgbClr val="BC43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063179" y="4114800"/>
            <a:ext cx="176113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1">
                <a:solidFill>
                  <a:srgbClr val="95A5A6"/>
                </a:solidFill>
                <a:latin typeface="Helvetica Neue"/>
              </a:rPr>
              <a:t>[to populate]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897465" y="4023360"/>
            <a:ext cx="1761134" cy="566928"/>
          </a:xfrm>
          <a:prstGeom prst="rect">
            <a:avLst/>
          </a:prstGeom>
          <a:solidFill>
            <a:srgbClr val="F5F5F5"/>
          </a:solidFill>
          <a:ln w="9525">
            <a:solidFill>
              <a:srgbClr val="BC43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897465" y="4114800"/>
            <a:ext cx="176113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1">
                <a:solidFill>
                  <a:srgbClr val="95A5A6"/>
                </a:solidFill>
                <a:latin typeface="Helvetica Neue"/>
              </a:rPr>
              <a:t>[to populate]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57200" y="4636008"/>
            <a:ext cx="2011680" cy="566928"/>
          </a:xfrm>
          <a:prstGeom prst="rect">
            <a:avLst/>
          </a:prstGeom>
          <a:solidFill>
            <a:srgbClr val="F9A8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66928" y="4690872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Helvetica Neue"/>
              </a:rPr>
              <a:t>Smart Metering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66928" y="4946904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1">
                <a:solidFill>
                  <a:srgbClr val="FFFFFF"/>
                </a:solidFill>
                <a:latin typeface="Helvetica Neue"/>
              </a:rPr>
              <a:t>Smart Metering Champion (PM)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560320" y="4636008"/>
            <a:ext cx="1761134" cy="566928"/>
          </a:xfrm>
          <a:prstGeom prst="rect">
            <a:avLst/>
          </a:prstGeom>
          <a:solidFill>
            <a:srgbClr val="F5F5F5"/>
          </a:solidFill>
          <a:ln w="9525">
            <a:solidFill>
              <a:srgbClr val="BC43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2560320" y="4727448"/>
            <a:ext cx="176113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1">
                <a:solidFill>
                  <a:srgbClr val="95A5A6"/>
                </a:solidFill>
                <a:latin typeface="Helvetica Neue"/>
              </a:rPr>
              <a:t>[to populate]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394606" y="4636008"/>
            <a:ext cx="1761134" cy="566928"/>
          </a:xfrm>
          <a:prstGeom prst="rect">
            <a:avLst/>
          </a:prstGeom>
          <a:solidFill>
            <a:srgbClr val="F5F5F5"/>
          </a:solidFill>
          <a:ln w="9525">
            <a:solidFill>
              <a:srgbClr val="BC43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394606" y="4727448"/>
            <a:ext cx="176113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1">
                <a:solidFill>
                  <a:srgbClr val="95A5A6"/>
                </a:solidFill>
                <a:latin typeface="Helvetica Neue"/>
              </a:rPr>
              <a:t>[to populate]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228892" y="4636008"/>
            <a:ext cx="1761134" cy="566928"/>
          </a:xfrm>
          <a:prstGeom prst="rect">
            <a:avLst/>
          </a:prstGeom>
          <a:solidFill>
            <a:srgbClr val="F5F5F5"/>
          </a:solidFill>
          <a:ln w="9525">
            <a:solidFill>
              <a:srgbClr val="BC43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228892" y="4727448"/>
            <a:ext cx="176113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1">
                <a:solidFill>
                  <a:srgbClr val="95A5A6"/>
                </a:solidFill>
                <a:latin typeface="Helvetica Neue"/>
              </a:rPr>
              <a:t>[to populate]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063179" y="4636008"/>
            <a:ext cx="1761134" cy="566928"/>
          </a:xfrm>
          <a:prstGeom prst="rect">
            <a:avLst/>
          </a:prstGeom>
          <a:solidFill>
            <a:srgbClr val="F5F5F5"/>
          </a:solidFill>
          <a:ln w="9525">
            <a:solidFill>
              <a:srgbClr val="BC43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063179" y="4727448"/>
            <a:ext cx="176113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1">
                <a:solidFill>
                  <a:srgbClr val="95A5A6"/>
                </a:solidFill>
                <a:latin typeface="Helvetica Neue"/>
              </a:rPr>
              <a:t>[to populate]</a:t>
            </a:r>
          </a:p>
        </p:txBody>
      </p:sp>
      <p:sp>
        <p:nvSpPr>
          <p:cNvPr id="79" name="Rectangle 78"/>
          <p:cNvSpPr/>
          <p:nvPr/>
        </p:nvSpPr>
        <p:spPr>
          <a:xfrm>
            <a:off x="9897465" y="4636008"/>
            <a:ext cx="1761134" cy="566928"/>
          </a:xfrm>
          <a:prstGeom prst="rect">
            <a:avLst/>
          </a:prstGeom>
          <a:solidFill>
            <a:srgbClr val="F5F5F5"/>
          </a:solidFill>
          <a:ln w="9525">
            <a:solidFill>
              <a:srgbClr val="BC43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9897465" y="4727448"/>
            <a:ext cx="176113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1">
                <a:solidFill>
                  <a:srgbClr val="95A5A6"/>
                </a:solidFill>
                <a:latin typeface="Helvetica Neue"/>
              </a:rPr>
              <a:t>[to populate]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57200" y="5212080"/>
            <a:ext cx="11274552" cy="73152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457200" y="5212080"/>
            <a:ext cx="73152" cy="731520"/>
          </a:xfrm>
          <a:prstGeom prst="rect">
            <a:avLst/>
          </a:prstGeom>
          <a:solidFill>
            <a:srgbClr val="BC4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40080" y="5285232"/>
            <a:ext cx="10972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F1C50"/>
                </a:solidFill>
                <a:latin typeface="Helvetica Neue"/>
              </a:rPr>
              <a:t>HOW THIS GETS POPULATED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40080" y="5504688"/>
            <a:ext cx="1097280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C3E50"/>
                </a:solidFill>
                <a:latin typeface="Helvetica Neue"/>
              </a:rPr>
              <a:t>Each champion fills their row during the dynamic (Applications Team Discovery Canvas  —  Block 2 Resource Mix &amp; Cost). Cross-validated against PDD workbook + PPM Now. Smart Metering is the benchmark row (100% populated today).</a:t>
            </a:r>
          </a:p>
        </p:txBody>
      </p:sp>
      <p:sp>
        <p:nvSpPr>
          <p:cNvPr id="85" name="Rectangle 84"/>
          <p:cNvSpPr/>
          <p:nvPr/>
        </p:nvSpPr>
        <p:spPr>
          <a:xfrm>
            <a:off x="457200" y="5989320"/>
            <a:ext cx="11274552" cy="502920"/>
          </a:xfrm>
          <a:prstGeom prst="rect">
            <a:avLst/>
          </a:prstGeom>
          <a:solidFill>
            <a:srgbClr val="0F1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85800" y="6035040"/>
            <a:ext cx="10817352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Helvetica Neue"/>
              </a:rPr>
              <a:t>Portfolio data closes the ROI-traceability gap — without it the TOM business case stays qualitative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9144000" y="6565392"/>
            <a:ext cx="258775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5A5A6"/>
                </a:solidFill>
                <a:latin typeface="Helvetica Neue"/>
              </a:rPr>
              <a:t>Portfolio Data  |  21 / 28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457200" y="73152"/>
            <a:ext cx="1848612" cy="201168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57200" y="73152"/>
            <a:ext cx="184861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95A5A6"/>
                </a:solidFill>
                <a:latin typeface="Helvetica Neue"/>
              </a:rPr>
              <a:t>01 · EXECUTIVE SUMMARY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2342388" y="73152"/>
            <a:ext cx="1848612" cy="201168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2342388" y="73152"/>
            <a:ext cx="184861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95A5A6"/>
                </a:solidFill>
                <a:latin typeface="Helvetica Neue"/>
              </a:rPr>
              <a:t>02 · ORGANIZATION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4227576" y="73152"/>
            <a:ext cx="1848612" cy="201168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227576" y="73152"/>
            <a:ext cx="184861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95A5A6"/>
                </a:solidFill>
                <a:latin typeface="Helvetica Neue"/>
              </a:rPr>
              <a:t>03 · DEMAND FLOW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6112764" y="73152"/>
            <a:ext cx="1848612" cy="201168"/>
          </a:xfrm>
          <a:prstGeom prst="roundRect">
            <a:avLst/>
          </a:prstGeom>
          <a:solidFill>
            <a:srgbClr val="0F1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112764" y="73152"/>
            <a:ext cx="184861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FFFFFF"/>
                </a:solidFill>
                <a:latin typeface="Helvetica Neue"/>
              </a:rPr>
              <a:t>04 · CAPACITY &amp; PORTFOLIO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7997952" y="73152"/>
            <a:ext cx="1848612" cy="201168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997952" y="73152"/>
            <a:ext cx="184861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95A5A6"/>
                </a:solidFill>
                <a:latin typeface="Helvetica Neue"/>
              </a:rPr>
              <a:t>05 · PAIN POINTS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9883140" y="73152"/>
            <a:ext cx="1848612" cy="201168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9883140" y="73152"/>
            <a:ext cx="184861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95A5A6"/>
                </a:solidFill>
                <a:latin typeface="Helvetica Neue"/>
              </a:rPr>
              <a:t>06 · INSIGHTS &amp; TOM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455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F1C50"/>
                </a:solidFill>
                <a:latin typeface="Helvetica Neue"/>
              </a:rPr>
              <a:t>Pain points cluster MECE across People, Process, Tools and Governance — each category produces its own bottleneck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274552" cy="13716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417320"/>
            <a:ext cx="5577840" cy="224028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5577840" cy="54864"/>
          </a:xfrm>
          <a:prstGeom prst="rect">
            <a:avLst/>
          </a:prstGeom>
          <a:solidFill>
            <a:srgbClr val="0F1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55448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F1C50"/>
                </a:solidFill>
                <a:latin typeface="Helvetica Neue"/>
              </a:rPr>
              <a:t>PEOPLE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920240"/>
            <a:ext cx="5120640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C3E50"/>
                </a:solidFill>
                <a:latin typeface="Helvetica Neue"/>
              </a:rPr>
              <a:t>▪  Turnover — "1 year to hire someone" (Global SAP)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C3E50"/>
                </a:solidFill>
                <a:latin typeface="Helvetica Neue"/>
              </a:rPr>
              <a:t>▪  Unclear ownership — "3 people can run payment jobs" (CS Director/Business-side lead  —  Customer Services)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C3E50"/>
                </a:solidFill>
                <a:latin typeface="Helvetica Neue"/>
              </a:rPr>
              <a:t>▪  Capacity competition across 7 business OPCOs (IT CS)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C3E50"/>
                </a:solidFill>
                <a:latin typeface="Helvetica Neue"/>
              </a:rPr>
              <a:t>▪  Heavy SWF + Accenture + Vendor dependency in delivery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C3E50"/>
                </a:solidFill>
                <a:latin typeface="Helvetica Neue"/>
              </a:rPr>
              <a:t>▪  2 vacant Sr. Manager positions in CS Director's branch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383280"/>
            <a:ext cx="5120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1">
                <a:solidFill>
                  <a:srgbClr val="95A5A6"/>
                </a:solidFill>
                <a:latin typeface="Helvetica Neue"/>
              </a:rPr>
              <a:t>Source: All 4 interview MDs</a:t>
            </a:r>
          </a:p>
        </p:txBody>
      </p:sp>
      <p:sp>
        <p:nvSpPr>
          <p:cNvPr id="9" name="Rectangle 8"/>
          <p:cNvSpPr/>
          <p:nvPr/>
        </p:nvSpPr>
        <p:spPr>
          <a:xfrm>
            <a:off x="6153912" y="1417320"/>
            <a:ext cx="5577840" cy="224028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53912" y="1417320"/>
            <a:ext cx="5577840" cy="54864"/>
          </a:xfrm>
          <a:prstGeom prst="rect">
            <a:avLst/>
          </a:prstGeom>
          <a:solidFill>
            <a:srgbClr val="0F1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82512" y="155448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F1C50"/>
                </a:solidFill>
                <a:latin typeface="Helvetica Neue"/>
              </a:rPr>
              <a:t>PROCESS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82512" y="1920240"/>
            <a:ext cx="5120640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C3E50"/>
                </a:solidFill>
                <a:latin typeface="Helvetica Neue"/>
              </a:rPr>
              <a:t>▪  Demand intake not standardized across 6+ channels (Apps Director)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C3E50"/>
                </a:solidFill>
                <a:latin typeface="Helvetica Neue"/>
              </a:rPr>
              <a:t>▪  Prioritization is ad-hoc; 4 informal criteria per forum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C3E50"/>
                </a:solidFill>
                <a:latin typeface="Helvetica Neue"/>
              </a:rPr>
              <a:t>▪  PDD is the only formal process — only for large projects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C3E50"/>
                </a:solidFill>
                <a:latin typeface="Helvetica Neue"/>
              </a:rPr>
              <a:t>▪  Vendor sets estimates, timelines, scope (especially Metering)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C3E50"/>
                </a:solidFill>
                <a:latin typeface="Helvetica Neue"/>
              </a:rPr>
              <a:t>▪  PMs and Tech Leads "need to work in the same way" (Apps Director)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82512" y="3383280"/>
            <a:ext cx="5120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1">
                <a:solidFill>
                  <a:srgbClr val="95A5A6"/>
                </a:solidFill>
                <a:latin typeface="Helvetica Neue"/>
              </a:rPr>
              <a:t>Source: Interview_Carlos_Applications.md + Excel prioritization criteria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794760"/>
            <a:ext cx="5577840" cy="224028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3794760"/>
            <a:ext cx="5577840" cy="54864"/>
          </a:xfrm>
          <a:prstGeom prst="rect">
            <a:avLst/>
          </a:prstGeom>
          <a:solidFill>
            <a:srgbClr val="BC4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93192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BC4328"/>
                </a:solidFill>
                <a:latin typeface="Helvetica Neue"/>
              </a:rPr>
              <a:t>TOOLS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297680"/>
            <a:ext cx="5120640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C3E50"/>
                </a:solidFill>
                <a:latin typeface="Helvetica Neue"/>
              </a:rPr>
              <a:t>▪  6+ disconnected intake channels (Jira, IT Now, RITM, SharePoint, Email, Word)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C3E50"/>
                </a:solidFill>
                <a:latin typeface="Helvetica Neue"/>
              </a:rPr>
              <a:t>▪  No portfolio management tool in 5 of 6 units (only Metering uses PPM Now)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C3E50"/>
                </a:solidFill>
                <a:latin typeface="Helvetica Neue"/>
              </a:rPr>
              <a:t>▪  No tool / process to manage vendor delivery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C3E50"/>
                </a:solidFill>
                <a:latin typeface="Helvetica Neue"/>
              </a:rPr>
              <a:t>▪  Jira fragmentation across instances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C3E50"/>
                </a:solidFill>
                <a:latin typeface="Helvetica Neue"/>
              </a:rPr>
              <a:t>▪  Informal PM stack (OneNote, Teams, Spreadsheets) for GIS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5760720"/>
            <a:ext cx="5120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1">
                <a:solidFill>
                  <a:srgbClr val="95A5A6"/>
                </a:solidFill>
                <a:latin typeface="Helvetica Neue"/>
              </a:rPr>
              <a:t>Source: Interview_Application_Champions.md — tool landscape matrix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53912" y="3794760"/>
            <a:ext cx="5577840" cy="224028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53912" y="3794760"/>
            <a:ext cx="5577840" cy="54864"/>
          </a:xfrm>
          <a:prstGeom prst="rect">
            <a:avLst/>
          </a:prstGeom>
          <a:solidFill>
            <a:srgbClr val="BC4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82512" y="393192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BC4328"/>
                </a:solidFill>
                <a:latin typeface="Helvetica Neue"/>
              </a:rPr>
              <a:t>GOVERNANCE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82512" y="4297680"/>
            <a:ext cx="5120640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C3E50"/>
                </a:solidFill>
                <a:latin typeface="Helvetica Neue"/>
              </a:rPr>
              <a:t>▪  5 forums exist — none covers portfolio-level decisions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C3E50"/>
                </a:solidFill>
                <a:latin typeface="Helvetica Neue"/>
              </a:rPr>
              <a:t>▪  Manager Check-in participants + scope still TBC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C3E50"/>
                </a:solidFill>
                <a:latin typeface="Helvetica Neue"/>
              </a:rPr>
              <a:t>▪  Regulatory demand overrides size in every forum (no formal rule)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C3E50"/>
                </a:solidFill>
                <a:latin typeface="Helvetica Neue"/>
              </a:rPr>
              <a:t>▪  P&amp;T is the only cross-team intermediary for Business ↔ IT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C3E50"/>
                </a:solidFill>
                <a:latin typeface="Helvetica Neue"/>
              </a:rPr>
              <a:t>▪  No enterprise-level reconciliation between Global SAP (Iberdrola) and the other SAP footprints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82512" y="5760720"/>
            <a:ext cx="5120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1">
                <a:solidFill>
                  <a:srgbClr val="95A5A6"/>
                </a:solidFill>
                <a:latin typeface="Helvetica Neue"/>
              </a:rPr>
              <a:t>Source: Governance forums table + Interview_Carlos_Applications.md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989320"/>
            <a:ext cx="11274552" cy="502920"/>
          </a:xfrm>
          <a:prstGeom prst="rect">
            <a:avLst/>
          </a:prstGeom>
          <a:solidFill>
            <a:srgbClr val="0F1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6035040"/>
            <a:ext cx="10817352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Helvetica Neue"/>
              </a:rPr>
              <a:t>Each MECE category produces a distinct bottleneck — addressing only one dimension in the TOM will not resolve the system; all four must move together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6565392"/>
            <a:ext cx="258775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5A5A6"/>
                </a:solidFill>
                <a:latin typeface="Helvetica Neue"/>
              </a:rPr>
              <a:t>Pain Points — MECE  |  22 / 28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73152"/>
            <a:ext cx="1848612" cy="201168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73152"/>
            <a:ext cx="184861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95A5A6"/>
                </a:solidFill>
                <a:latin typeface="Helvetica Neue"/>
              </a:rPr>
              <a:t>01 · EXECUTIVE SUMMARY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342388" y="73152"/>
            <a:ext cx="1848612" cy="201168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342388" y="73152"/>
            <a:ext cx="184861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95A5A6"/>
                </a:solidFill>
                <a:latin typeface="Helvetica Neue"/>
              </a:rPr>
              <a:t>02 · ORGANIZATION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227576" y="73152"/>
            <a:ext cx="1848612" cy="201168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27576" y="73152"/>
            <a:ext cx="184861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95A5A6"/>
                </a:solidFill>
                <a:latin typeface="Helvetica Neue"/>
              </a:rPr>
              <a:t>03 · DEMAND FLOW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12764" y="73152"/>
            <a:ext cx="1848612" cy="201168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12764" y="73152"/>
            <a:ext cx="184861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95A5A6"/>
                </a:solidFill>
                <a:latin typeface="Helvetica Neue"/>
              </a:rPr>
              <a:t>04 · CAPACITY &amp; PORTFOLIO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997952" y="73152"/>
            <a:ext cx="1848612" cy="201168"/>
          </a:xfrm>
          <a:prstGeom prst="roundRect">
            <a:avLst/>
          </a:prstGeom>
          <a:solidFill>
            <a:srgbClr val="0F1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997952" y="73152"/>
            <a:ext cx="184861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FFFFFF"/>
                </a:solidFill>
                <a:latin typeface="Helvetica Neue"/>
              </a:rPr>
              <a:t>05 · PAIN POINTS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883140" y="73152"/>
            <a:ext cx="1848612" cy="201168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883140" y="73152"/>
            <a:ext cx="184861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95A5A6"/>
                </a:solidFill>
                <a:latin typeface="Helvetica Neue"/>
              </a:rPr>
              <a:t>06 · INSIGHTS &amp; TOM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455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F1C50"/>
                </a:solidFill>
                <a:latin typeface="Helvetica Neue"/>
              </a:rPr>
              <a:t>Four Applications bottlenecks concentrate demand risk — covering intake, prioritization, portfolio and classification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274552" cy="13716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74320"/>
          </a:xfrm>
          <a:prstGeom prst="rect">
            <a:avLst/>
          </a:prstGeom>
          <a:solidFill>
            <a:srgbClr val="6785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07008"/>
            <a:ext cx="1127455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Helvetica Neue"/>
              </a:rPr>
              <a:t>APPLICATIONS BRANCH  —  Director IT Business Applications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5733288" cy="214884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5733288" cy="54864"/>
          </a:xfrm>
          <a:prstGeom prst="rect">
            <a:avLst/>
          </a:prstGeom>
          <a:solidFill>
            <a:srgbClr val="BC4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664207"/>
            <a:ext cx="91440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BC4328"/>
                </a:solidFill>
                <a:latin typeface="Helvetica Neue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1719072"/>
            <a:ext cx="440740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95A5A6"/>
                </a:solidFill>
                <a:latin typeface="Helvetica Neue"/>
              </a:rPr>
              <a:t>E&amp;G Ops team  •  STAGE: Intake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1929384"/>
            <a:ext cx="44074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F1C50"/>
                </a:solidFill>
                <a:latin typeface="Helvetica Neue"/>
              </a:rPr>
              <a:t>G&amp;E Email-Only Intake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267712"/>
            <a:ext cx="523036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C3E50"/>
                </a:solidFill>
                <a:latin typeface="Helvetica Neue"/>
              </a:rPr>
              <a:t>Every request to G&amp;E Champion arrives via email from business or vendor. No ticket, no queue, no SLA — each decision is individual and unreproducible.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2852928"/>
            <a:ext cx="52303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95A5A6"/>
                </a:solidFill>
                <a:latin typeface="Helvetica Neue"/>
              </a:rPr>
              <a:t>IMPACT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3017520"/>
            <a:ext cx="523036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Unknown volume. No capacity forecast possible. Single-person dependency on G&amp;E Champion.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3429000"/>
            <a:ext cx="52303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1">
                <a:solidFill>
                  <a:srgbClr val="95A5A6"/>
                </a:solidFill>
                <a:latin typeface="Helvetica Neue"/>
              </a:rPr>
              <a:t>▸  "I receive requests/input from the business or from the vendor" — G&amp;E Champion (Tech Lead, 70-90 apps)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59" y="1554480"/>
            <a:ext cx="5733288" cy="214884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9359" y="1554480"/>
            <a:ext cx="5733288" cy="54864"/>
          </a:xfrm>
          <a:prstGeom prst="rect">
            <a:avLst/>
          </a:prstGeom>
          <a:solidFill>
            <a:srgbClr val="BC4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65392" y="1664207"/>
            <a:ext cx="91440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BC4328"/>
                </a:solidFill>
                <a:latin typeface="Helvetica Neue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52359" y="1719072"/>
            <a:ext cx="440740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95A5A6"/>
                </a:solidFill>
                <a:latin typeface="Helvetica Neue"/>
              </a:rPr>
              <a:t>Global SAP Manager's team  •  STAGE: Prioritization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52359" y="1929384"/>
            <a:ext cx="44074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F1C50"/>
                </a:solidFill>
                <a:latin typeface="Helvetica Neue"/>
              </a:rPr>
              <a:t>Global SAP Incident Flood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65392" y="2267712"/>
            <a:ext cx="523036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C3E50"/>
                </a:solidFill>
                <a:latin typeface="Helvetica Neue"/>
              </a:rPr>
              <a:t>Incidents outrank all other demand for Iberdrola SAP. Entire team can be consumed by incident work, blocking strategic projects.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65392" y="2852928"/>
            <a:ext cx="52303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95A5A6"/>
                </a:solidFill>
                <a:latin typeface="Helvetica Neue"/>
              </a:rPr>
              <a:t>IMPACT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65392" y="3017520"/>
            <a:ext cx="523036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Capacity trapped in BAU. Major projects (PDD) slip. Knowledge transfer lost at each turnover event.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65392" y="3429000"/>
            <a:ext cx="52303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1">
                <a:solidFill>
                  <a:srgbClr val="95A5A6"/>
                </a:solidFill>
                <a:latin typeface="Helvetica Neue"/>
              </a:rPr>
              <a:t>▸  "Sometimes entire team is focusing on incidents" — Global SAP Champion (Tech Lead)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794759"/>
            <a:ext cx="5733288" cy="214884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3794759"/>
            <a:ext cx="5733288" cy="54864"/>
          </a:xfrm>
          <a:prstGeom prst="rect">
            <a:avLst/>
          </a:prstGeom>
          <a:solidFill>
            <a:srgbClr val="BC4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3232" y="3904487"/>
            <a:ext cx="91440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BC4328"/>
                </a:solidFill>
                <a:latin typeface="Helvetica Neue"/>
              </a:rP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00200" y="3959351"/>
            <a:ext cx="440740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95A5A6"/>
                </a:solidFill>
                <a:latin typeface="Helvetica Neue"/>
              </a:rPr>
              <a:t>GIS Sr. Manager / Champion's team  •  STAGES: Intake + Portfolio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00200" y="4169663"/>
            <a:ext cx="44074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F1C50"/>
                </a:solidFill>
                <a:latin typeface="Helvetica Neue"/>
              </a:rPr>
              <a:t>GIS Informal PM Stack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" y="4507992"/>
            <a:ext cx="523036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C3E50"/>
                </a:solidFill>
                <a:latin typeface="Helvetica Neue"/>
              </a:rPr>
              <a:t>Small demand routes through email, meetings and IT-Now. Project management relies on OneNote + Teams + spreadsheets — no formal portfolio tool below PDD.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" y="5093207"/>
            <a:ext cx="52303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95A5A6"/>
                </a:solidFill>
                <a:latin typeface="Helvetica Neue"/>
              </a:rPr>
              <a:t>IMPACT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232" y="5257800"/>
            <a:ext cx="523036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Small + break/fix demand (~60-70% of actual work) is untracked. Capacity consumed by unmeasured flow.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232" y="5669280"/>
            <a:ext cx="52303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1">
                <a:solidFill>
                  <a:srgbClr val="95A5A6"/>
                </a:solidFill>
                <a:latin typeface="Helvetica Neue"/>
              </a:rPr>
              <a:t>▸  "My team uses Jira for misc. work... OneNote, Teams and Spreadsheets to manage" — GIS Sr. Manager / Champion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09359" y="3794759"/>
            <a:ext cx="5733288" cy="214884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309359" y="3794759"/>
            <a:ext cx="5733288" cy="54864"/>
          </a:xfrm>
          <a:prstGeom prst="rect">
            <a:avLst/>
          </a:prstGeom>
          <a:solidFill>
            <a:srgbClr val="BC4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65392" y="3904487"/>
            <a:ext cx="91440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BC4328"/>
                </a:solidFill>
                <a:latin typeface="Helvetica Neue"/>
              </a:rPr>
              <a:t>04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52359" y="3959351"/>
            <a:ext cx="440740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95A5A6"/>
                </a:solidFill>
                <a:latin typeface="Helvetica Neue"/>
              </a:rPr>
              <a:t>Corporate Apps team  •  STAGE: Classification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52359" y="4169663"/>
            <a:ext cx="44074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F1C50"/>
                </a:solidFill>
                <a:latin typeface="Helvetica Neue"/>
              </a:rPr>
              <a:t>Corporate Project Overlap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65392" y="4507992"/>
            <a:ext cx="523036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C3E50"/>
                </a:solidFill>
                <a:latin typeface="Helvetica Neue"/>
              </a:rPr>
              <a:t>Word-document requirements + Jira + Confluence fragment the intake. PDD drives classification but doesn't deduplicate — overlapping projects chase similar outcomes.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65392" y="5093207"/>
            <a:ext cx="52303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95A5A6"/>
                </a:solidFill>
                <a:latin typeface="Helvetica Neue"/>
              </a:rPr>
              <a:t>IMPACT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65392" y="5257800"/>
            <a:ext cx="523036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Rework, duplicated effort, and unreconciled regulatory pressure treated as chronic urgency.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65392" y="5669280"/>
            <a:ext cx="52303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1">
                <a:solidFill>
                  <a:srgbClr val="95A5A6"/>
                </a:solidFill>
                <a:latin typeface="Helvetica Neue"/>
              </a:rPr>
              <a:t>▸  "PDD is the driver. Lots of overlapping projects" — Corporate Champion (Tech Lead)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5989320"/>
            <a:ext cx="11274552" cy="502920"/>
          </a:xfrm>
          <a:prstGeom prst="rect">
            <a:avLst/>
          </a:prstGeom>
          <a:solidFill>
            <a:srgbClr val="BC4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85800" y="6035040"/>
            <a:ext cx="10817352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Helvetica Neue"/>
              </a:rPr>
              <a:t>These four bottlenecks span all four Applications teams — each is a symptom of the same underlying fragmentation the TOM must address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0" y="6565392"/>
            <a:ext cx="258775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5A5A6"/>
                </a:solidFill>
                <a:latin typeface="Helvetica Neue"/>
              </a:rPr>
              <a:t>Applications Bottlenecks  |  23 / 28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7200" y="73152"/>
            <a:ext cx="1848612" cy="201168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7200" y="73152"/>
            <a:ext cx="184861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95A5A6"/>
                </a:solidFill>
                <a:latin typeface="Helvetica Neue"/>
              </a:rPr>
              <a:t>01 · EXECUTIVE SUMMARY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342388" y="73152"/>
            <a:ext cx="1848612" cy="201168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342388" y="73152"/>
            <a:ext cx="184861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95A5A6"/>
                </a:solidFill>
                <a:latin typeface="Helvetica Neue"/>
              </a:rPr>
              <a:t>02 · ORGANIZATION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227576" y="73152"/>
            <a:ext cx="1848612" cy="201168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227576" y="73152"/>
            <a:ext cx="184861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95A5A6"/>
                </a:solidFill>
                <a:latin typeface="Helvetica Neue"/>
              </a:rPr>
              <a:t>03 · DEMAND FLOW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112764" y="73152"/>
            <a:ext cx="1848612" cy="201168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112764" y="73152"/>
            <a:ext cx="184861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95A5A6"/>
                </a:solidFill>
                <a:latin typeface="Helvetica Neue"/>
              </a:rPr>
              <a:t>04 · CAPACITY &amp; PORTFOLIO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997952" y="73152"/>
            <a:ext cx="1848612" cy="201168"/>
          </a:xfrm>
          <a:prstGeom prst="roundRect">
            <a:avLst/>
          </a:prstGeom>
          <a:solidFill>
            <a:srgbClr val="0F1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997952" y="73152"/>
            <a:ext cx="184861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FFFFFF"/>
                </a:solidFill>
                <a:latin typeface="Helvetica Neue"/>
              </a:rPr>
              <a:t>05 · PAIN POINTS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883140" y="73152"/>
            <a:ext cx="1848612" cy="201168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883140" y="73152"/>
            <a:ext cx="184861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95A5A6"/>
                </a:solidFill>
                <a:latin typeface="Helvetica Neue"/>
              </a:rPr>
              <a:t>06 · INSIGHTS &amp; TOM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455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F1C50"/>
                </a:solidFill>
                <a:latin typeface="Helvetica Neue"/>
              </a:rPr>
              <a:t>Four Customer Services bottlenecks — leadership gaps, portfolio blindness, vendor concentration and multi-OPCO contention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274552" cy="13716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74320"/>
          </a:xfrm>
          <a:prstGeom prst="rect">
            <a:avLst/>
          </a:prstGeom>
          <a:solidFill>
            <a:srgbClr val="0F1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07008"/>
            <a:ext cx="1127455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Helvetica Neue"/>
              </a:rPr>
              <a:t>CUSTOMER SERVICES BRANCH  —  Director Customer Services Apps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5733288" cy="214884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5733288" cy="54864"/>
          </a:xfrm>
          <a:prstGeom prst="rect">
            <a:avLst/>
          </a:prstGeom>
          <a:solidFill>
            <a:srgbClr val="BC4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664207"/>
            <a:ext cx="91440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BC4328"/>
                </a:solidFill>
                <a:latin typeface="Helvetica Neue"/>
              </a:rPr>
              <a:t>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1719072"/>
            <a:ext cx="440740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95A5A6"/>
                </a:solidFill>
                <a:latin typeface="Helvetica Neue"/>
              </a:rPr>
              <a:t>CS Director's branch  •  STAGES: Classification + Prioritization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1929384"/>
            <a:ext cx="44074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F1C50"/>
                </a:solidFill>
                <a:latin typeface="Helvetica Neue"/>
              </a:rPr>
              <a:t>Customer Services Leadership Gap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267712"/>
            <a:ext cx="523036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C3E50"/>
                </a:solidFill>
                <a:latin typeface="Helvetica Neue"/>
              </a:rPr>
              <a:t>Two Sr. Manager positions vacant (CRM &amp; Contact Center Ops, SAP &amp; CS Architecture). Prioritization defaults to director level across Billing, CRM, Metering and Basis.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2852928"/>
            <a:ext cx="52303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95A5A6"/>
                </a:solidFill>
                <a:latin typeface="Helvetica Neue"/>
              </a:rPr>
              <a:t>IMPACT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3017520"/>
            <a:ext cx="523036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No shared prioritization logic across 5 sub-teams. Branch-level demand view is a structural blind spot.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3429000"/>
            <a:ext cx="52303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1">
                <a:solidFill>
                  <a:srgbClr val="95A5A6"/>
                </a:solidFill>
                <a:latin typeface="Helvetica Neue"/>
              </a:rPr>
              <a:t>▸  "Who is in charge of what — 3 people can run the payment jobs" — CS Director + Business-side lead  —  Customer Services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59" y="1554480"/>
            <a:ext cx="5733288" cy="214884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9359" y="1554480"/>
            <a:ext cx="5733288" cy="54864"/>
          </a:xfrm>
          <a:prstGeom prst="rect">
            <a:avLst/>
          </a:prstGeom>
          <a:solidFill>
            <a:srgbClr val="BC4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65392" y="1664207"/>
            <a:ext cx="91440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BC4328"/>
                </a:solidFill>
                <a:latin typeface="Helvetica Neue"/>
              </a:rPr>
              <a:t>06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52359" y="1719072"/>
            <a:ext cx="440740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95A5A6"/>
                </a:solidFill>
                <a:latin typeface="Helvetica Neue"/>
              </a:rPr>
              <a:t>CS Director's branch  •  STAGES: Portfolio + Delivery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52359" y="1929384"/>
            <a:ext cx="44074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F1C50"/>
                </a:solidFill>
                <a:latin typeface="Helvetica Neue"/>
              </a:rPr>
              <a:t>No Branch-Wide Portfolio Tool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65392" y="2267712"/>
            <a:ext cx="523036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C3E50"/>
                </a:solidFill>
                <a:latin typeface="Helvetica Neue"/>
              </a:rPr>
              <a:t>PPM Now exists only in Smart Metering. Travis PMO handles large projects without a consolidated view of Billing / CRM / Metering / Basis portfolios.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65392" y="2852928"/>
            <a:ext cx="52303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95A5A6"/>
                </a:solidFill>
                <a:latin typeface="Helvetica Neue"/>
              </a:rPr>
              <a:t>IMPACT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65392" y="3017520"/>
            <a:ext cx="523036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Sub-team portfolios are disconnected. Capacity + priorities cannot be reconciled across the branch.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65392" y="3429000"/>
            <a:ext cx="52303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1">
                <a:solidFill>
                  <a:srgbClr val="95A5A6"/>
                </a:solidFill>
                <a:latin typeface="Helvetica Neue"/>
              </a:rPr>
              <a:t>▸  "No tool to support portfolio management... No tools or process to manage delivery of vendors"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794759"/>
            <a:ext cx="5733288" cy="214884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3794759"/>
            <a:ext cx="5733288" cy="54864"/>
          </a:xfrm>
          <a:prstGeom prst="rect">
            <a:avLst/>
          </a:prstGeom>
          <a:solidFill>
            <a:srgbClr val="BC4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3232" y="3904487"/>
            <a:ext cx="91440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BC4328"/>
                </a:solidFill>
                <a:latin typeface="Helvetica Neue"/>
              </a:rPr>
              <a:t>07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00200" y="3959351"/>
            <a:ext cx="440740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95A5A6"/>
                </a:solidFill>
                <a:latin typeface="Helvetica Neue"/>
              </a:rPr>
              <a:t>Device &amp; Metering team  •  STAGE: Delivery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00200" y="4169663"/>
            <a:ext cx="44074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F1C50"/>
                </a:solidFill>
                <a:latin typeface="Helvetica Neue"/>
              </a:rPr>
              <a:t>Smart Metering Vendor Concentration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" y="4507992"/>
            <a:ext cx="523036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C3E50"/>
                </a:solidFill>
                <a:latin typeface="Helvetica Neue"/>
              </a:rPr>
              <a:t>100% of the Smart Metering portfolio is vendor-delivered. Vendors do requirements AND code. All custom applications. "Intrinsic common sense" is the prioritization rule.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" y="5093207"/>
            <a:ext cx="52303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95A5A6"/>
                </a:solidFill>
                <a:latin typeface="Helvetica Neue"/>
              </a:rPr>
              <a:t>IMPACT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232" y="5257800"/>
            <a:ext cx="523036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If the vendor exits, execution knowledge is lost. Avangrid has no native build capability in this sub-team.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232" y="5669280"/>
            <a:ext cx="52303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1">
                <a:solidFill>
                  <a:srgbClr val="95A5A6"/>
                </a:solidFill>
                <a:latin typeface="Helvetica Neue"/>
              </a:rPr>
              <a:t>▸  "All portfolio in vendor. Vendors are consultants for the work" — Smart Metering Champion (PM)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09359" y="3794759"/>
            <a:ext cx="5733288" cy="214884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309359" y="3794759"/>
            <a:ext cx="5733288" cy="54864"/>
          </a:xfrm>
          <a:prstGeom prst="rect">
            <a:avLst/>
          </a:prstGeom>
          <a:solidFill>
            <a:srgbClr val="BC4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65392" y="3904487"/>
            <a:ext cx="91440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BC4328"/>
                </a:solidFill>
                <a:latin typeface="Helvetica Neue"/>
              </a:rPr>
              <a:t>08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52359" y="3959351"/>
            <a:ext cx="440740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95A5A6"/>
                </a:solidFill>
                <a:latin typeface="Helvetica Neue"/>
              </a:rPr>
              <a:t>CS Director's branch  •  STAGE: Intake + Prioritization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52359" y="4169663"/>
            <a:ext cx="44074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F1C50"/>
                </a:solidFill>
                <a:latin typeface="Helvetica Neue"/>
              </a:rPr>
              <a:t>Multi-OPCO Capacity Competition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65392" y="4507992"/>
            <a:ext cx="523036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C3E50"/>
                </a:solidFill>
                <a:latin typeface="Helvetica Neue"/>
              </a:rPr>
              <a:t>7 business OPCOs compete for the same Customer Services IT capacity. Demand splits across Travis PMO / BRS / IT-funded — triple routing for the same request.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65392" y="5093207"/>
            <a:ext cx="52303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95A5A6"/>
                </a:solidFill>
                <a:latin typeface="Helvetica Neue"/>
              </a:rPr>
              <a:t>IMPACT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65392" y="5257800"/>
            <a:ext cx="523036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Ad-hoc capacity allocation. Ownership ambiguity creates delivery risk and prolongs leadership vacancies' impact.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65392" y="5669280"/>
            <a:ext cx="52303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1">
                <a:solidFill>
                  <a:srgbClr val="95A5A6"/>
                </a:solidFill>
                <a:latin typeface="Helvetica Neue"/>
              </a:rPr>
              <a:t>▸  "Resource allocation — multiple OPCOs competing by capacity" — CS Director + Business-side lead  —  Customer Services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5989320"/>
            <a:ext cx="11274552" cy="502920"/>
          </a:xfrm>
          <a:prstGeom prst="rect">
            <a:avLst/>
          </a:prstGeom>
          <a:solidFill>
            <a:srgbClr val="BC4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85800" y="6035040"/>
            <a:ext cx="10817352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Helvetica Neue"/>
              </a:rPr>
              <a:t>CS Director's branch carries both structural (leadership) and operational (tooling + vendor) bottlenecks — the TOM must address all four simultaneously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0" y="6565392"/>
            <a:ext cx="258775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5A5A6"/>
                </a:solidFill>
                <a:latin typeface="Helvetica Neue"/>
              </a:rPr>
              <a:t>Customer Services Bottlenecks  |  24 / 28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7200" y="73152"/>
            <a:ext cx="1848612" cy="201168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7200" y="73152"/>
            <a:ext cx="184861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95A5A6"/>
                </a:solidFill>
                <a:latin typeface="Helvetica Neue"/>
              </a:rPr>
              <a:t>01 · EXECUTIVE SUMMARY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342388" y="73152"/>
            <a:ext cx="1848612" cy="201168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342388" y="73152"/>
            <a:ext cx="184861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95A5A6"/>
                </a:solidFill>
                <a:latin typeface="Helvetica Neue"/>
              </a:rPr>
              <a:t>02 · ORGANIZATION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227576" y="73152"/>
            <a:ext cx="1848612" cy="201168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227576" y="73152"/>
            <a:ext cx="184861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95A5A6"/>
                </a:solidFill>
                <a:latin typeface="Helvetica Neue"/>
              </a:rPr>
              <a:t>03 · DEMAND FLOW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112764" y="73152"/>
            <a:ext cx="1848612" cy="201168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112764" y="73152"/>
            <a:ext cx="184861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95A5A6"/>
                </a:solidFill>
                <a:latin typeface="Helvetica Neue"/>
              </a:rPr>
              <a:t>04 · CAPACITY &amp; PORTFOLIO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997952" y="73152"/>
            <a:ext cx="1848612" cy="201168"/>
          </a:xfrm>
          <a:prstGeom prst="roundRect">
            <a:avLst/>
          </a:prstGeom>
          <a:solidFill>
            <a:srgbClr val="0F1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997952" y="73152"/>
            <a:ext cx="184861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FFFFFF"/>
                </a:solidFill>
                <a:latin typeface="Helvetica Neue"/>
              </a:rPr>
              <a:t>05 · PAIN POINTS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883140" y="73152"/>
            <a:ext cx="1848612" cy="201168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883140" y="73152"/>
            <a:ext cx="184861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95A5A6"/>
                </a:solidFill>
                <a:latin typeface="Helvetica Neue"/>
              </a:rPr>
              <a:t>06 · INSIGHTS &amp; TOM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455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F1C50"/>
                </a:solidFill>
                <a:latin typeface="Helvetica Neue"/>
              </a:rPr>
              <a:t>Three systemic issues cut across both branches — no local fix resolves them; only the TOM can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274552" cy="13716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417320"/>
            <a:ext cx="11274552" cy="1389888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73152" cy="1389888"/>
          </a:xfrm>
          <a:prstGeom prst="rect">
            <a:avLst/>
          </a:prstGeom>
          <a:solidFill>
            <a:srgbClr val="BC4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554480"/>
            <a:ext cx="548640" cy="548640"/>
          </a:xfrm>
          <a:prstGeom prst="rect">
            <a:avLst/>
          </a:prstGeom>
          <a:solidFill>
            <a:srgbClr val="BC4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55448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Helvetica Neue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50876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F1C50"/>
                </a:solidFill>
                <a:latin typeface="Helvetica Neue"/>
              </a:rPr>
              <a:t>Prioritization has no shared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82880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Four informal criteria (strategic, operational urgency, regulatory, size) are applied per forum, per team, without a scoring rubric. Regulatory always wins regardless of size. No mechanism balances competing demands across the two branches.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468880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6785C1"/>
                </a:solidFill>
                <a:latin typeface="Helvetica Neue"/>
              </a:rPr>
              <a:t>APPLICATIONS: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246888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1">
                <a:solidFill>
                  <a:srgbClr val="2C3E50"/>
                </a:solidFill>
                <a:latin typeface="Helvetica Neue"/>
              </a:rPr>
              <a:t>PDD approval / impact × users / incidents first / criticality — all different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468880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0F1C50"/>
                </a:solidFill>
                <a:latin typeface="Helvetica Neue"/>
              </a:rPr>
              <a:t>CUSTOMER SERVICES: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2468880"/>
            <a:ext cx="3383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1">
                <a:solidFill>
                  <a:srgbClr val="2C3E50"/>
                </a:solidFill>
                <a:latin typeface="Helvetica Neue"/>
              </a:rPr>
              <a:t>"Intrinsic common sense" (Metering) + forum-based (director-level)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880360"/>
            <a:ext cx="11274552" cy="1389888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2880360"/>
            <a:ext cx="73152" cy="1389888"/>
          </a:xfrm>
          <a:prstGeom prst="rect">
            <a:avLst/>
          </a:prstGeom>
          <a:solidFill>
            <a:srgbClr val="BC4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4360" y="3017520"/>
            <a:ext cx="548640" cy="548640"/>
          </a:xfrm>
          <a:prstGeom prst="rect">
            <a:avLst/>
          </a:prstGeom>
          <a:solidFill>
            <a:srgbClr val="BC4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301752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Helvetica Neue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297180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F1C50"/>
                </a:solidFill>
                <a:latin typeface="Helvetica Neue"/>
              </a:rPr>
              <a:t>Taxonomy is undefined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329184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What counts as "small", "medium", or "large" demand is defined per team. No hours / cost / complexity threshold exists. Without objective classification, prioritization logic cannot be automated, and forums debate the class before debating the priority.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3931920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6785C1"/>
                </a:solidFill>
                <a:latin typeface="Helvetica Neue"/>
              </a:rPr>
              <a:t>APPLICATIONS: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34640" y="393192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1">
                <a:solidFill>
                  <a:srgbClr val="2C3E50"/>
                </a:solidFill>
                <a:latin typeface="Helvetica Neue"/>
              </a:rPr>
              <a:t>PDD covers "large" but "small vs medium" is informal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3931920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0F1C50"/>
                </a:solidFill>
                <a:latin typeface="Helvetica Neue"/>
              </a:rPr>
              <a:t>CUSTOMER SERVICES: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20" y="3931920"/>
            <a:ext cx="3383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1">
                <a:solidFill>
                  <a:srgbClr val="2C3E50"/>
                </a:solidFill>
                <a:latin typeface="Helvetica Neue"/>
              </a:rPr>
              <a:t>Travis PMO owns "large" by convention, not definition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343400"/>
            <a:ext cx="11274552" cy="1389888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4343400"/>
            <a:ext cx="73152" cy="1389888"/>
          </a:xfrm>
          <a:prstGeom prst="rect">
            <a:avLst/>
          </a:prstGeom>
          <a:solidFill>
            <a:srgbClr val="BC4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94360" y="4480560"/>
            <a:ext cx="548640" cy="548640"/>
          </a:xfrm>
          <a:prstGeom prst="rect">
            <a:avLst/>
          </a:prstGeom>
          <a:solidFill>
            <a:srgbClr val="BC4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448056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Helvetica Neue"/>
              </a:rP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443484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F1C50"/>
                </a:solidFill>
                <a:latin typeface="Helvetica Neue"/>
              </a:rPr>
              <a:t>Vendor governance is absent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80160" y="475488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No process governs vendor delivery in either branch. Vendors estimate scope, timelines, and cost. Smart Metering is 100% vendor-delivered — vendors do requirements AND code. In G&amp;E, the vendor sets its own timeline on version upgrades.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80160" y="5394959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6785C1"/>
                </a:solidFill>
                <a:latin typeface="Helvetica Neue"/>
              </a:rPr>
              <a:t>APPLICATIONS: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34640" y="5394959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1">
                <a:solidFill>
                  <a:srgbClr val="2C3E50"/>
                </a:solidFill>
                <a:latin typeface="Helvetica Neue"/>
              </a:rPr>
              <a:t>Vendors co-build; no performance framework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5080" y="5394959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0F1C50"/>
                </a:solidFill>
                <a:latin typeface="Helvetica Neue"/>
              </a:rPr>
              <a:t>CUSTOMER SERVICES: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75320" y="5394959"/>
            <a:ext cx="3383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1">
                <a:solidFill>
                  <a:srgbClr val="2C3E50"/>
                </a:solidFill>
                <a:latin typeface="Helvetica Neue"/>
              </a:rPr>
              <a:t>"All portfolio in vendor" (Smart Metering) — full outsourcing risk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5989320"/>
            <a:ext cx="11274552" cy="502920"/>
          </a:xfrm>
          <a:prstGeom prst="rect">
            <a:avLst/>
          </a:prstGeom>
          <a:solidFill>
            <a:srgbClr val="0F1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5800" y="6035040"/>
            <a:ext cx="10817352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Helvetica Neue"/>
              </a:rPr>
              <a:t>These three are enterprise-level issues — the TOM owns them; no team-level fix will solve prioritization, taxonomy, or vendor governance on its own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6565392"/>
            <a:ext cx="258775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5A5A6"/>
                </a:solidFill>
                <a:latin typeface="Helvetica Neue"/>
              </a:rPr>
              <a:t>Cross-Branch Systemic Issues  |  25 / 28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73152"/>
            <a:ext cx="1848612" cy="201168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73152"/>
            <a:ext cx="184861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95A5A6"/>
                </a:solidFill>
                <a:latin typeface="Helvetica Neue"/>
              </a:rPr>
              <a:t>01 · EXECUTIVE SUMMARY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342388" y="73152"/>
            <a:ext cx="1848612" cy="201168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342388" y="73152"/>
            <a:ext cx="184861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95A5A6"/>
                </a:solidFill>
                <a:latin typeface="Helvetica Neue"/>
              </a:rPr>
              <a:t>02 · ORGANIZATION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227576" y="73152"/>
            <a:ext cx="1848612" cy="201168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227576" y="73152"/>
            <a:ext cx="184861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95A5A6"/>
                </a:solidFill>
                <a:latin typeface="Helvetica Neue"/>
              </a:rPr>
              <a:t>03 · DEMAND FLOW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112764" y="73152"/>
            <a:ext cx="1848612" cy="201168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112764" y="73152"/>
            <a:ext cx="184861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95A5A6"/>
                </a:solidFill>
                <a:latin typeface="Helvetica Neue"/>
              </a:rPr>
              <a:t>04 · CAPACITY &amp; PORTFOLIO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997952" y="73152"/>
            <a:ext cx="1848612" cy="201168"/>
          </a:xfrm>
          <a:prstGeom prst="roundRect">
            <a:avLst/>
          </a:prstGeom>
          <a:solidFill>
            <a:srgbClr val="0F1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997952" y="73152"/>
            <a:ext cx="184861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FFFFFF"/>
                </a:solidFill>
                <a:latin typeface="Helvetica Neue"/>
              </a:rPr>
              <a:t>05 · PAIN POINTS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883140" y="73152"/>
            <a:ext cx="1848612" cy="201168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883140" y="73152"/>
            <a:ext cx="184861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95A5A6"/>
                </a:solidFill>
                <a:latin typeface="Helvetica Neue"/>
              </a:rPr>
              <a:t>06 · INSIGHTS &amp; TOM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455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F1C50"/>
                </a:solidFill>
                <a:latin typeface="Helvetica Neue"/>
              </a:rPr>
              <a:t>Seven structural issues surface — no single-area fix resolves them; the TOM must standardize end-to-end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274552" cy="13716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417320"/>
            <a:ext cx="502920" cy="566928"/>
          </a:xfrm>
          <a:prstGeom prst="rect">
            <a:avLst/>
          </a:prstGeom>
          <a:solidFill>
            <a:srgbClr val="BC4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5029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Helvetica Neue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417320"/>
            <a:ext cx="6217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F1C50"/>
                </a:solidFill>
                <a:latin typeface="Helvetica Neue"/>
              </a:rPr>
              <a:t>Intake Fragmentation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691640"/>
            <a:ext cx="6217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C3E50"/>
                </a:solidFill>
                <a:latin typeface="Helvetica Neue"/>
              </a:rPr>
              <a:t>6+ disconnected channels (Jira, IT Now, RITM, SharePoint, Email, Word). No single front door.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1463040"/>
            <a:ext cx="420624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6785C1"/>
                </a:solidFill>
                <a:latin typeface="Helvetica Neue"/>
              </a:rPr>
              <a:t>→  TOM: unified intake layer with tool-of-record per demand type.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057400"/>
            <a:ext cx="502920" cy="566928"/>
          </a:xfrm>
          <a:prstGeom prst="rect">
            <a:avLst/>
          </a:prstGeom>
          <a:solidFill>
            <a:srgbClr val="BC4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057400"/>
            <a:ext cx="5029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Helvetica Neue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057400"/>
            <a:ext cx="6217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F1C50"/>
                </a:solidFill>
                <a:latin typeface="Helvetica Neue"/>
              </a:rPr>
              <a:t>No Shared Prioritization 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331720"/>
            <a:ext cx="6217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C3E50"/>
                </a:solidFill>
                <a:latin typeface="Helvetica Neue"/>
              </a:rPr>
              <a:t>Each area uses different criteria — PDD, impact×users, criticality, operational urgency, common sense.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79" y="2103120"/>
            <a:ext cx="420624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6785C1"/>
                </a:solidFill>
                <a:latin typeface="Helvetica Neue"/>
              </a:rPr>
              <a:t>→  TOM: value-based scoring framework (ties to existing "Value Framework V1.0" ambition).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697480"/>
            <a:ext cx="502920" cy="566928"/>
          </a:xfrm>
          <a:prstGeom prst="rect">
            <a:avLst/>
          </a:prstGeom>
          <a:solidFill>
            <a:srgbClr val="BC4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697480"/>
            <a:ext cx="5029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Helvetica Neue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2697480"/>
            <a:ext cx="6217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F1C50"/>
                </a:solidFill>
                <a:latin typeface="Helvetica Neue"/>
              </a:rPr>
              <a:t>Portfolio Tooling Vacuum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2971800"/>
            <a:ext cx="6217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C3E50"/>
                </a:solidFill>
                <a:latin typeface="Helvetica Neue"/>
              </a:rPr>
              <a:t>5 of 6 units have no portfolio tool. Only Smart Metering uses PPM Now.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79" y="2743200"/>
            <a:ext cx="420624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6785C1"/>
                </a:solidFill>
                <a:latin typeface="Helvetica Neue"/>
              </a:rPr>
              <a:t>→  TOM: scale PPM Now (or equivalent) across all Digital Products areas + IT CS.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337560"/>
            <a:ext cx="502920" cy="566928"/>
          </a:xfrm>
          <a:prstGeom prst="rect">
            <a:avLst/>
          </a:prstGeom>
          <a:solidFill>
            <a:srgbClr val="BC4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337560"/>
            <a:ext cx="5029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Helvetica Neue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3337560"/>
            <a:ext cx="6217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F1C50"/>
                </a:solidFill>
                <a:latin typeface="Helvetica Neue"/>
              </a:rPr>
              <a:t>Vendor Governance Gap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3611880"/>
            <a:ext cx="6217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C3E50"/>
                </a:solidFill>
                <a:latin typeface="Helvetica Neue"/>
              </a:rPr>
              <a:t>No process to manage vendor delivery. Vendors estimate, set timelines, and own Smart Metering end-to-end.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79" y="3383280"/>
            <a:ext cx="420624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6785C1"/>
                </a:solidFill>
                <a:latin typeface="Helvetica Neue"/>
              </a:rPr>
              <a:t>→  TOM: vendor performance framework + NTT-led estimation sanity check.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977640"/>
            <a:ext cx="502920" cy="566928"/>
          </a:xfrm>
          <a:prstGeom prst="rect">
            <a:avLst/>
          </a:prstGeom>
          <a:solidFill>
            <a:srgbClr val="BC4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3977640"/>
            <a:ext cx="5029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Helvetica Neue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3977640"/>
            <a:ext cx="6217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F1C50"/>
                </a:solidFill>
                <a:latin typeface="Helvetica Neue"/>
              </a:rPr>
              <a:t>Governance Forum Coverage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4251960"/>
            <a:ext cx="6217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C3E50"/>
                </a:solidFill>
                <a:latin typeface="Helvetica Neue"/>
              </a:rPr>
              <a:t>5 recurring forums exist — but Manager Check-in participants are still TBC; no forum covers portfolio-level decisions.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79" y="4023360"/>
            <a:ext cx="420624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6785C1"/>
                </a:solidFill>
                <a:latin typeface="Helvetica Neue"/>
              </a:rPr>
              <a:t>→  TOM: add a portfolio steering cadence and validate forum scope.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4617720"/>
            <a:ext cx="502920" cy="566928"/>
          </a:xfrm>
          <a:prstGeom prst="rect">
            <a:avLst/>
          </a:prstGeom>
          <a:solidFill>
            <a:srgbClr val="BC4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4617720"/>
            <a:ext cx="5029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Helvetica Neue"/>
              </a:rPr>
              <a:t>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" y="4617720"/>
            <a:ext cx="6217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F1C50"/>
                </a:solidFill>
                <a:latin typeface="Helvetica Neue"/>
              </a:rPr>
              <a:t>Taxonomy &amp; Thresholds Undefined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" y="4892040"/>
            <a:ext cx="6217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C3E50"/>
                </a:solidFill>
                <a:latin typeface="Helvetica Neue"/>
              </a:rPr>
              <a:t>"Small" vs "Medium" vs "Large" is subjective; each team decides. No hours / $ / complexity threshold exists.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98079" y="4663440"/>
            <a:ext cx="420624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6785C1"/>
                </a:solidFill>
                <a:latin typeface="Helvetica Neue"/>
              </a:rPr>
              <a:t>→  TOM: define objective classification thresholds — prerequisite for prioritization scoring.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5257800"/>
            <a:ext cx="502920" cy="566928"/>
          </a:xfrm>
          <a:prstGeom prst="rect">
            <a:avLst/>
          </a:prstGeom>
          <a:solidFill>
            <a:srgbClr val="BC4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5257800"/>
            <a:ext cx="5029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Helvetica Neue"/>
              </a:rPr>
              <a:t>07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" y="5257800"/>
            <a:ext cx="6217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F1C50"/>
                </a:solidFill>
                <a:latin typeface="Helvetica Neue"/>
              </a:rPr>
              <a:t>Project vs Product Lens Missing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" y="5532120"/>
            <a:ext cx="6217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C3E50"/>
                </a:solidFill>
                <a:latin typeface="Helvetica Neue"/>
              </a:rPr>
              <a:t>Demand is organized by application silo, not by Value Stream. IT requests don't trace to business OKRs.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98079" y="5303520"/>
            <a:ext cx="420624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6785C1"/>
                </a:solidFill>
                <a:latin typeface="Helvetica Neue"/>
              </a:rPr>
              <a:t>→  TOM: introduce Value Stream mapping — move from Project to Product operating model.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5989320"/>
            <a:ext cx="11274552" cy="502920"/>
          </a:xfrm>
          <a:prstGeom prst="rect">
            <a:avLst/>
          </a:prstGeom>
          <a:solidFill>
            <a:srgbClr val="0F1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85800" y="6035040"/>
            <a:ext cx="10817352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Helvetica Neue"/>
              </a:rPr>
              <a:t>Next step: consolidate these 7 issues into the Baseline Report and carry them forward to the Target Operating Model design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0" y="6565392"/>
            <a:ext cx="258775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5A5A6"/>
                </a:solidFill>
                <a:latin typeface="Helvetica Neue"/>
              </a:rPr>
              <a:t>Structural Insights  |  26 / 28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57200" y="73152"/>
            <a:ext cx="1848612" cy="201168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" y="73152"/>
            <a:ext cx="184861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95A5A6"/>
                </a:solidFill>
                <a:latin typeface="Helvetica Neue"/>
              </a:rPr>
              <a:t>01 · EXECUTIVE SUMMARY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342388" y="73152"/>
            <a:ext cx="1848612" cy="201168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342388" y="73152"/>
            <a:ext cx="184861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95A5A6"/>
                </a:solidFill>
                <a:latin typeface="Helvetica Neue"/>
              </a:rPr>
              <a:t>02 · ORGANIZATION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227576" y="73152"/>
            <a:ext cx="1848612" cy="201168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227576" y="73152"/>
            <a:ext cx="184861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95A5A6"/>
                </a:solidFill>
                <a:latin typeface="Helvetica Neue"/>
              </a:rPr>
              <a:t>03 · DEMAND FLOW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112764" y="73152"/>
            <a:ext cx="1848612" cy="201168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12764" y="73152"/>
            <a:ext cx="184861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95A5A6"/>
                </a:solidFill>
                <a:latin typeface="Helvetica Neue"/>
              </a:rPr>
              <a:t>04 · CAPACITY &amp; PORTFOLIO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997952" y="73152"/>
            <a:ext cx="1848612" cy="201168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997952" y="73152"/>
            <a:ext cx="184861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95A5A6"/>
                </a:solidFill>
                <a:latin typeface="Helvetica Neue"/>
              </a:rPr>
              <a:t>05 · PAIN POINTS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883140" y="73152"/>
            <a:ext cx="1848612" cy="201168"/>
          </a:xfrm>
          <a:prstGeom prst="roundRect">
            <a:avLst/>
          </a:prstGeom>
          <a:solidFill>
            <a:srgbClr val="0F1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883140" y="73152"/>
            <a:ext cx="184861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FFFFFF"/>
                </a:solidFill>
                <a:latin typeface="Helvetica Neue"/>
              </a:rPr>
              <a:t>06 · INSIGHTS &amp; TOM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455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F1C50"/>
                </a:solidFill>
                <a:latin typeface="Helvetica Neue"/>
              </a:rPr>
              <a:t>Five compounding risks if the current operating model is carried into 30–50% growth unchanged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274552" cy="13716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417320"/>
            <a:ext cx="11274552" cy="795528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73152" cy="795528"/>
          </a:xfrm>
          <a:prstGeom prst="rect">
            <a:avLst/>
          </a:prstGeom>
          <a:solidFill>
            <a:srgbClr val="BC4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554480"/>
            <a:ext cx="640080" cy="502920"/>
          </a:xfrm>
          <a:prstGeom prst="rect">
            <a:avLst/>
          </a:prstGeom>
          <a:solidFill>
            <a:srgbClr val="BC4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554480"/>
            <a:ext cx="6400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Helvetica Neue"/>
              </a:rPr>
              <a:t>R1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0876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1C50"/>
                </a:solidFill>
                <a:latin typeface="Helvetica Neue"/>
              </a:rPr>
              <a:t>Unknown demand volume meets scaling load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801368"/>
            <a:ext cx="8686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30–50% growth applied to unmeasured channels = capacity shortfall cannot be forecast. Hiring decisions remain reactive.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241280" y="1691640"/>
            <a:ext cx="1417320" cy="274320"/>
          </a:xfrm>
          <a:prstGeom prst="roundRect">
            <a:avLst/>
          </a:prstGeom>
          <a:solidFill>
            <a:srgbClr val="BC4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0" y="1691640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Helvetica Neue"/>
              </a:rPr>
              <a:t>CRITICAL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286000"/>
            <a:ext cx="11274552" cy="795528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2286000"/>
            <a:ext cx="73152" cy="795528"/>
          </a:xfrm>
          <a:prstGeom prst="rect">
            <a:avLst/>
          </a:prstGeom>
          <a:solidFill>
            <a:srgbClr val="BC4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4360" y="2423160"/>
            <a:ext cx="640080" cy="502920"/>
          </a:xfrm>
          <a:prstGeom prst="rect">
            <a:avLst/>
          </a:prstGeom>
          <a:solidFill>
            <a:srgbClr val="BC4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423160"/>
            <a:ext cx="6400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Helvetica Neue"/>
              </a:rPr>
              <a:t>R2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237744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1C50"/>
                </a:solidFill>
                <a:latin typeface="Helvetica Neue"/>
              </a:rPr>
              <a:t>Vendor control of timelines and estimates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2670048"/>
            <a:ext cx="8686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Smart Metering is 100% vendor-delivered. G&amp;E upgrades follow vendor schedules. Without governance, budget overruns stay invisible until delivery.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241280" y="2560320"/>
            <a:ext cx="1417320" cy="274320"/>
          </a:xfrm>
          <a:prstGeom prst="roundRect">
            <a:avLst/>
          </a:prstGeom>
          <a:solidFill>
            <a:srgbClr val="BC4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41280" y="2560320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Helvetica Neue"/>
              </a:rPr>
              <a:t>CRITICAL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154680"/>
            <a:ext cx="11274552" cy="795528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3154680"/>
            <a:ext cx="73152" cy="795528"/>
          </a:xfrm>
          <a:prstGeom prst="rect">
            <a:avLst/>
          </a:prstGeom>
          <a:solidFill>
            <a:srgbClr val="F9A8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94360" y="3291840"/>
            <a:ext cx="640080" cy="502920"/>
          </a:xfrm>
          <a:prstGeom prst="rect">
            <a:avLst/>
          </a:prstGeom>
          <a:solidFill>
            <a:srgbClr val="F9A8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3291840"/>
            <a:ext cx="6400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Helvetica Neue"/>
              </a:rPr>
              <a:t>R3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324612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1C50"/>
                </a:solidFill>
                <a:latin typeface="Helvetica Neue"/>
              </a:rPr>
              <a:t>ROI traceability breaks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3538728"/>
            <a:ext cx="8686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Without portfolio tooling or value-stream lens, IT spend cannot be traced back to business outcomes. Executive defensibility degrades.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241280" y="3429000"/>
            <a:ext cx="1417320" cy="274320"/>
          </a:xfrm>
          <a:prstGeom prst="roundRect">
            <a:avLst/>
          </a:prstGeom>
          <a:solidFill>
            <a:srgbClr val="F9A8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241280" y="3429000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Helvetica Neue"/>
              </a:rPr>
              <a:t>HIGH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4023360"/>
            <a:ext cx="11274552" cy="795528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7200" y="4023360"/>
            <a:ext cx="73152" cy="795528"/>
          </a:xfrm>
          <a:prstGeom prst="rect">
            <a:avLst/>
          </a:prstGeom>
          <a:solidFill>
            <a:srgbClr val="F9A8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94360" y="4160520"/>
            <a:ext cx="640080" cy="502920"/>
          </a:xfrm>
          <a:prstGeom prst="rect">
            <a:avLst/>
          </a:prstGeom>
          <a:solidFill>
            <a:srgbClr val="F9A8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" y="4160520"/>
            <a:ext cx="6400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Helvetica Neue"/>
              </a:rPr>
              <a:t>R4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71600" y="411480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1C50"/>
                </a:solidFill>
                <a:latin typeface="Helvetica Neue"/>
              </a:rPr>
              <a:t>Leadership vacancies prolonged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71600" y="4407408"/>
            <a:ext cx="8686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CRM Sr. Manager and SAP &amp; CS Architecture positions remain open. Decisions default to director level across ~24 FTE — not sustainable.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241280" y="4297680"/>
            <a:ext cx="1417320" cy="274320"/>
          </a:xfrm>
          <a:prstGeom prst="roundRect">
            <a:avLst/>
          </a:prstGeom>
          <a:solidFill>
            <a:srgbClr val="F9A8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241280" y="4297680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Helvetica Neue"/>
              </a:rPr>
              <a:t>HIGH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4892040"/>
            <a:ext cx="11274552" cy="795528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57200" y="4892040"/>
            <a:ext cx="73152" cy="795528"/>
          </a:xfrm>
          <a:prstGeom prst="rect">
            <a:avLst/>
          </a:prstGeom>
          <a:solidFill>
            <a:srgbClr val="95A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94360" y="5029200"/>
            <a:ext cx="640080" cy="502920"/>
          </a:xfrm>
          <a:prstGeom prst="rect">
            <a:avLst/>
          </a:prstGeom>
          <a:solidFill>
            <a:srgbClr val="95A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94360" y="5029200"/>
            <a:ext cx="6400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Helvetica Neue"/>
              </a:rPr>
              <a:t>R5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71600" y="498348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1C50"/>
                </a:solidFill>
                <a:latin typeface="Helvetica Neue"/>
              </a:rPr>
              <a:t>Global vs SAP drift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71600" y="5276088"/>
            <a:ext cx="8686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With no enterprise-level reconciliation, the two SAP footprints evolve independently. Integration cost grows silently each quarter.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241280" y="5166360"/>
            <a:ext cx="1417320" cy="274320"/>
          </a:xfrm>
          <a:prstGeom prst="roundRect">
            <a:avLst/>
          </a:prstGeom>
          <a:solidFill>
            <a:srgbClr val="95A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241280" y="5166360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Helvetica Neue"/>
              </a:rPr>
              <a:t>MEDIUM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7200" y="5989320"/>
            <a:ext cx="11274552" cy="502920"/>
          </a:xfrm>
          <a:prstGeom prst="rect">
            <a:avLst/>
          </a:prstGeom>
          <a:solidFill>
            <a:srgbClr val="BC4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85800" y="6035040"/>
            <a:ext cx="10817352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Helvetica Neue"/>
              </a:rPr>
              <a:t>These risks compound — the longer the TOM is deferred, the harder the reset. The Baseline recommends beginning TOM design this quarter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44000" y="6565392"/>
            <a:ext cx="258775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5A5A6"/>
                </a:solidFill>
                <a:latin typeface="Helvetica Neue"/>
              </a:rPr>
              <a:t>Risks if Not Addressed  |  27 / 28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57200" y="73152"/>
            <a:ext cx="1848612" cy="201168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7200" y="73152"/>
            <a:ext cx="184861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95A5A6"/>
                </a:solidFill>
                <a:latin typeface="Helvetica Neue"/>
              </a:rPr>
              <a:t>01 · EXECUTIVE SUMMARY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2342388" y="73152"/>
            <a:ext cx="1848612" cy="201168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342388" y="73152"/>
            <a:ext cx="184861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95A5A6"/>
                </a:solidFill>
                <a:latin typeface="Helvetica Neue"/>
              </a:rPr>
              <a:t>02 · ORGANIZATION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227576" y="73152"/>
            <a:ext cx="1848612" cy="201168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227576" y="73152"/>
            <a:ext cx="184861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95A5A6"/>
                </a:solidFill>
                <a:latin typeface="Helvetica Neue"/>
              </a:rPr>
              <a:t>03 · DEMAND FLOW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112764" y="73152"/>
            <a:ext cx="1848612" cy="201168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112764" y="73152"/>
            <a:ext cx="184861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95A5A6"/>
                </a:solidFill>
                <a:latin typeface="Helvetica Neue"/>
              </a:rPr>
              <a:t>04 · CAPACITY &amp; PORTFOLIO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997952" y="73152"/>
            <a:ext cx="1848612" cy="201168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997952" y="73152"/>
            <a:ext cx="184861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95A5A6"/>
                </a:solidFill>
                <a:latin typeface="Helvetica Neue"/>
              </a:rPr>
              <a:t>05 · PAIN POINTS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9883140" y="73152"/>
            <a:ext cx="1848612" cy="201168"/>
          </a:xfrm>
          <a:prstGeom prst="roundRect">
            <a:avLst/>
          </a:prstGeom>
          <a:solidFill>
            <a:srgbClr val="0F1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883140" y="73152"/>
            <a:ext cx="184861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FFFFFF"/>
                </a:solidFill>
                <a:latin typeface="Helvetica Neue"/>
              </a:rPr>
              <a:t>06 · INSIGHTS &amp; TOM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455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F1C50"/>
                </a:solidFill>
                <a:latin typeface="Helvetica Neue"/>
              </a:rPr>
              <a:t>Seven principles guide the Target Operating Model — each answers one of the 7 structural issues and is grounded in prior NTT work with Avangrid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274552" cy="13716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417320"/>
            <a:ext cx="5623560" cy="987551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5623560" cy="45720"/>
          </a:xfrm>
          <a:prstGeom prst="rect">
            <a:avLst/>
          </a:prstGeom>
          <a:solidFill>
            <a:srgbClr val="6785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554480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6785C1"/>
                </a:solidFill>
                <a:latin typeface="Helvetica Neue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581912"/>
            <a:ext cx="4480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1C50"/>
                </a:solidFill>
                <a:latin typeface="Helvetica Neue"/>
              </a:rPr>
              <a:t>Single Front Door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920240"/>
            <a:ext cx="4480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One structured intake process for all demand types, replacing the 6+ disconnected channels.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496312"/>
            <a:ext cx="5623560" cy="987551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496312"/>
            <a:ext cx="5623560" cy="45720"/>
          </a:xfrm>
          <a:prstGeom prst="rect">
            <a:avLst/>
          </a:prstGeom>
          <a:solidFill>
            <a:srgbClr val="6785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633472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6785C1"/>
                </a:solidFill>
                <a:latin typeface="Helvetica Neue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660904"/>
            <a:ext cx="4480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1C50"/>
                </a:solidFill>
                <a:latin typeface="Helvetica Neue"/>
              </a:rPr>
              <a:t>Value-Based Prioritization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999232"/>
            <a:ext cx="4480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Standardized scoring framework across both branches — objective criteria, not ad-hoc forums.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575304"/>
            <a:ext cx="5623560" cy="987551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3575304"/>
            <a:ext cx="5623560" cy="45720"/>
          </a:xfrm>
          <a:prstGeom prst="rect">
            <a:avLst/>
          </a:prstGeom>
          <a:solidFill>
            <a:srgbClr val="6785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712464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6785C1"/>
                </a:solidFill>
                <a:latin typeface="Helvetica Neue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739896"/>
            <a:ext cx="4480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1C50"/>
                </a:solidFill>
                <a:latin typeface="Helvetica Neue"/>
              </a:rPr>
              <a:t>Capacity-Aware Assignment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078224"/>
            <a:ext cx="4480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Assignment paired with real-time capacity visibility — not manual handoffs with opaque availability.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654296"/>
            <a:ext cx="5623560" cy="987551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4654296"/>
            <a:ext cx="5623560" cy="45720"/>
          </a:xfrm>
          <a:prstGeom prst="rect">
            <a:avLst/>
          </a:prstGeom>
          <a:solidFill>
            <a:srgbClr val="6785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4791456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6785C1"/>
                </a:solidFill>
                <a:latin typeface="Helvetica Neue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4818888"/>
            <a:ext cx="4480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1C50"/>
                </a:solidFill>
                <a:latin typeface="Helvetica Neue"/>
              </a:rPr>
              <a:t>Standardized Execution (Jira)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5157216"/>
            <a:ext cx="4480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Jira as the execution platform across Digital Products — consistent tracking, management, delivery.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99632" y="1417320"/>
            <a:ext cx="5623560" cy="987551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99632" y="1417320"/>
            <a:ext cx="5623560" cy="45720"/>
          </a:xfrm>
          <a:prstGeom prst="rect">
            <a:avLst/>
          </a:prstGeom>
          <a:solidFill>
            <a:srgbClr val="6785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28232" y="1554480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6785C1"/>
                </a:solidFill>
                <a:latin typeface="Helvetica Neue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14032" y="1581912"/>
            <a:ext cx="4480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1C50"/>
                </a:solidFill>
                <a:latin typeface="Helvetica Neue"/>
              </a:rPr>
              <a:t>Integrated Toolchain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14032" y="1920240"/>
            <a:ext cx="4480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Intake + Jira + PPM Now — three core platforms interoperable across Applications and Customer Services.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99632" y="2496312"/>
            <a:ext cx="5623560" cy="987551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99632" y="2496312"/>
            <a:ext cx="5623560" cy="45720"/>
          </a:xfrm>
          <a:prstGeom prst="rect">
            <a:avLst/>
          </a:prstGeom>
          <a:solidFill>
            <a:srgbClr val="6785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28232" y="2633472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6785C1"/>
                </a:solidFill>
                <a:latin typeface="Helvetica Neue"/>
              </a:rPr>
              <a:t>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14032" y="2660904"/>
            <a:ext cx="4480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1C50"/>
                </a:solidFill>
                <a:latin typeface="Helvetica Neue"/>
              </a:rPr>
              <a:t>Automated Reporting (SSO)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14032" y="2999232"/>
            <a:ext cx="4480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Real-time dashboards from a single source of truth — replacing manual data gathering.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99632" y="3575304"/>
            <a:ext cx="5623560" cy="987551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199632" y="3575304"/>
            <a:ext cx="5623560" cy="45720"/>
          </a:xfrm>
          <a:prstGeom prst="rect">
            <a:avLst/>
          </a:prstGeom>
          <a:solidFill>
            <a:srgbClr val="6785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28232" y="3712464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6785C1"/>
                </a:solidFill>
                <a:latin typeface="Helvetica Neue"/>
              </a:rPr>
              <a:t>07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14032" y="3739896"/>
            <a:ext cx="4480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1C50"/>
                </a:solidFill>
                <a:latin typeface="Helvetica Neue"/>
              </a:rPr>
              <a:t>Defined RACI per Lifecycle Phase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14032" y="4078224"/>
            <a:ext cx="4480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3E50"/>
                </a:solidFill>
                <a:latin typeface="Helvetica Neue"/>
              </a:rPr>
              <a:t>Unambiguous ownership and handoff protocols at every stage — from intake to deployment.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99632" y="5577840"/>
            <a:ext cx="5623560" cy="384048"/>
          </a:xfrm>
          <a:prstGeom prst="rect">
            <a:avLst/>
          </a:prstGeom>
          <a:solidFill>
            <a:srgbClr val="BC4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55080" y="5577840"/>
            <a:ext cx="54864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Helvetica Neue"/>
              </a:rPr>
              <a:t>+ From this Baseline: BRANCH-UNIFIED (Apps + CS) and PRODUCT-ORIENTED (Value Streams, not silos)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5989320"/>
            <a:ext cx="11274552" cy="502920"/>
          </a:xfrm>
          <a:prstGeom prst="rect">
            <a:avLst/>
          </a:prstGeom>
          <a:solidFill>
            <a:srgbClr val="0F1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5800" y="6035040"/>
            <a:ext cx="10817352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Helvetica Neue"/>
              </a:rPr>
              <a:t>These principles are not new — they extend the Transformation Vision already defined in SAP CoE New Ways of Working v2.0 with two baseline-specific additions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44000" y="6565392"/>
            <a:ext cx="258775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5A5A6"/>
                </a:solidFill>
                <a:latin typeface="Helvetica Neue"/>
              </a:rPr>
              <a:t>TOM Design Principles  |  28 / 28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57200" y="73152"/>
            <a:ext cx="1848612" cy="201168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7200" y="73152"/>
            <a:ext cx="184861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95A5A6"/>
                </a:solidFill>
                <a:latin typeface="Helvetica Neue"/>
              </a:rPr>
              <a:t>01 · EXECUTIVE SUMMARY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342388" y="73152"/>
            <a:ext cx="1848612" cy="201168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342388" y="73152"/>
            <a:ext cx="184861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95A5A6"/>
                </a:solidFill>
                <a:latin typeface="Helvetica Neue"/>
              </a:rPr>
              <a:t>02 · ORGANIZATION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227576" y="73152"/>
            <a:ext cx="1848612" cy="201168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227576" y="73152"/>
            <a:ext cx="184861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95A5A6"/>
                </a:solidFill>
                <a:latin typeface="Helvetica Neue"/>
              </a:rPr>
              <a:t>03 · DEMAND FLOW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112764" y="73152"/>
            <a:ext cx="1848612" cy="201168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112764" y="73152"/>
            <a:ext cx="184861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95A5A6"/>
                </a:solidFill>
                <a:latin typeface="Helvetica Neue"/>
              </a:rPr>
              <a:t>04 · CAPACITY &amp; PORTFOLIO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997952" y="73152"/>
            <a:ext cx="1848612" cy="201168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997952" y="73152"/>
            <a:ext cx="184861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95A5A6"/>
                </a:solidFill>
                <a:latin typeface="Helvetica Neue"/>
              </a:rPr>
              <a:t>05 · PAIN POINTS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883140" y="73152"/>
            <a:ext cx="1848612" cy="201168"/>
          </a:xfrm>
          <a:prstGeom prst="roundRect">
            <a:avLst/>
          </a:prstGeom>
          <a:solidFill>
            <a:srgbClr val="0F1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883140" y="73152"/>
            <a:ext cx="184861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FFFFFF"/>
                </a:solidFill>
                <a:latin typeface="Helvetica Neue"/>
              </a:rPr>
              <a:t>06 · INSIGHTS &amp; TOM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